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notesMasterIdLst>
    <p:notesMasterId r:id="rId18"/>
  </p:notesMasterIdLst>
  <p:sldIdLst>
    <p:sldId id="257" r:id="rId2"/>
    <p:sldId id="754" r:id="rId3"/>
    <p:sldId id="799" r:id="rId4"/>
    <p:sldId id="781" r:id="rId5"/>
    <p:sldId id="755" r:id="rId6"/>
    <p:sldId id="780" r:id="rId7"/>
    <p:sldId id="779" r:id="rId8"/>
    <p:sldId id="756" r:id="rId9"/>
    <p:sldId id="767" r:id="rId10"/>
    <p:sldId id="768" r:id="rId11"/>
    <p:sldId id="792" r:id="rId12"/>
    <p:sldId id="790" r:id="rId13"/>
    <p:sldId id="800" r:id="rId14"/>
    <p:sldId id="802" r:id="rId15"/>
    <p:sldId id="803" r:id="rId16"/>
    <p:sldId id="27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195EC08-8DB9-FEFA-569C-667833E559DF}" name="Emi Siler" initials="ES" userId="S::esiler2@jh.edu::e48d811e-394a-45ee-8f51-4ebb5c64ec2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97132"/>
    <a:srgbClr val="000000"/>
    <a:srgbClr val="EDF5EC"/>
    <a:srgbClr val="6AA0D2"/>
    <a:srgbClr val="43803D"/>
    <a:srgbClr val="72C472"/>
    <a:srgbClr val="00BD10"/>
    <a:srgbClr val="435A45"/>
    <a:srgbClr val="3D69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46D5BD-16DF-5748-92E5-BCFA48BD30A9}" v="82" dt="2025-10-28T18:24:52.0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44"/>
    <p:restoredTop sz="80560"/>
  </p:normalViewPr>
  <p:slideViewPr>
    <p:cSldViewPr snapToGrid="0">
      <p:cViewPr varScale="1">
        <p:scale>
          <a:sx n="88" d="100"/>
          <a:sy n="88" d="100"/>
        </p:scale>
        <p:origin x="25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isa Hamilton" userId="35fb2a88-a81d-488f-8270-d2bfad5ac944" providerId="ADAL" clId="{492B0D56-76BB-54D4-98A8-64DAD8E5C502}"/>
    <pc:docChg chg="modSld">
      <pc:chgData name="Alisa Hamilton" userId="35fb2a88-a81d-488f-8270-d2bfad5ac944" providerId="ADAL" clId="{492B0D56-76BB-54D4-98A8-64DAD8E5C502}" dt="2025-10-28T19:30:25.789" v="2" actId="1076"/>
      <pc:docMkLst>
        <pc:docMk/>
      </pc:docMkLst>
      <pc:sldChg chg="modSp mod">
        <pc:chgData name="Alisa Hamilton" userId="35fb2a88-a81d-488f-8270-d2bfad5ac944" providerId="ADAL" clId="{492B0D56-76BB-54D4-98A8-64DAD8E5C502}" dt="2025-10-28T19:30:06.503" v="1" actId="255"/>
        <pc:sldMkLst>
          <pc:docMk/>
          <pc:sldMk cId="1876513280" sldId="754"/>
        </pc:sldMkLst>
        <pc:spChg chg="mod">
          <ac:chgData name="Alisa Hamilton" userId="35fb2a88-a81d-488f-8270-d2bfad5ac944" providerId="ADAL" clId="{492B0D56-76BB-54D4-98A8-64DAD8E5C502}" dt="2025-10-28T19:30:06.503" v="1" actId="255"/>
          <ac:spMkLst>
            <pc:docMk/>
            <pc:sldMk cId="1876513280" sldId="754"/>
            <ac:spMk id="8" creationId="{A41FA5E5-6BC3-3D13-9FE0-DBD908888097}"/>
          </ac:spMkLst>
        </pc:spChg>
        <pc:spChg chg="mod">
          <ac:chgData name="Alisa Hamilton" userId="35fb2a88-a81d-488f-8270-d2bfad5ac944" providerId="ADAL" clId="{492B0D56-76BB-54D4-98A8-64DAD8E5C502}" dt="2025-10-28T19:30:06.503" v="1" actId="255"/>
          <ac:spMkLst>
            <pc:docMk/>
            <pc:sldMk cId="1876513280" sldId="754"/>
            <ac:spMk id="9" creationId="{96749392-BEF2-AB99-0590-A8E6801CBF20}"/>
          </ac:spMkLst>
        </pc:spChg>
      </pc:sldChg>
      <pc:sldChg chg="modSp mod">
        <pc:chgData name="Alisa Hamilton" userId="35fb2a88-a81d-488f-8270-d2bfad5ac944" providerId="ADAL" clId="{492B0D56-76BB-54D4-98A8-64DAD8E5C502}" dt="2025-10-28T19:30:25.789" v="2" actId="1076"/>
        <pc:sldMkLst>
          <pc:docMk/>
          <pc:sldMk cId="840744460" sldId="780"/>
        </pc:sldMkLst>
        <pc:graphicFrameChg chg="mod">
          <ac:chgData name="Alisa Hamilton" userId="35fb2a88-a81d-488f-8270-d2bfad5ac944" providerId="ADAL" clId="{492B0D56-76BB-54D4-98A8-64DAD8E5C502}" dt="2025-10-28T19:30:25.789" v="2" actId="1076"/>
          <ac:graphicFrameMkLst>
            <pc:docMk/>
            <pc:sldMk cId="840744460" sldId="780"/>
            <ac:graphicFrameMk id="13" creationId="{ABA76861-1E15-96A6-81F0-10B1D2CE94CB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9BD3D7-8444-4105-8ECC-C6DA00795A2A}" type="datetimeFigureOut">
              <a:t>10/28/25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89DED9-3E66-456D-B62A-AD19FD879AE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502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4ED0D2-16ED-5547-8DC8-59573C5E7DB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830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DED9-3E66-456D-B62A-AD19FD879AE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6269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8AEE6-34A2-628B-2508-21CB09445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D1F597-5A7F-B41E-9E77-3333F467FD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D58733-51DB-80DA-60F3-560E410578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5751FA-5BB8-01F7-21B2-CB1802D22E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DED9-3E66-456D-B62A-AD19FD879AE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2896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6C6EE-920C-E41E-0DDE-A47293901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BAC738-A71E-96D1-FE25-DC4D2FC76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06D5DE-F2CD-6EA3-521C-2A5014C0B0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11C864-2A73-F6EB-DA5D-80EFA17393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DED9-3E66-456D-B62A-AD19FD879AE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229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DED9-3E66-456D-B62A-AD19FD879AE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571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8712E-FB4C-DE91-5DA3-AB40CCC36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FD11AB-38BE-7987-7229-BA9A8521FA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749978-31EF-EBAC-CE98-02C57FECA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6AF23A-3993-0D19-3D6D-DC294AA544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DED9-3E66-456D-B62A-AD19FD879AE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9764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1BFBB-BC46-8F9C-9AC9-5E988336F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1299A7-1FDC-D192-7F7F-9B5E47BA2D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AE3CE2-7E15-21D5-D2D6-EBC1745AF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3001F2-D822-9161-39DF-C0FC631179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DED9-3E66-456D-B62A-AD19FD879AE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3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DED9-3E66-456D-B62A-AD19FD879AE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1101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DED9-3E66-456D-B62A-AD19FD879AE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95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DED9-3E66-456D-B62A-AD19FD879AE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717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1293-623E-6AB0-8006-8F64BC581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680E0F-CDA7-EB0D-842C-0DFA0CC6FC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D5D8DF-DFF0-D92B-BB37-D1F64D46DB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73710D-A387-D8D1-0E6E-5014A6BEEE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DED9-3E66-456D-B62A-AD19FD879AE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8636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F81C4-E76B-EC6E-4514-FE5641239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051B4-A7BC-B2C2-1E50-31F90F9E6A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D44BC9-C469-84FC-7E98-E66770D2E7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9F7A50-C18D-D585-4A8F-80B305FCF2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DED9-3E66-456D-B62A-AD19FD879AE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9025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6CFEE-7963-7037-AA0D-47E7D2374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A167D8-3CC1-5EC6-7E6A-A77FA5000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29261D-2F82-A163-C62B-1E4B550AFD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9F031D-AA0C-7731-A80A-BE25EBFE27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DED9-3E66-456D-B62A-AD19FD879AE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9714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E4925-C35D-576E-B59C-C256DFBC0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F4F83-EB13-51AD-96F1-C7987279CE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D32745-548A-5479-9ADE-667DCA8280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EFFA12-DAF2-641C-CE8E-0A46F6DCE4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DED9-3E66-456D-B62A-AD19FD879AE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8256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E9742-7F67-403B-43C0-2B430186A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941540-FEB9-C7FC-2866-5EDBE6EBA2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3D454A-7E9F-311D-C139-E2C2FE0341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347BA-7CBF-226A-A2A1-090193808B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DED9-3E66-456D-B62A-AD19FD879AE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0932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489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467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419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789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374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650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453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043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006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845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4849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54A0AA2-B636-401F-B58B-6DF5349EBC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1893" y="142826"/>
            <a:ext cx="10780553" cy="1143389"/>
          </a:xfrm>
          <a:prstGeom prst="rect">
            <a:avLst/>
          </a:prstGeom>
        </p:spPr>
        <p:txBody>
          <a:bodyPr anchor="b"/>
          <a:lstStyle>
            <a:lvl1pPr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add title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414BC9-864B-4D63-BFF5-8A26BC6E54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53440" y="1287499"/>
            <a:ext cx="1037573" cy="137787"/>
          </a:xfrm>
          <a:prstGeom prst="rect">
            <a:avLst/>
          </a:prstGeom>
          <a:solidFill>
            <a:srgbClr val="69ACE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Bullets">
            <a:extLst>
              <a:ext uri="{FF2B5EF4-FFF2-40B4-BE49-F238E27FC236}">
                <a16:creationId xmlns:a16="http://schemas.microsoft.com/office/drawing/2014/main" id="{489A78E5-4DD4-4398-92E6-73293FB04D0D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711893" y="1854201"/>
            <a:ext cx="10780553" cy="4103431"/>
          </a:xfrm>
          <a:prstGeom prst="rect">
            <a:avLst/>
          </a:prstGeom>
        </p:spPr>
        <p:txBody>
          <a:bodyPr>
            <a:noAutofit/>
          </a:bodyPr>
          <a:lstStyle>
            <a:lvl1pPr marL="306910" indent="-306910">
              <a:spcBef>
                <a:spcPts val="1000"/>
              </a:spcBef>
              <a:buClr>
                <a:srgbClr val="092C74"/>
              </a:buClr>
              <a:buFont typeface="Wingdings" panose="05000000000000000000" pitchFamily="2" charset="2"/>
              <a:buChar char="§"/>
              <a:defRPr sz="2133" b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761981" indent="-304792">
              <a:buClr>
                <a:srgbClr val="092C74"/>
              </a:buClr>
              <a:buFont typeface="Courier New" panose="02070309020205020404" pitchFamily="49" charset="0"/>
              <a:buChar char="o"/>
              <a:defRPr sz="2133"/>
            </a:lvl2pPr>
            <a:lvl3pPr marL="1219170" indent="-304792">
              <a:buClr>
                <a:srgbClr val="092C74"/>
              </a:buClr>
              <a:defRPr sz="2133"/>
            </a:lvl3pPr>
          </a:lstStyle>
          <a:p>
            <a:pPr lvl="0"/>
            <a:r>
              <a:rPr lang="en-US" noProof="0"/>
              <a:t>Click to add bullets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pic>
        <p:nvPicPr>
          <p:cNvPr id="8" name="WSE logo">
            <a:extLst>
              <a:ext uri="{FF2B5EF4-FFF2-40B4-BE49-F238E27FC236}">
                <a16:creationId xmlns:a16="http://schemas.microsoft.com/office/drawing/2014/main" id="{5F712F24-2ADD-4B4F-B20F-5AF8A0644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72" t="27464" r="12906" b="27019"/>
          <a:stretch/>
        </p:blipFill>
        <p:spPr>
          <a:xfrm>
            <a:off x="696950" y="6407120"/>
            <a:ext cx="1377375" cy="381160"/>
          </a:xfrm>
          <a:prstGeom prst="rect">
            <a:avLst/>
          </a:prstGeom>
        </p:spPr>
      </p:pic>
      <p:sp>
        <p:nvSpPr>
          <p:cNvPr id="7" name="Page Number">
            <a:extLst>
              <a:ext uri="{FF2B5EF4-FFF2-40B4-BE49-F238E27FC236}">
                <a16:creationId xmlns:a16="http://schemas.microsoft.com/office/drawing/2014/main" id="{A10FF969-5C1A-4F23-A07F-2B9FBF69C84B}"/>
              </a:ext>
            </a:extLst>
          </p:cNvPr>
          <p:cNvSpPr txBox="1"/>
          <p:nvPr userDrawn="1"/>
        </p:nvSpPr>
        <p:spPr>
          <a:xfrm>
            <a:off x="10521949" y="6480226"/>
            <a:ext cx="1060451" cy="234951"/>
          </a:xfrm>
          <a:prstGeom prst="rect">
            <a:avLst/>
          </a:prstGeom>
        </p:spPr>
        <p:txBody>
          <a:bodyPr wrap="none" anchor="ctr" anchorCtr="1">
            <a:no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defTabSz="914354">
              <a:defRPr/>
            </a:pPr>
            <a:r>
              <a:rPr lang="en-US" sz="1333" b="1" baseline="0">
                <a:solidFill>
                  <a:schemeClr val="tx1"/>
                </a:solidFill>
                <a:latin typeface="+mj-lt"/>
              </a:rPr>
              <a:t>                </a:t>
            </a:r>
            <a:fld id="{F2C1E792-EDA4-4DC5-8412-A2C2E5D30ADF}" type="slidenum">
              <a:rPr lang="en-US" sz="1333" b="1" baseline="0">
                <a:solidFill>
                  <a:schemeClr val="tx1"/>
                </a:solidFill>
                <a:latin typeface="+mj-lt"/>
              </a:rPr>
              <a:pPr algn="r" defTabSz="914354">
                <a:defRPr/>
              </a:pPr>
              <a:t>‹#›</a:t>
            </a:fld>
            <a:endParaRPr lang="en-US" sz="1333" b="1" baseline="0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91508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nd Slide - Light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>
            <a:extLst>
              <a:ext uri="{FF2B5EF4-FFF2-40B4-BE49-F238E27FC236}">
                <a16:creationId xmlns:a16="http://schemas.microsoft.com/office/drawing/2014/main" id="{61522A75-C6E1-4A35-AEF4-3058F787B0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5721" y="-1251492"/>
            <a:ext cx="10780553" cy="1168247"/>
          </a:xfrm>
          <a:prstGeom prst="rect">
            <a:avLst/>
          </a:prstGeom>
        </p:spPr>
        <p:txBody>
          <a:bodyPr anchor="ctr"/>
          <a:lstStyle>
            <a:lvl1pPr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Copyright The Johns Hopkins University 2023. All rights reserved.</a:t>
            </a:r>
          </a:p>
        </p:txBody>
      </p:sp>
      <p:pic>
        <p:nvPicPr>
          <p:cNvPr id="2" name="Picture 18" descr="Medical History Moment - The Founding of Johns Hopkins University ...">
            <a:extLst>
              <a:ext uri="{FF2B5EF4-FFF2-40B4-BE49-F238E27FC236}">
                <a16:creationId xmlns:a16="http://schemas.microsoft.com/office/drawing/2014/main" id="{6855C648-89BA-05DB-FBE4-06DECEF5D9D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323" t="7786" r="6323" b="18463"/>
          <a:stretch/>
        </p:blipFill>
        <p:spPr bwMode="auto">
          <a:xfrm>
            <a:off x="1" y="1"/>
            <a:ext cx="12191999" cy="6857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Freeform 13">
            <a:extLst>
              <a:ext uri="{FF2B5EF4-FFF2-40B4-BE49-F238E27FC236}">
                <a16:creationId xmlns:a16="http://schemas.microsoft.com/office/drawing/2014/main" id="{6A59C72E-C9CB-418F-981E-D5C3438A08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0800000">
            <a:off x="-2" y="-4"/>
            <a:ext cx="12192001" cy="6857999"/>
          </a:xfrm>
          <a:prstGeom prst="rect">
            <a:avLst/>
          </a:prstGeom>
          <a:gradFill flip="none" rotWithShape="1">
            <a:gsLst>
              <a:gs pos="0">
                <a:srgbClr val="69ACE5">
                  <a:alpha val="85000"/>
                </a:srgbClr>
              </a:gs>
              <a:gs pos="75000">
                <a:srgbClr val="3B6FAF">
                  <a:alpha val="85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WSE Logo">
            <a:extLst>
              <a:ext uri="{FF2B5EF4-FFF2-40B4-BE49-F238E27FC236}">
                <a16:creationId xmlns:a16="http://schemas.microsoft.com/office/drawing/2014/main" id="{73EE76B3-19B8-4A4F-9962-98EBF35D9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42" t="22639" r="15939" b="21111"/>
          <a:stretch/>
        </p:blipFill>
        <p:spPr>
          <a:xfrm>
            <a:off x="3446626" y="1889550"/>
            <a:ext cx="5298749" cy="307890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146C736-D135-449F-AC2D-8C9ACCE3507D}"/>
              </a:ext>
            </a:extLst>
          </p:cNvPr>
          <p:cNvSpPr/>
          <p:nvPr userDrawn="1"/>
        </p:nvSpPr>
        <p:spPr>
          <a:xfrm>
            <a:off x="0" y="6303182"/>
            <a:ext cx="12192000" cy="289453"/>
          </a:xfrm>
          <a:prstGeom prst="rect">
            <a:avLst/>
          </a:prstGeom>
        </p:spPr>
        <p:txBody>
          <a:bodyPr wrap="square" lIns="108852" tIns="54427" rIns="108852" bIns="54427">
            <a:spAutoFit/>
          </a:bodyPr>
          <a:lstStyle/>
          <a:p>
            <a:pPr algn="ctr"/>
            <a:r>
              <a:rPr lang="en-US" sz="1167">
                <a:solidFill>
                  <a:schemeClr val="bg1"/>
                </a:solidFill>
                <a:latin typeface="Arial"/>
                <a:cs typeface="Arial"/>
              </a:rPr>
              <a:t>© The Johns Hopkins University 2023,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8911231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7452E6E-29A6-2C85-9C79-764136C3168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98" y="0"/>
            <a:ext cx="12188302" cy="68600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BC76EE-BBDD-9DAC-BD3C-14DC174D2E8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1" y="1199408"/>
            <a:ext cx="5519350" cy="2315688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defRPr sz="400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of </a:t>
            </a:r>
            <a:br>
              <a:rPr lang="en-US"/>
            </a:br>
            <a:r>
              <a:rPr lang="en-US"/>
              <a:t>the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755132-02B7-F237-8FA1-F867CF88FB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3692901"/>
            <a:ext cx="5519351" cy="784095"/>
          </a:xfrm>
        </p:spPr>
        <p:txBody>
          <a:bodyPr anchor="ctr">
            <a:normAutofit/>
          </a:bodyPr>
          <a:lstStyle>
            <a:lvl1pPr marL="0" indent="0" algn="l">
              <a:lnSpc>
                <a:spcPts val="1780"/>
              </a:lnSpc>
              <a:spcBef>
                <a:spcPts val="1000"/>
              </a:spcBef>
              <a:buNone/>
              <a:defRPr sz="2400" b="1">
                <a:solidFill>
                  <a:srgbClr val="4E97E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Add Subtitle</a:t>
            </a:r>
          </a:p>
        </p:txBody>
      </p:sp>
      <p:pic>
        <p:nvPicPr>
          <p:cNvPr id="12" name="Picture 11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5E5E73B6-2798-2A91-EEE6-2BB4284BE96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98770" y="5095306"/>
            <a:ext cx="4293230" cy="178427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E77B635-698D-CEB4-EA5A-566854E400B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4476751"/>
            <a:ext cx="5519738" cy="451510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DEPARTMENT NAME OR DATE IN ALL CAPS</a:t>
            </a:r>
          </a:p>
        </p:txBody>
      </p:sp>
    </p:spTree>
    <p:extLst>
      <p:ext uri="{BB962C8B-B14F-4D97-AF65-F5344CB8AC3E}">
        <p14:creationId xmlns:p14="http://schemas.microsoft.com/office/powerpoint/2010/main" val="3084366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w/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square with white lines&#10;&#10;Description automatically generated with medium confidence">
            <a:extLst>
              <a:ext uri="{FF2B5EF4-FFF2-40B4-BE49-F238E27FC236}">
                <a16:creationId xmlns:a16="http://schemas.microsoft.com/office/drawing/2014/main" id="{596D2A21-2E76-5B18-DE93-32E809FDBF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2089" y="0"/>
            <a:ext cx="12192000" cy="1640793"/>
          </a:xfrm>
          <a:prstGeom prst="rect">
            <a:avLst/>
          </a:prstGeom>
        </p:spPr>
      </p:pic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209356EC-295E-5603-B486-43CADD66F6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3317" y="1805025"/>
            <a:ext cx="11585365" cy="4245397"/>
          </a:xfrm>
        </p:spPr>
        <p:txBody>
          <a:bodyPr/>
          <a:lstStyle>
            <a:lvl2pPr>
              <a:defRPr sz="2000"/>
            </a:lvl2pPr>
            <a:lvl3pPr marL="1143000" indent="-228600">
              <a:buFont typeface="System Font Regular"/>
              <a:buChar char="–"/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05ABF60-1B68-135C-A9A6-11C948D7FA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D8AFF2-9042-B841-A3E7-F7EA0CBF7244}" type="datetime3">
              <a:rPr lang="en-US" smtClean="0"/>
              <a:pPr/>
              <a:t>28 October 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6182963-1E80-6DE0-0367-A79451A82D6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Unit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6BE6B5-4DC4-B1E9-5F84-01E6D86F86B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D38D0CA-89C0-9ABD-FF68-B1CC45068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734975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square with white lines&#10;&#10;Description automatically generated with medium confidence">
            <a:extLst>
              <a:ext uri="{FF2B5EF4-FFF2-40B4-BE49-F238E27FC236}">
                <a16:creationId xmlns:a16="http://schemas.microsoft.com/office/drawing/2014/main" id="{596D2A21-2E76-5B18-DE93-32E809FDBF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-1"/>
            <a:ext cx="12192001" cy="6858001"/>
          </a:xfrm>
          <a:prstGeom prst="rect">
            <a:avLst/>
          </a:prstGeom>
        </p:spPr>
      </p:pic>
      <p:pic>
        <p:nvPicPr>
          <p:cNvPr id="2" name="Picture 1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DE177EC9-C768-378C-1033-4D5D55FC0AD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58058" y="1376787"/>
            <a:ext cx="9875883" cy="410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1318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square with white lines&#10;&#10;Description automatically generated with medium confidence">
            <a:extLst>
              <a:ext uri="{FF2B5EF4-FFF2-40B4-BE49-F238E27FC236}">
                <a16:creationId xmlns:a16="http://schemas.microsoft.com/office/drawing/2014/main" id="{596D2A21-2E76-5B18-DE93-32E809FDBF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FCC74154-920A-7908-96E4-FCAB9EB058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82316" y="953546"/>
            <a:ext cx="10379241" cy="1778695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Closing Slide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ACA531E-D6C1-E9A7-B39A-A410B89BA0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2316" y="3015916"/>
            <a:ext cx="10379241" cy="896721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2400" b="1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CTA or URL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810872C-6ED3-1495-01D5-B22FBFD037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82650" y="4090988"/>
            <a:ext cx="10379075" cy="1989137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Presenter Names and Contact</a:t>
            </a:r>
          </a:p>
        </p:txBody>
      </p:sp>
    </p:spTree>
    <p:extLst>
      <p:ext uri="{BB962C8B-B14F-4D97-AF65-F5344CB8AC3E}">
        <p14:creationId xmlns:p14="http://schemas.microsoft.com/office/powerpoint/2010/main" val="4075244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594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DDEP-DC/GREASYPOP-CO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4" Type="http://schemas.openxmlformats.org/officeDocument/2006/relationships/hyperlink" Target="https://starsim.org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0F3DE-E8AB-E7B1-FD37-595E64329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0354" y="1270000"/>
            <a:ext cx="10451291" cy="2962563"/>
          </a:xfrm>
        </p:spPr>
        <p:txBody>
          <a:bodyPr anchor="t"/>
          <a:lstStyle/>
          <a:p>
            <a:r>
              <a:rPr lang="en-US" sz="5000" b="1" dirty="0">
                <a:latin typeface="Aptos Display"/>
                <a:ea typeface="Tahoma"/>
                <a:cs typeface="Tahoma"/>
              </a:rPr>
              <a:t>GeoPops demonstration: </a:t>
            </a:r>
            <a:br>
              <a:rPr lang="en-US" sz="5000" b="1" dirty="0">
                <a:latin typeface="Aptos Display"/>
                <a:ea typeface="Tahoma"/>
                <a:cs typeface="Tahoma"/>
              </a:rPr>
            </a:br>
            <a:r>
              <a:rPr lang="en-US" sz="5000" b="1" dirty="0">
                <a:latin typeface="Aptos Display"/>
                <a:ea typeface="Tahoma"/>
                <a:cs typeface="Tahoma"/>
              </a:rPr>
              <a:t>An open-source, adaptable framework for agent-based modeling on synthetic populations</a:t>
            </a:r>
            <a:endParaRPr lang="en-US" dirty="0">
              <a:ea typeface="Tahoma"/>
              <a:cs typeface="Tahom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69D27D-5938-E4B8-9569-883F82E1A0B3}"/>
              </a:ext>
            </a:extLst>
          </p:cNvPr>
          <p:cNvSpPr txBox="1"/>
          <p:nvPr/>
        </p:nvSpPr>
        <p:spPr>
          <a:xfrm>
            <a:off x="9201899" y="242454"/>
            <a:ext cx="27996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Alisa Hamilton, PhD(c)</a:t>
            </a:r>
          </a:p>
          <a:p>
            <a:r>
              <a:rPr lang="en-US" dirty="0">
                <a:solidFill>
                  <a:schemeClr val="bg1"/>
                </a:solidFill>
              </a:rPr>
              <a:t>Systems Engineering</a:t>
            </a:r>
          </a:p>
          <a:p>
            <a:r>
              <a:rPr lang="en-US" dirty="0">
                <a:solidFill>
                  <a:schemeClr val="bg1"/>
                </a:solidFill>
              </a:rPr>
              <a:t>Johns Hopkins University</a:t>
            </a:r>
          </a:p>
          <a:p>
            <a:r>
              <a:rPr lang="en-US" dirty="0">
                <a:solidFill>
                  <a:schemeClr val="bg1"/>
                </a:solidFill>
              </a:rPr>
              <a:t>ahamil33@jh.edu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F650DF-860F-A954-C71F-A97AE6C29A2A}"/>
              </a:ext>
            </a:extLst>
          </p:cNvPr>
          <p:cNvSpPr txBox="1"/>
          <p:nvPr/>
        </p:nvSpPr>
        <p:spPr>
          <a:xfrm>
            <a:off x="870354" y="4521445"/>
            <a:ext cx="1055716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Alisa Hamilton</a:t>
            </a:r>
            <a:r>
              <a:rPr lang="en-US" sz="2400" baseline="300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1</a:t>
            </a:r>
            <a:r>
              <a:rPr lang="en-US" sz="24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, Alexander Tulchinsky</a:t>
            </a:r>
            <a:r>
              <a:rPr lang="en-US" sz="2400" baseline="300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2</a:t>
            </a:r>
            <a:r>
              <a:rPr lang="en-US" sz="24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, Cliff Kerr</a:t>
            </a:r>
            <a:r>
              <a:rPr lang="en-US" sz="2400" baseline="300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3</a:t>
            </a:r>
            <a:r>
              <a:rPr lang="en-US" sz="24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, Eili Klein</a:t>
            </a:r>
            <a:r>
              <a:rPr lang="en-US" sz="2400" baseline="300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1,2</a:t>
            </a:r>
            <a:r>
              <a:rPr lang="en-US" sz="24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, Lauren Gardner</a:t>
            </a:r>
            <a:r>
              <a:rPr lang="en-US" sz="2400" baseline="300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1</a:t>
            </a:r>
          </a:p>
          <a:p>
            <a:r>
              <a:rPr lang="en-US" baseline="300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1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Johns Hopkins University, </a:t>
            </a:r>
            <a:r>
              <a:rPr lang="en-US" baseline="300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2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One Health Trust, </a:t>
            </a:r>
            <a:r>
              <a:rPr lang="en-US" baseline="30000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3</a:t>
            </a:r>
            <a:r>
              <a:rPr lang="en-US" dirty="0">
                <a:solidFill>
                  <a:schemeClr val="bg1"/>
                </a:solidFill>
                <a:latin typeface="Aptos" panose="020B0004020202020204" pitchFamily="34" charset="0"/>
                <a:cs typeface="Times New Roman" panose="02020603050405020304" pitchFamily="18" charset="0"/>
              </a:rPr>
              <a:t>Institute for Disease Modeling</a:t>
            </a:r>
          </a:p>
        </p:txBody>
      </p:sp>
      <p:pic>
        <p:nvPicPr>
          <p:cNvPr id="8" name="Picture 7" descr="A logo with white letters&#10;&#10;AI-generated content may be incorrect.">
            <a:extLst>
              <a:ext uri="{FF2B5EF4-FFF2-40B4-BE49-F238E27FC236}">
                <a16:creationId xmlns:a16="http://schemas.microsoft.com/office/drawing/2014/main" id="{8985F249-D2FF-F060-EBE2-625D8961C9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354" y="5758974"/>
            <a:ext cx="2290763" cy="598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31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8C930E-78F7-57FB-E8BD-A961F806C10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D8AFF2-9042-B841-A3E7-F7EA0CBF7244}" type="datetime3">
              <a:rPr lang="en-US" smtClean="0"/>
              <a:pPr/>
              <a:t>28 October 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6AD075-6129-440B-3D26-0DAFAA59793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636DE3-745C-5C83-811B-DFE31AE8F4E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684A3F4-6A99-E8C4-275C-F3439ADF7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620981"/>
          </a:xfrm>
        </p:spPr>
        <p:txBody>
          <a:bodyPr>
            <a:normAutofit/>
          </a:bodyPr>
          <a:lstStyle/>
          <a:p>
            <a:r>
              <a:rPr lang="en-US" sz="3600" dirty="0"/>
              <a:t>GeoPops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FC991E-1B5A-6C7D-4BF7-BFC0D02F98F3}"/>
              </a:ext>
            </a:extLst>
          </p:cNvPr>
          <p:cNvSpPr txBox="1"/>
          <p:nvPr/>
        </p:nvSpPr>
        <p:spPr>
          <a:xfrm>
            <a:off x="449026" y="2276914"/>
            <a:ext cx="10245436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Open-source package for generating geographically and demographically realistic synthetic populations for any US Census location using publicly available data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Same methodology as </a:t>
            </a:r>
            <a:r>
              <a:rPr lang="en-US" dirty="0">
                <a:hlinkClick r:id="rId3"/>
              </a:rPr>
              <a:t>GREASYPOP-CO</a:t>
            </a:r>
            <a:r>
              <a:rPr lang="en-US" dirty="0"/>
              <a:t> (One Health Trust) but wrapped in convenient Python package that can be pip installed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Automatic data downloading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Compatibility with Census data beyond 2019 (in development)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Compatibility with agent-based modeling software </a:t>
            </a:r>
            <a:r>
              <a:rPr lang="en-US" dirty="0">
                <a:hlinkClick r:id="rId4"/>
              </a:rPr>
              <a:t>Starsim</a:t>
            </a:r>
            <a:r>
              <a:rPr lang="en-US" dirty="0"/>
              <a:t> (IDM)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41FA5E5-6BC3-3D13-9FE0-DBD908888097}"/>
              </a:ext>
            </a:extLst>
          </p:cNvPr>
          <p:cNvSpPr/>
          <p:nvPr/>
        </p:nvSpPr>
        <p:spPr>
          <a:xfrm>
            <a:off x="7628291" y="4108653"/>
            <a:ext cx="3725508" cy="82860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635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github.com/ACCIDDA/GeoPops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6749392-BEF2-AB99-0590-A8E6801CBF20}"/>
              </a:ext>
            </a:extLst>
          </p:cNvPr>
          <p:cNvSpPr/>
          <p:nvPr/>
        </p:nvSpPr>
        <p:spPr>
          <a:xfrm>
            <a:off x="7628292" y="5165420"/>
            <a:ext cx="3725508" cy="82860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635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pypi.org/project/geopops</a:t>
            </a:r>
          </a:p>
        </p:txBody>
      </p:sp>
    </p:spTree>
    <p:extLst>
      <p:ext uri="{BB962C8B-B14F-4D97-AF65-F5344CB8AC3E}">
        <p14:creationId xmlns:p14="http://schemas.microsoft.com/office/powerpoint/2010/main" val="1876513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30000-9593-EE45-E30D-5A30A27FD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813B96-A417-25C4-18C2-83794501B9A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D8AFF2-9042-B841-A3E7-F7EA0CBF7244}" type="datetime3">
              <a:rPr lang="en-US" smtClean="0"/>
              <a:pPr/>
              <a:t>28 October 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C82C91-3FF0-6AA5-846A-72CDC20FF95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68F99B-9746-1360-321B-7C95A88F914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3DF1930-5005-24DD-9B5B-1E373464A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620981"/>
          </a:xfrm>
        </p:spPr>
        <p:txBody>
          <a:bodyPr>
            <a:normAutofit/>
          </a:bodyPr>
          <a:lstStyle/>
          <a:p>
            <a:r>
              <a:rPr lang="en-US" sz="3600" dirty="0"/>
              <a:t>MIDAS Notebook Tutorial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0BBBDE-0494-8768-484C-161705418C0D}"/>
              </a:ext>
            </a:extLst>
          </p:cNvPr>
          <p:cNvSpPr txBox="1"/>
          <p:nvPr/>
        </p:nvSpPr>
        <p:spPr>
          <a:xfrm>
            <a:off x="838200" y="2167116"/>
            <a:ext cx="8025384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b="1" dirty="0"/>
              <a:t>Demonstration of framework. Not a realistic application!</a:t>
            </a:r>
          </a:p>
          <a:p>
            <a:pPr lvl="1">
              <a:spcAft>
                <a:spcPts val="1200"/>
              </a:spcAft>
            </a:pPr>
            <a:r>
              <a:rPr lang="en-US" dirty="0"/>
              <a:t>1. Make a population of Howard County, MD</a:t>
            </a:r>
          </a:p>
          <a:p>
            <a:pPr lvl="1">
              <a:spcAft>
                <a:spcPts val="1200"/>
              </a:spcAft>
            </a:pPr>
            <a:r>
              <a:rPr lang="en-US" dirty="0"/>
              <a:t>2. Run a COVID-like SIR Starsim model on the population</a:t>
            </a:r>
          </a:p>
          <a:p>
            <a:pPr lvl="1">
              <a:spcAft>
                <a:spcPts val="1200"/>
              </a:spcAft>
            </a:pPr>
            <a:r>
              <a:rPr lang="en-US" dirty="0"/>
              <a:t>3. Incorporate prevalence-dependent "school closures"</a:t>
            </a:r>
          </a:p>
          <a:p>
            <a:pPr lvl="1">
              <a:spcAft>
                <a:spcPts val="1200"/>
              </a:spcAft>
            </a:pPr>
            <a:r>
              <a:rPr lang="en-US" dirty="0"/>
              <a:t>4. Track outcomes by age and Census Block Group (CBG)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45C99A6-BE39-9D8F-0BC7-976F179846E9}"/>
              </a:ext>
            </a:extLst>
          </p:cNvPr>
          <p:cNvSpPr/>
          <p:nvPr/>
        </p:nvSpPr>
        <p:spPr>
          <a:xfrm>
            <a:off x="2607137" y="4922292"/>
            <a:ext cx="6977725" cy="82860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635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github.com/ACCIDDA/GeoPops/tutorials/MIDAS</a:t>
            </a:r>
          </a:p>
        </p:txBody>
      </p:sp>
    </p:spTree>
    <p:extLst>
      <p:ext uri="{BB962C8B-B14F-4D97-AF65-F5344CB8AC3E}">
        <p14:creationId xmlns:p14="http://schemas.microsoft.com/office/powerpoint/2010/main" val="2611282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1BE83-C3EA-255D-65BC-7ADB65263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B43E46-F735-6CDB-0E1F-F486CB5822D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D8AFF2-9042-B841-A3E7-F7EA0CBF7244}" type="datetime3">
              <a:rPr lang="en-US" smtClean="0"/>
              <a:pPr/>
              <a:t>28 October 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6C3319-01B1-1619-4756-6B62B1F30A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B896B7-4E60-FFB6-EDC4-FE465FDB040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D5F6884-9E6C-9400-F1BC-096F44A48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634936"/>
          </a:xfrm>
        </p:spPr>
        <p:txBody>
          <a:bodyPr>
            <a:normAutofit/>
          </a:bodyPr>
          <a:lstStyle/>
          <a:p>
            <a:r>
              <a:rPr lang="en-US" sz="3600" dirty="0"/>
              <a:t>Output: Agents and networks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873F44-2AF2-F2A6-F913-B8EED1D2C6AF}"/>
              </a:ext>
            </a:extLst>
          </p:cNvPr>
          <p:cNvSpPr txBox="1"/>
          <p:nvPr/>
        </p:nvSpPr>
        <p:spPr>
          <a:xfrm>
            <a:off x="967563" y="2038360"/>
            <a:ext cx="393404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Agents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Race/ethnicity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Worker status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Student status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School grade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Commuter status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Income category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Workplace category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Home CBG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School CBG if applicable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 CBG if applicable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GQ CBG if applicable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C9B78C-EBDC-4804-54F8-45B61ABE297C}"/>
              </a:ext>
            </a:extLst>
          </p:cNvPr>
          <p:cNvSpPr txBox="1"/>
          <p:nvPr/>
        </p:nvSpPr>
        <p:spPr>
          <a:xfrm>
            <a:off x="5040628" y="2596455"/>
            <a:ext cx="322087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School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List of students for each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Size of grade levels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Number of teachers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CBG location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7C3C14-751E-9010-EC49-ADE5DA1094F9}"/>
              </a:ext>
            </a:extLst>
          </p:cNvPr>
          <p:cNvSpPr txBox="1"/>
          <p:nvPr/>
        </p:nvSpPr>
        <p:spPr>
          <a:xfrm>
            <a:off x="8808720" y="2600841"/>
            <a:ext cx="25450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Workplace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Number of workers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CBG if inside population area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87D462-858C-5A8E-2FA0-89F4A9E656D4}"/>
              </a:ext>
            </a:extLst>
          </p:cNvPr>
          <p:cNvSpPr txBox="1"/>
          <p:nvPr/>
        </p:nvSpPr>
        <p:spPr>
          <a:xfrm>
            <a:off x="8808720" y="5029597"/>
            <a:ext cx="30022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Group quarters (GQ)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Number of residents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Number of staff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CBG location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0F20BA-FDBA-CF30-4357-EA40D3F88BB7}"/>
              </a:ext>
            </a:extLst>
          </p:cNvPr>
          <p:cNvSpPr txBox="1"/>
          <p:nvPr/>
        </p:nvSpPr>
        <p:spPr>
          <a:xfrm>
            <a:off x="5040628" y="5029597"/>
            <a:ext cx="269020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Household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List of agents for each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CBG location</a:t>
            </a:r>
          </a:p>
        </p:txBody>
      </p:sp>
      <p:pic>
        <p:nvPicPr>
          <p:cNvPr id="10" name="Picture 9" descr="A blue outline of a book&#10;&#10;Description automatically generated">
            <a:extLst>
              <a:ext uri="{FF2B5EF4-FFF2-40B4-BE49-F238E27FC236}">
                <a16:creationId xmlns:a16="http://schemas.microsoft.com/office/drawing/2014/main" id="{1DFC34EE-54A5-EC7E-4B1E-43D15FCA117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40628" y="1866941"/>
            <a:ext cx="889000" cy="889000"/>
          </a:xfrm>
          <a:prstGeom prst="rect">
            <a:avLst/>
          </a:prstGeom>
        </p:spPr>
      </p:pic>
      <p:pic>
        <p:nvPicPr>
          <p:cNvPr id="11" name="Picture 10" descr="A blue line art of a briefcase&#10;&#10;Description automatically generated">
            <a:extLst>
              <a:ext uri="{FF2B5EF4-FFF2-40B4-BE49-F238E27FC236}">
                <a16:creationId xmlns:a16="http://schemas.microsoft.com/office/drawing/2014/main" id="{4CD4A0C7-44B3-770E-0934-263660FB991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08720" y="1817111"/>
            <a:ext cx="889000" cy="889000"/>
          </a:xfrm>
          <a:prstGeom prst="rect">
            <a:avLst/>
          </a:prstGeom>
        </p:spPr>
      </p:pic>
      <p:pic>
        <p:nvPicPr>
          <p:cNvPr id="12" name="Picture 11" descr="A grey house with a door&#10;&#10;Description automatically generated">
            <a:extLst>
              <a:ext uri="{FF2B5EF4-FFF2-40B4-BE49-F238E27FC236}">
                <a16:creationId xmlns:a16="http://schemas.microsoft.com/office/drawing/2014/main" id="{552699F8-18C8-8D7A-0B09-CF21CE685D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7940" y="4302759"/>
            <a:ext cx="708660" cy="7086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3B05296-A4C3-2A25-6998-0966FF72F3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2531" y="4241783"/>
            <a:ext cx="1051556" cy="105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623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8C930E-78F7-57FB-E8BD-A961F806C10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D8AFF2-9042-B841-A3E7-F7EA0CBF7244}" type="datetime3">
              <a:rPr lang="en-US" smtClean="0"/>
              <a:pPr/>
              <a:t>28 October 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6AD075-6129-440B-3D26-0DAFAA59793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636DE3-745C-5C83-811B-DFE31AE8F4E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684A3F4-6A99-E8C4-275C-F3439ADF7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83" y="0"/>
            <a:ext cx="10515600" cy="1631876"/>
          </a:xfrm>
        </p:spPr>
        <p:txBody>
          <a:bodyPr>
            <a:normAutofit/>
          </a:bodyPr>
          <a:lstStyle/>
          <a:p>
            <a:r>
              <a:rPr lang="en-US" sz="3600" dirty="0"/>
              <a:t>Methods: Generating agents and households</a:t>
            </a:r>
          </a:p>
        </p:txBody>
      </p:sp>
      <p:pic>
        <p:nvPicPr>
          <p:cNvPr id="17" name="Picture 16" descr="A grey house with a door&#10;&#10;Description automatically generated">
            <a:extLst>
              <a:ext uri="{FF2B5EF4-FFF2-40B4-BE49-F238E27FC236}">
                <a16:creationId xmlns:a16="http://schemas.microsoft.com/office/drawing/2014/main" id="{10BA71BB-2364-E252-58FF-CD6E0E15DE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2106" y="3269519"/>
            <a:ext cx="708660" cy="708660"/>
          </a:xfrm>
          <a:prstGeom prst="rect">
            <a:avLst/>
          </a:prstGeom>
        </p:spPr>
      </p:pic>
      <p:pic>
        <p:nvPicPr>
          <p:cNvPr id="19" name="Picture 18" descr="A grey house with a door&#10;&#10;Description automatically generated">
            <a:extLst>
              <a:ext uri="{FF2B5EF4-FFF2-40B4-BE49-F238E27FC236}">
                <a16:creationId xmlns:a16="http://schemas.microsoft.com/office/drawing/2014/main" id="{3CDC3A94-85BD-02D9-0092-9EBEBB31AB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766" y="2858237"/>
            <a:ext cx="708660" cy="708660"/>
          </a:xfrm>
          <a:prstGeom prst="rect">
            <a:avLst/>
          </a:prstGeom>
        </p:spPr>
      </p:pic>
      <p:pic>
        <p:nvPicPr>
          <p:cNvPr id="21" name="Picture 20" descr="A grey house with a door&#10;&#10;Description automatically generated">
            <a:extLst>
              <a:ext uri="{FF2B5EF4-FFF2-40B4-BE49-F238E27FC236}">
                <a16:creationId xmlns:a16="http://schemas.microsoft.com/office/drawing/2014/main" id="{86F754CF-81BD-85D6-8F94-A26EAC29CD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2744" y="3319247"/>
            <a:ext cx="708660" cy="708660"/>
          </a:xfrm>
          <a:prstGeom prst="rect">
            <a:avLst/>
          </a:prstGeom>
        </p:spPr>
      </p:pic>
      <p:pic>
        <p:nvPicPr>
          <p:cNvPr id="25" name="Picture 24" descr="A blue line drawing of a graph&#10;&#10;Description automatically generated">
            <a:extLst>
              <a:ext uri="{FF2B5EF4-FFF2-40B4-BE49-F238E27FC236}">
                <a16:creationId xmlns:a16="http://schemas.microsoft.com/office/drawing/2014/main" id="{E35FD3A9-EFA4-07E7-216D-7E90B772EC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9970" y="2761216"/>
            <a:ext cx="1680210" cy="168021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DFA8AA6-CE27-2151-882B-D116FC4FB516}"/>
              </a:ext>
            </a:extLst>
          </p:cNvPr>
          <p:cNvSpPr txBox="1"/>
          <p:nvPr/>
        </p:nvSpPr>
        <p:spPr>
          <a:xfrm>
            <a:off x="838200" y="2296183"/>
            <a:ext cx="42595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/>
              <a:t>Public Use Microdata Samples (PUMS)</a:t>
            </a:r>
            <a:endParaRPr lang="en-US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D841D5-EEC5-BD32-DA9C-736164D44BC7}"/>
              </a:ext>
            </a:extLst>
          </p:cNvPr>
          <p:cNvSpPr txBox="1"/>
          <p:nvPr/>
        </p:nvSpPr>
        <p:spPr>
          <a:xfrm>
            <a:off x="6959303" y="2296183"/>
            <a:ext cx="40015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/>
              <a:t>American Community Survey (ACS)</a:t>
            </a:r>
            <a:endParaRPr lang="en-US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6D01084-E389-C668-603D-742CF5D1D821}"/>
              </a:ext>
            </a:extLst>
          </p:cNvPr>
          <p:cNvCxnSpPr/>
          <p:nvPr/>
        </p:nvCxnSpPr>
        <p:spPr>
          <a:xfrm flipH="1">
            <a:off x="4274820" y="3560984"/>
            <a:ext cx="29146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19B76C1F-F7B8-58CC-26EC-5D0227F92741}"/>
              </a:ext>
            </a:extLst>
          </p:cNvPr>
          <p:cNvSpPr txBox="1"/>
          <p:nvPr/>
        </p:nvSpPr>
        <p:spPr>
          <a:xfrm>
            <a:off x="4791506" y="3211912"/>
            <a:ext cx="1833468" cy="92333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Combinatorial optimization (CO)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DDAB0-4CC7-BE0D-FA53-1E9EC9756679}"/>
              </a:ext>
            </a:extLst>
          </p:cNvPr>
          <p:cNvSpPr txBox="1"/>
          <p:nvPr/>
        </p:nvSpPr>
        <p:spPr>
          <a:xfrm>
            <a:off x="445770" y="5761650"/>
            <a:ext cx="645205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74320" indent="-457200"/>
            <a:r>
              <a:rPr lang="en-US" sz="900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oppins-Regular"/>
              </a:rPr>
              <a:t>Alexander Y. Tulchinsky, Fardad Haghpanah, Alisa Hamilton, Nodar Kipshidze, and Eili Y. Klein. (2024). Generating geographically and economically realistic large-scale synthetic contact networks: A general method using publicly available data. https://</a:t>
            </a:r>
            <a:r>
              <a:rPr lang="en-US" sz="900" b="0" i="1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oppins-Regular"/>
              </a:rPr>
              <a:t>arxiv.org</a:t>
            </a:r>
            <a:r>
              <a:rPr lang="en-US" sz="900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oppins-Regular"/>
              </a:rPr>
              <a:t>/abs/2406.14698</a:t>
            </a:r>
            <a:endParaRPr lang="en-US" sz="9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7C4A15-27AD-A1A2-8082-4A1481CB362C}"/>
              </a:ext>
            </a:extLst>
          </p:cNvPr>
          <p:cNvSpPr txBox="1"/>
          <p:nvPr/>
        </p:nvSpPr>
        <p:spPr>
          <a:xfrm>
            <a:off x="617696" y="4225290"/>
            <a:ext cx="4114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Subset of census survey responses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Compositional details, e.g., the number of 5-member households in a CBG with school-aged children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C7C8BC-6210-D4C1-C91D-DCEC163E20EB}"/>
              </a:ext>
            </a:extLst>
          </p:cNvPr>
          <p:cNvSpPr txBox="1"/>
          <p:nvPr/>
        </p:nvSpPr>
        <p:spPr>
          <a:xfrm>
            <a:off x="6696935" y="4225290"/>
            <a:ext cx="501777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Demographic data at fine geographic scale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Limited to marginal counts, e.g., the number of households in a CBG with 5 members and the number of households in a CBG with school-aged children</a:t>
            </a:r>
          </a:p>
        </p:txBody>
      </p:sp>
    </p:spTree>
    <p:extLst>
      <p:ext uri="{BB962C8B-B14F-4D97-AF65-F5344CB8AC3E}">
        <p14:creationId xmlns:p14="http://schemas.microsoft.com/office/powerpoint/2010/main" val="12859677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C2C61-2AB9-4F3C-44D4-528B56B6F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0C040C-FE2A-DDCD-AFCA-3BDAE4031F8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D8AFF2-9042-B841-A3E7-F7EA0CBF7244}" type="datetime3">
              <a:rPr lang="en-US" smtClean="0"/>
              <a:pPr/>
              <a:t>28 October 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2C4CD5-FD83-E95E-B3E0-DB855764689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2DB79E-1C78-E570-5A61-A3FBF47A196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6967FE-60E3-403D-8E09-CEB4B33C8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645919"/>
          </a:xfrm>
        </p:spPr>
        <p:txBody>
          <a:bodyPr>
            <a:normAutofit/>
          </a:bodyPr>
          <a:lstStyle/>
          <a:p>
            <a:r>
              <a:rPr lang="en-US" sz="3600" dirty="0"/>
              <a:t>Methods: Assigning agents to schools and workplaces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BA76861-1E15-96A6-81F0-10B1D2CE94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9852453"/>
              </p:ext>
            </p:extLst>
          </p:nvPr>
        </p:nvGraphicFramePr>
        <p:xfrm>
          <a:off x="1061561" y="2438432"/>
          <a:ext cx="10068877" cy="2582989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1514117">
                  <a:extLst>
                    <a:ext uri="{9D8B030D-6E8A-4147-A177-3AD203B41FA5}">
                      <a16:colId xmlns:a16="http://schemas.microsoft.com/office/drawing/2014/main" val="3798875613"/>
                    </a:ext>
                  </a:extLst>
                </a:gridCol>
                <a:gridCol w="2195470">
                  <a:extLst>
                    <a:ext uri="{9D8B030D-6E8A-4147-A177-3AD203B41FA5}">
                      <a16:colId xmlns:a16="http://schemas.microsoft.com/office/drawing/2014/main" val="2391291249"/>
                    </a:ext>
                  </a:extLst>
                </a:gridCol>
                <a:gridCol w="2415941">
                  <a:extLst>
                    <a:ext uri="{9D8B030D-6E8A-4147-A177-3AD203B41FA5}">
                      <a16:colId xmlns:a16="http://schemas.microsoft.com/office/drawing/2014/main" val="4218018759"/>
                    </a:ext>
                  </a:extLst>
                </a:gridCol>
                <a:gridCol w="3943349">
                  <a:extLst>
                    <a:ext uri="{9D8B030D-6E8A-4147-A177-3AD203B41FA5}">
                      <a16:colId xmlns:a16="http://schemas.microsoft.com/office/drawing/2014/main" val="3774818006"/>
                    </a:ext>
                  </a:extLst>
                </a:gridCol>
              </a:tblGrid>
              <a:tr h="469996">
                <a:tc>
                  <a:txBody>
                    <a:bodyPr/>
                    <a:lstStyle/>
                    <a:p>
                      <a:pPr marL="0" marR="0"/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/>
                      <a:r>
                        <a:rPr lang="en-US" sz="1400" b="1" kern="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Data source</a:t>
                      </a:r>
                      <a:endParaRPr lang="en-US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/>
                      <a:r>
                        <a:rPr lang="en-US" sz="1400" b="1" kern="0">
                          <a:effectLst/>
                        </a:rPr>
                        <a:t>Data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/>
                      <a:r>
                        <a:rPr lang="en-US" sz="1400" b="1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Methods</a:t>
                      </a: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541057"/>
                  </a:ext>
                </a:extLst>
              </a:tr>
              <a:tr h="995284">
                <a:tc>
                  <a:txBody>
                    <a:bodyPr/>
                    <a:lstStyle/>
                    <a:p>
                      <a:pPr marL="0" marR="0" algn="ctr"/>
                      <a:r>
                        <a:rPr lang="en-US" sz="1400" b="1" kern="0">
                          <a:effectLst/>
                        </a:rPr>
                        <a:t>Schools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/>
                      <a:r>
                        <a:rPr lang="en-US" sz="14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National Center for Education Statistics (NCES)</a:t>
                      </a: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/>
                      <a:r>
                        <a:rPr lang="en-US" sz="1400" kern="0">
                          <a:effectLst/>
                        </a:rPr>
                        <a:t>Student and staff counts for each grade level in public schools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Students assigned to closest school that offered required grade</a:t>
                      </a:r>
                    </a:p>
                    <a:p>
                      <a:pPr marL="285750" marR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Teachers assigned to school by selecting teachers from nearby CBGs</a:t>
                      </a: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7715874"/>
                  </a:ext>
                </a:extLst>
              </a:tr>
              <a:tr h="1117709">
                <a:tc>
                  <a:txBody>
                    <a:bodyPr/>
                    <a:lstStyle/>
                    <a:p>
                      <a:pPr marL="0" marR="0" algn="ctr"/>
                      <a:r>
                        <a:rPr lang="en-US" sz="1400" b="1" kern="0">
                          <a:effectLst/>
                        </a:rPr>
                        <a:t>Workplaces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/>
                      <a:r>
                        <a:rPr lang="en-US" sz="1400" kern="0" dirty="0">
                          <a:effectLst/>
                        </a:rPr>
                        <a:t>Longitudinal Employer-Household Dynamics (LEHD)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/>
                      <a:r>
                        <a:rPr lang="en-US" sz="1400" kern="0">
                          <a:effectLst/>
                        </a:rPr>
                        <a:t>Origin-destination and workplace characteristics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Iterative proportional fitting (IPF) to make origin-destination commute matrix</a:t>
                      </a:r>
                    </a:p>
                    <a:p>
                      <a:pPr marL="285750" marR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IPF to make industry by destination commute matrix for each origin CBG </a:t>
                      </a:r>
                    </a:p>
                    <a:p>
                      <a:pPr marL="285750" marR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Includes outside workers</a:t>
                      </a:r>
                    </a:p>
                  </a:txBody>
                  <a:tcPr marL="68580" marR="6858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957137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3F13D97-5455-32E9-F1EE-951ED7B35698}"/>
              </a:ext>
            </a:extLst>
          </p:cNvPr>
          <p:cNvSpPr txBox="1"/>
          <p:nvPr/>
        </p:nvSpPr>
        <p:spPr>
          <a:xfrm>
            <a:off x="445770" y="5761650"/>
            <a:ext cx="645205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74320" indent="-457200"/>
            <a:r>
              <a:rPr lang="en-US" sz="900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oppins-Regular"/>
              </a:rPr>
              <a:t>Alexander Y. Tulchinsky, Fardad Haghpanah, Alisa Hamilton, Nodar Kipshidze, and Eili Y. Klein. (2024). Generating geographically and economically realistic large-scale synthetic contact networks: A general method using publicly available data. https://</a:t>
            </a:r>
            <a:r>
              <a:rPr lang="en-US" sz="900" b="0" i="1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oppins-Regular"/>
              </a:rPr>
              <a:t>arxiv.org</a:t>
            </a:r>
            <a:r>
              <a:rPr lang="en-US" sz="900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oppins-Regular"/>
              </a:rPr>
              <a:t>/abs/2406.14698</a:t>
            </a:r>
            <a:endParaRPr lang="en-US" sz="9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0744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8E5C5-8188-BF79-79D4-43BCDF002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03BDD8-4C61-98A3-26EB-1FD70377989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D8AFF2-9042-B841-A3E7-F7EA0CBF7244}" type="datetime3">
              <a:rPr lang="en-US" smtClean="0"/>
              <a:pPr/>
              <a:t>28 October 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3910DB-84B2-4251-8242-99775937AE1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2C5D2D-F79F-0F96-CB9A-2A75CFED367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7</a:t>
            </a:fld>
            <a:endParaRPr lang="en-US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C4184994-3CA2-EBE7-2B9D-F6F62D1E02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3130644"/>
              </p:ext>
            </p:extLst>
          </p:nvPr>
        </p:nvGraphicFramePr>
        <p:xfrm>
          <a:off x="1898322" y="1957760"/>
          <a:ext cx="8395356" cy="3492049"/>
        </p:xfrm>
        <a:graphic>
          <a:graphicData uri="http://schemas.openxmlformats.org/drawingml/2006/table">
            <a:tbl>
              <a:tblPr firstRow="1" firstCol="1" bandRow="1">
                <a:tableStyleId>{9D7B26C5-4107-4FEC-AEDC-1716B250A1EF}</a:tableStyleId>
              </a:tblPr>
              <a:tblGrid>
                <a:gridCol w="1667631">
                  <a:extLst>
                    <a:ext uri="{9D8B030D-6E8A-4147-A177-3AD203B41FA5}">
                      <a16:colId xmlns:a16="http://schemas.microsoft.com/office/drawing/2014/main" val="3798875613"/>
                    </a:ext>
                  </a:extLst>
                </a:gridCol>
                <a:gridCol w="2775157">
                  <a:extLst>
                    <a:ext uri="{9D8B030D-6E8A-4147-A177-3AD203B41FA5}">
                      <a16:colId xmlns:a16="http://schemas.microsoft.com/office/drawing/2014/main" val="2391291249"/>
                    </a:ext>
                  </a:extLst>
                </a:gridCol>
                <a:gridCol w="3952568">
                  <a:extLst>
                    <a:ext uri="{9D8B030D-6E8A-4147-A177-3AD203B41FA5}">
                      <a16:colId xmlns:a16="http://schemas.microsoft.com/office/drawing/2014/main" val="4218018759"/>
                    </a:ext>
                  </a:extLst>
                </a:gridCol>
              </a:tblGrid>
              <a:tr h="444634">
                <a:tc>
                  <a:txBody>
                    <a:bodyPr/>
                    <a:lstStyle/>
                    <a:p>
                      <a:pPr marL="0" marR="0" algn="l"/>
                      <a:r>
                        <a:rPr lang="en-US" sz="1400" b="1" kern="0">
                          <a:effectLst/>
                        </a:rPr>
                        <a:t>Layer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/>
                      <a:r>
                        <a:rPr lang="en-US" sz="1400" b="1" kern="0">
                          <a:effectLst/>
                        </a:rPr>
                        <a:t>Algorithm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/>
                      <a:r>
                        <a:rPr lang="en-US" sz="1400" b="1" kern="0">
                          <a:effectLst/>
                        </a:rPr>
                        <a:t>Parameters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541057"/>
                  </a:ext>
                </a:extLst>
              </a:tr>
              <a:tr h="645175">
                <a:tc>
                  <a:txBody>
                    <a:bodyPr/>
                    <a:lstStyle/>
                    <a:p>
                      <a:pPr marL="0" marR="0" algn="l"/>
                      <a:r>
                        <a:rPr lang="en-US" sz="1400" b="1" kern="0">
                          <a:effectLst/>
                        </a:rPr>
                        <a:t>Household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/>
                      <a:r>
                        <a:rPr lang="en-US" sz="1400" kern="0">
                          <a:effectLst/>
                        </a:rPr>
                        <a:t>All agents within a household are fully connected 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kern="0">
                          <a:effectLst/>
                        </a:rPr>
                        <a:t>N/A         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7715874"/>
                  </a:ext>
                </a:extLst>
              </a:tr>
              <a:tr h="781342">
                <a:tc>
                  <a:txBody>
                    <a:bodyPr/>
                    <a:lstStyle/>
                    <a:p>
                      <a:pPr marL="0" marR="0" algn="l"/>
                      <a:r>
                        <a:rPr lang="en-US" sz="1400" b="1" kern="0">
                          <a:effectLst/>
                        </a:rPr>
                        <a:t>School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/>
                      <a:r>
                        <a:rPr lang="en-US" sz="1400" kern="0">
                          <a:effectLst/>
                        </a:rPr>
                        <a:t>Stochastic Block Model within each school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kern="0" dirty="0">
                          <a:effectLst/>
                        </a:rPr>
                        <a:t>Assortativity: ⍺=0.9</a:t>
                      </a:r>
                      <a:endParaRPr lang="en-US" sz="1400" kern="100" dirty="0">
                        <a:effectLst/>
                      </a:endParaRPr>
                    </a:p>
                    <a:p>
                      <a:pPr marL="285750" marR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kern="0" dirty="0">
                          <a:effectLst/>
                        </a:rPr>
                        <a:t>Mean degree: K=12</a:t>
                      </a:r>
                      <a:endParaRPr lang="en-US" sz="1400" kern="100" dirty="0">
                        <a:effectLst/>
                      </a:endParaRPr>
                    </a:p>
                    <a:p>
                      <a:pPr marL="285750" marR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kern="0" dirty="0">
                          <a:effectLst/>
                        </a:rPr>
                        <a:t>Blocks are grade levels (Pre-k – 12)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9571378"/>
                  </a:ext>
                </a:extLst>
              </a:tr>
              <a:tr h="827851">
                <a:tc>
                  <a:txBody>
                    <a:bodyPr/>
                    <a:lstStyle/>
                    <a:p>
                      <a:pPr marL="0" marR="0" algn="l"/>
                      <a:r>
                        <a:rPr lang="en-US" sz="1400" b="1" kern="0">
                          <a:effectLst/>
                        </a:rPr>
                        <a:t>Workplace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/>
                      <a:r>
                        <a:rPr lang="en-US" sz="1400" kern="0">
                          <a:effectLst/>
                        </a:rPr>
                        <a:t>Stochastic Block Model within each workplace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kern="0" dirty="0">
                          <a:effectLst/>
                        </a:rPr>
                        <a:t>Assortativity: ⍺=0.9</a:t>
                      </a:r>
                      <a:endParaRPr lang="en-US" sz="1400" kern="100" dirty="0">
                        <a:effectLst/>
                      </a:endParaRPr>
                    </a:p>
                    <a:p>
                      <a:pPr marL="285750" marR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kern="0" dirty="0">
                          <a:effectLst/>
                        </a:rPr>
                        <a:t>Mean degree: K=8</a:t>
                      </a:r>
                      <a:endParaRPr lang="en-US" sz="1400" kern="100" dirty="0">
                        <a:effectLst/>
                      </a:endParaRPr>
                    </a:p>
                    <a:p>
                      <a:pPr marL="285750" marR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kern="0" dirty="0">
                          <a:effectLst/>
                        </a:rPr>
                        <a:t>Blocks are income levels (&lt;40k or ≥ 40k)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8157227"/>
                  </a:ext>
                </a:extLst>
              </a:tr>
              <a:tr h="793047">
                <a:tc>
                  <a:txBody>
                    <a:bodyPr/>
                    <a:lstStyle/>
                    <a:p>
                      <a:pPr marL="0" marR="0" algn="l"/>
                      <a:r>
                        <a:rPr lang="en-US" sz="1400" b="1" kern="0">
                          <a:effectLst/>
                        </a:rPr>
                        <a:t>Group quarters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/>
                      <a:r>
                        <a:rPr lang="en-US" sz="1400" kern="0" dirty="0">
                          <a:effectLst/>
                        </a:rPr>
                        <a:t>Watts-</a:t>
                      </a:r>
                      <a:r>
                        <a:rPr lang="en-US" sz="1400" kern="0" dirty="0" err="1">
                          <a:effectLst/>
                        </a:rPr>
                        <a:t>Strogatz</a:t>
                      </a:r>
                      <a:r>
                        <a:rPr lang="en-US" sz="1400" kern="0" dirty="0">
                          <a:effectLst/>
                        </a:rPr>
                        <a:t> Model</a:t>
                      </a:r>
                    </a:p>
                    <a:p>
                      <a:pPr marL="0" marR="0"/>
                      <a:r>
                        <a:rPr lang="en-US" sz="1400" kern="0" dirty="0">
                          <a:effectLst/>
                        </a:rPr>
                        <a:t>within each GQ facility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kern="0" dirty="0">
                          <a:effectLst/>
                        </a:rPr>
                        <a:t>Mean degree: K=12</a:t>
                      </a:r>
                      <a:endParaRPr lang="en-US" sz="1400" kern="100" dirty="0">
                        <a:effectLst/>
                      </a:endParaRPr>
                    </a:p>
                    <a:p>
                      <a:pPr marL="285750" marR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kern="0" dirty="0">
                          <a:effectLst/>
                        </a:rPr>
                        <a:t>Rewiring probability: β=0.25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4466537"/>
                  </a:ext>
                </a:extLst>
              </a:tr>
            </a:tbl>
          </a:graphicData>
        </a:graphic>
      </p:graphicFrame>
      <p:sp>
        <p:nvSpPr>
          <p:cNvPr id="9" name="Title 5">
            <a:extLst>
              <a:ext uri="{FF2B5EF4-FFF2-40B4-BE49-F238E27FC236}">
                <a16:creationId xmlns:a16="http://schemas.microsoft.com/office/drawing/2014/main" id="{1C84C428-F031-75DB-0552-256FC8941B74}"/>
              </a:ext>
            </a:extLst>
          </p:cNvPr>
          <p:cNvSpPr txBox="1">
            <a:spLocks/>
          </p:cNvSpPr>
          <p:nvPr/>
        </p:nvSpPr>
        <p:spPr>
          <a:xfrm>
            <a:off x="838200" y="0"/>
            <a:ext cx="10515600" cy="16459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Methods: Generating Contacts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73DF5-1F4A-082E-0AF7-C5411E8D90AA}"/>
              </a:ext>
            </a:extLst>
          </p:cNvPr>
          <p:cNvSpPr txBox="1"/>
          <p:nvPr/>
        </p:nvSpPr>
        <p:spPr>
          <a:xfrm>
            <a:off x="445770" y="5761650"/>
            <a:ext cx="645205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74320" indent="-457200"/>
            <a:r>
              <a:rPr lang="en-US" sz="900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oppins-Regular"/>
              </a:rPr>
              <a:t>Alexander Y. Tulchinsky, Fardad Haghpanah, Alisa Hamilton, Nodar Kipshidze, and Eili Y. Klein. (2024). Generating geographically and economically realistic large-scale synthetic contact networks: A general method using publicly available data. https://</a:t>
            </a:r>
            <a:r>
              <a:rPr lang="en-US" sz="900" b="0" i="1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oppins-Regular"/>
              </a:rPr>
              <a:t>arxiv.org</a:t>
            </a:r>
            <a:r>
              <a:rPr lang="en-US" sz="900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oppins-Regular"/>
              </a:rPr>
              <a:t>/abs/2406.14698</a:t>
            </a:r>
            <a:endParaRPr lang="en-US" sz="9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0030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8C930E-78F7-57FB-E8BD-A961F806C10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D8AFF2-9042-B841-A3E7-F7EA0CBF7244}" type="datetime3">
              <a:rPr lang="en-US" smtClean="0"/>
              <a:pPr/>
              <a:t>28 October 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6AD075-6129-440B-3D26-0DAFAA59793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636DE3-745C-5C83-811B-DFE31AE8F4E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684A3F4-6A99-E8C4-275C-F3439ADF7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640806"/>
          </a:xfrm>
        </p:spPr>
        <p:txBody>
          <a:bodyPr>
            <a:normAutofit/>
          </a:bodyPr>
          <a:lstStyle/>
          <a:p>
            <a:r>
              <a:rPr lang="en-US" sz="3600" dirty="0"/>
              <a:t>Network visualizations for Howard County, MD</a:t>
            </a:r>
          </a:p>
        </p:txBody>
      </p:sp>
      <p:pic>
        <p:nvPicPr>
          <p:cNvPr id="9" name="Picture 8" descr="A clock with black lines&#10;&#10;Description automatically generated with medium confidence">
            <a:extLst>
              <a:ext uri="{FF2B5EF4-FFF2-40B4-BE49-F238E27FC236}">
                <a16:creationId xmlns:a16="http://schemas.microsoft.com/office/drawing/2014/main" id="{AF1DE48C-170E-8E8C-ED74-7D9430338A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902" y="2193238"/>
            <a:ext cx="2998328" cy="3023955"/>
          </a:xfrm>
          <a:prstGeom prst="rect">
            <a:avLst/>
          </a:prstGeom>
          <a:ln>
            <a:noFill/>
          </a:ln>
        </p:spPr>
      </p:pic>
      <p:pic>
        <p:nvPicPr>
          <p:cNvPr id="7" name="Picture 6" descr="A black specks in a circle&#10;&#10;Description automatically generated">
            <a:extLst>
              <a:ext uri="{FF2B5EF4-FFF2-40B4-BE49-F238E27FC236}">
                <a16:creationId xmlns:a16="http://schemas.microsoft.com/office/drawing/2014/main" id="{48F8FC01-3C20-F680-3BBD-F15A1A5094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7812" y="1970360"/>
            <a:ext cx="3234690" cy="3246833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D1395B0-8C30-4A10-76AF-31789462CCF8}"/>
              </a:ext>
            </a:extLst>
          </p:cNvPr>
          <p:cNvSpPr txBox="1"/>
          <p:nvPr/>
        </p:nvSpPr>
        <p:spPr>
          <a:xfrm>
            <a:off x="3084036" y="5446014"/>
            <a:ext cx="18346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/>
              <a:t>School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48D590-9C14-243E-84A1-520392D2CEEA}"/>
              </a:ext>
            </a:extLst>
          </p:cNvPr>
          <p:cNvSpPr txBox="1"/>
          <p:nvPr/>
        </p:nvSpPr>
        <p:spPr>
          <a:xfrm>
            <a:off x="7336542" y="5446014"/>
            <a:ext cx="296014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 dirty="0"/>
              <a:t>Group Quarters</a:t>
            </a:r>
          </a:p>
        </p:txBody>
      </p:sp>
      <p:pic>
        <p:nvPicPr>
          <p:cNvPr id="8" name="Picture 7" descr="A group of black dots&#10;&#10;Description automatically generated">
            <a:extLst>
              <a:ext uri="{FF2B5EF4-FFF2-40B4-BE49-F238E27FC236}">
                <a16:creationId xmlns:a16="http://schemas.microsoft.com/office/drawing/2014/main" id="{DAA06387-1332-E681-2B13-0A9A6F96B8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737" y="3639747"/>
            <a:ext cx="1834674" cy="1497436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222078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827D61F-870B-ECD8-75C9-91D41B55EB49}"/>
              </a:ext>
            </a:extLst>
          </p:cNvPr>
          <p:cNvSpPr/>
          <p:nvPr/>
        </p:nvSpPr>
        <p:spPr>
          <a:xfrm>
            <a:off x="2849880" y="1967293"/>
            <a:ext cx="6740653" cy="4283523"/>
          </a:xfrm>
          <a:prstGeom prst="roundRect">
            <a:avLst/>
          </a:prstGeom>
          <a:solidFill>
            <a:schemeClr val="bg2"/>
          </a:solidFill>
          <a:ln w="635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b="1" dirty="0">
              <a:solidFill>
                <a:schemeClr val="tx1"/>
              </a:solidFill>
            </a:endParaRPr>
          </a:p>
          <a:p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8C930E-78F7-57FB-E8BD-A961F806C10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D8AFF2-9042-B841-A3E7-F7EA0CBF7244}" type="datetime3">
              <a:rPr lang="en-US" smtClean="0"/>
              <a:pPr/>
              <a:t>28 October 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6AD075-6129-440B-3D26-0DAFAA59793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636DE3-745C-5C83-811B-DFE31AE8F4E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684A3F4-6A99-E8C4-275C-F3439ADF7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617919"/>
          </a:xfrm>
        </p:spPr>
        <p:txBody>
          <a:bodyPr>
            <a:normAutofit/>
          </a:bodyPr>
          <a:lstStyle/>
          <a:p>
            <a:r>
              <a:rPr lang="en-US" sz="3600" dirty="0"/>
              <a:t>GeoPops with Starsim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F8E3AE1A-416A-4016-B1A5-00BF28E26B2E}"/>
              </a:ext>
            </a:extLst>
          </p:cNvPr>
          <p:cNvSpPr/>
          <p:nvPr/>
        </p:nvSpPr>
        <p:spPr>
          <a:xfrm>
            <a:off x="5945125" y="2336039"/>
            <a:ext cx="3075432" cy="1214881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635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SIR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Respiratory disease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Infection duration ~7 days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Transmission coefficient ~0.1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50-day simulation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EB85167-36C9-128B-1947-7A8AD2E64DAD}"/>
              </a:ext>
            </a:extLst>
          </p:cNvPr>
          <p:cNvSpPr/>
          <p:nvPr/>
        </p:nvSpPr>
        <p:spPr>
          <a:xfrm>
            <a:off x="5945126" y="3757749"/>
            <a:ext cx="3075431" cy="899522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635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Feedback module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Removes edges of school network when prevalence &gt; 0.1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23E3503-73AE-ACE0-5E1C-DBE5A18CBF6B}"/>
              </a:ext>
            </a:extLst>
          </p:cNvPr>
          <p:cNvSpPr/>
          <p:nvPr/>
        </p:nvSpPr>
        <p:spPr>
          <a:xfrm>
            <a:off x="5945125" y="4872938"/>
            <a:ext cx="3075431" cy="901857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635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Subgroup Tracking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Infections by age and CBG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6EB8DCC-1409-8128-5AEC-F2A4AF79D1C8}"/>
              </a:ext>
            </a:extLst>
          </p:cNvPr>
          <p:cNvSpPr/>
          <p:nvPr/>
        </p:nvSpPr>
        <p:spPr>
          <a:xfrm>
            <a:off x="3581401" y="3755414"/>
            <a:ext cx="1906524" cy="901857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635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GeoPops agents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FC301E9-8EEC-8861-5161-D86CC7CBCE0B}"/>
              </a:ext>
            </a:extLst>
          </p:cNvPr>
          <p:cNvSpPr/>
          <p:nvPr/>
        </p:nvSpPr>
        <p:spPr>
          <a:xfrm>
            <a:off x="3581400" y="4872938"/>
            <a:ext cx="1906524" cy="901857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635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GeoPops networks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927399-FB76-C730-CDC3-1EBF6D43CB9B}"/>
              </a:ext>
            </a:extLst>
          </p:cNvPr>
          <p:cNvSpPr txBox="1"/>
          <p:nvPr/>
        </p:nvSpPr>
        <p:spPr>
          <a:xfrm>
            <a:off x="3821430" y="2633062"/>
            <a:ext cx="14264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Starsim</a:t>
            </a:r>
          </a:p>
          <a:p>
            <a:r>
              <a:rPr lang="en-US" b="1" dirty="0"/>
              <a:t>Simulation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01832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167303-43EE-C2CD-D3F9-FFB8FE88A99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sz="2400"/>
          </a:p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8C930E-78F7-57FB-E8BD-A961F806C10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D8AFF2-9042-B841-A3E7-F7EA0CBF7244}" type="datetime3">
              <a:rPr lang="en-US" smtClean="0"/>
              <a:pPr/>
              <a:t>28 October 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6AD075-6129-440B-3D26-0DAFAA59793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636DE3-745C-5C83-811B-DFE31AE8F4E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684A3F4-6A99-E8C4-275C-F3439ADF7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645919"/>
          </a:xfrm>
        </p:spPr>
        <p:txBody>
          <a:bodyPr>
            <a:normAutofit/>
          </a:bodyPr>
          <a:lstStyle/>
          <a:p>
            <a:r>
              <a:rPr lang="en-US" sz="3200" dirty="0"/>
              <a:t>Feedback vs No Feedback</a:t>
            </a:r>
          </a:p>
        </p:txBody>
      </p:sp>
      <p:pic>
        <p:nvPicPr>
          <p:cNvPr id="8" name="Picture 7" descr="A graph of static and dynamic school network&#10;&#10;AI-generated content may be incorrect.">
            <a:extLst>
              <a:ext uri="{FF2B5EF4-FFF2-40B4-BE49-F238E27FC236}">
                <a16:creationId xmlns:a16="http://schemas.microsoft.com/office/drawing/2014/main" id="{E06FCEC2-D39F-B721-D6E4-0E7A825B0C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342" y="1805025"/>
            <a:ext cx="6973316" cy="4411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8836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07F8-D22A-E2DC-42FA-68B590321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133E81-BBC3-62F1-A979-176C82E3A8F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D8AFF2-9042-B841-A3E7-F7EA0CBF7244}" type="datetime3">
              <a:rPr lang="en-US" smtClean="0"/>
              <a:pPr/>
              <a:t>28 October 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E3F68A-2455-E568-8387-E40BBBF0B4C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5A8B19-EEB3-0DD8-C332-0FB7E78988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61F6E71-B71C-B112-7023-E88A5EE1C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690687"/>
          </a:xfrm>
        </p:spPr>
        <p:txBody>
          <a:bodyPr>
            <a:normAutofit/>
          </a:bodyPr>
          <a:lstStyle/>
          <a:p>
            <a:r>
              <a:rPr lang="en-US" sz="3200" dirty="0"/>
              <a:t>Outcome tracking by demographic subgroup</a:t>
            </a:r>
          </a:p>
        </p:txBody>
      </p:sp>
      <p:pic>
        <p:nvPicPr>
          <p:cNvPr id="11" name="Picture 10" descr="A graph of infection by age group&#10;&#10;AI-generated content may be incorrect.">
            <a:extLst>
              <a:ext uri="{FF2B5EF4-FFF2-40B4-BE49-F238E27FC236}">
                <a16:creationId xmlns:a16="http://schemas.microsoft.com/office/drawing/2014/main" id="{B6F65DEA-11D1-9513-CFAE-BB7E6BA46C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4772" y="1848358"/>
            <a:ext cx="7602455" cy="4406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0711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532B2-7DA3-35FC-386B-B120B205A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C15DC3-15A3-E54B-BF95-D7F73D2B058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sz="2400"/>
          </a:p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F0EB0E-1724-4BC9-598C-6BB4C38C234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D8AFF2-9042-B841-A3E7-F7EA0CBF7244}" type="datetime3">
              <a:rPr lang="en-US" smtClean="0"/>
              <a:pPr/>
              <a:t>28 October 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0EE44-957A-DC10-FEE9-CD75A848FCD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91DCB0-280A-04E3-6A19-531C121FFC6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5225E75-B0DB-A962-100C-034BE1C6F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737999"/>
          </a:xfrm>
        </p:spPr>
        <p:txBody>
          <a:bodyPr>
            <a:normAutofit/>
          </a:bodyPr>
          <a:lstStyle/>
          <a:p>
            <a:r>
              <a:rPr lang="en-US" sz="3200" dirty="0"/>
              <a:t>Outcome tracking by geographic subgroup</a:t>
            </a:r>
          </a:p>
        </p:txBody>
      </p:sp>
      <p:pic>
        <p:nvPicPr>
          <p:cNvPr id="9" name="Picture 8" descr="A map of a country with red and orange areas&#10;&#10;AI-generated content may be incorrect.">
            <a:extLst>
              <a:ext uri="{FF2B5EF4-FFF2-40B4-BE49-F238E27FC236}">
                <a16:creationId xmlns:a16="http://schemas.microsoft.com/office/drawing/2014/main" id="{7BFFC8C8-E8F6-DE62-1AC1-DCB83BB984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7421" y="1805025"/>
            <a:ext cx="7217157" cy="448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52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96D76-A75D-F927-6DEE-7CA6D4568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84E95B-CEB6-4F12-4E72-258D0340824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sz="2400"/>
          </a:p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F82C53-4B90-B34D-F65F-9174AD85DC0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D8AFF2-9042-B841-A3E7-F7EA0CBF7244}" type="datetime3">
              <a:rPr lang="en-US" smtClean="0"/>
              <a:pPr/>
              <a:t>28 October 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E60202-D861-4A55-1B6E-B192B488368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0CC850-16A3-2A12-1115-F1C2362B77C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2D3678-0C6B-0B61-28A0-3DE62FA89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738000"/>
          </a:xfrm>
        </p:spPr>
        <p:txBody>
          <a:bodyPr>
            <a:normAutofit/>
          </a:bodyPr>
          <a:lstStyle/>
          <a:p>
            <a:r>
              <a:rPr lang="en-US" sz="3200" dirty="0"/>
              <a:t>Why is this cool?!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2AF412-6E17-9B0C-A918-2DD35143F66A}"/>
              </a:ext>
            </a:extLst>
          </p:cNvPr>
          <p:cNvSpPr txBox="1"/>
          <p:nvPr/>
        </p:nvSpPr>
        <p:spPr>
          <a:xfrm>
            <a:off x="950976" y="2527339"/>
            <a:ext cx="10046208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Reasonably realistic geographic and demographic granularity for night and day-time activities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Don't have to build a model from scratch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Can be used by state and county health departments for context-specific scenario modeling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Seed infections to a specific geography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Target interventions to specific demographic or geographic groups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There are several research groups already using Starsim to model respiratory diseases that can now use GeoPops as well</a:t>
            </a:r>
          </a:p>
        </p:txBody>
      </p:sp>
    </p:spTree>
    <p:extLst>
      <p:ext uri="{BB962C8B-B14F-4D97-AF65-F5344CB8AC3E}">
        <p14:creationId xmlns:p14="http://schemas.microsoft.com/office/powerpoint/2010/main" val="15101554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FE5FF-8F22-DDEE-AA6B-99664EF41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C0F4A8-2A0D-3CB8-4362-AC29D697612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sz="2400"/>
          </a:p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0FB09E-A136-C24E-E8C4-37F2ACB4C4F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D8AFF2-9042-B841-A3E7-F7EA0CBF7244}" type="datetime3">
              <a:rPr lang="en-US" smtClean="0"/>
              <a:pPr/>
              <a:t>28 October 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FE7638-0A8D-C550-4573-326287CFD4A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AA2A18-4B00-457E-B1F3-65087357D28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27A2091-6AEA-0F12-1E62-B2A2E6510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738000"/>
          </a:xfrm>
        </p:spPr>
        <p:txBody>
          <a:bodyPr>
            <a:normAutofit/>
          </a:bodyPr>
          <a:lstStyle/>
          <a:p>
            <a:r>
              <a:rPr lang="en-US" sz="3200" dirty="0"/>
              <a:t>Conferences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AD1F57C-D2DB-B1CB-2A2B-190FC30DB1FA}"/>
              </a:ext>
            </a:extLst>
          </p:cNvPr>
          <p:cNvSpPr/>
          <p:nvPr/>
        </p:nvSpPr>
        <p:spPr>
          <a:xfrm>
            <a:off x="838200" y="1976784"/>
            <a:ext cx="4935393" cy="4379566"/>
          </a:xfrm>
          <a:prstGeom prst="roundRect">
            <a:avLst/>
          </a:prstGeom>
          <a:solidFill>
            <a:schemeClr val="tx2">
              <a:lumMod val="25000"/>
              <a:lumOff val="75000"/>
              <a:alpha val="36687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Winter Simulation Conference 2025</a:t>
            </a:r>
          </a:p>
          <a:p>
            <a:pPr algn="ctr"/>
            <a:endParaRPr lang="en-US" sz="1400" b="1" dirty="0">
              <a:solidFill>
                <a:schemeClr val="tx1"/>
              </a:solidFill>
            </a:endParaRPr>
          </a:p>
          <a:p>
            <a:pPr algn="ctr"/>
            <a:r>
              <a:rPr lang="en-US" sz="1400" b="1" dirty="0">
                <a:solidFill>
                  <a:schemeClr val="tx1"/>
                </a:solidFill>
              </a:rPr>
              <a:t>GeoPops: An open-source package for generating geographically realistic synthetic populations</a:t>
            </a:r>
          </a:p>
          <a:p>
            <a:pPr lvl="1"/>
            <a:endParaRPr lang="en-US" sz="14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More detailed methodology and usage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Compare GeoPops to two other open-source synthetic population generators (UrbanPop and Geo-Synthetic-Pop)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Make three MD pops (one with each generator)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Compare individuals and homes to real Census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Compare network stats of each home, school, and workplace network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Run Starsim COVID-19 model on each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Compare simulation results to each other and observed data for first wave of pandemic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Discuss usability of each generator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575B447-33F7-AA2A-7737-DE6A73F39A99}"/>
              </a:ext>
            </a:extLst>
          </p:cNvPr>
          <p:cNvSpPr/>
          <p:nvPr/>
        </p:nvSpPr>
        <p:spPr>
          <a:xfrm>
            <a:off x="6632431" y="1976783"/>
            <a:ext cx="4739733" cy="4379566"/>
          </a:xfrm>
          <a:prstGeom prst="roundRect">
            <a:avLst/>
          </a:prstGeom>
          <a:solidFill>
            <a:schemeClr val="tx2">
              <a:lumMod val="25000"/>
              <a:lumOff val="75000"/>
              <a:alpha val="36687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Epidemics 2025</a:t>
            </a:r>
          </a:p>
          <a:p>
            <a:pPr algn="ctr"/>
            <a:endParaRPr lang="en-US" sz="1400" b="1" dirty="0">
              <a:solidFill>
                <a:schemeClr val="tx1"/>
              </a:solidFill>
            </a:endParaRPr>
          </a:p>
          <a:p>
            <a:pPr algn="ctr"/>
            <a:r>
              <a:rPr lang="en-US" sz="1400" b="1" dirty="0">
                <a:solidFill>
                  <a:schemeClr val="tx1"/>
                </a:solidFill>
              </a:rPr>
              <a:t>Modeling the impact of dynamic decision making on infectious disease outcomes by demographic and geographic subgroups: An open-source agent-based modeling framework</a:t>
            </a:r>
          </a:p>
          <a:p>
            <a:endParaRPr lang="en-US" sz="14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Run Starsim COVID-19 model with utility framework on GeoPops population of MD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Individuals weigh health-wealth trade-offs of staying home from work as a function of their income and 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Test different policy scenarios (e.g., paid sick leave, cash transfer) and compare to observed data from first wave of pandemic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Demographic and geographic subgroup outcome tracking </a:t>
            </a:r>
          </a:p>
          <a:p>
            <a:endParaRPr lang="en-US" sz="1400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DE3F59-56F2-68AE-8E62-D8818630E738}"/>
              </a:ext>
            </a:extLst>
          </p:cNvPr>
          <p:cNvSpPr txBox="1"/>
          <p:nvPr/>
        </p:nvSpPr>
        <p:spPr>
          <a:xfrm>
            <a:off x="9201899" y="242454"/>
            <a:ext cx="27996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Alisa Hamilton, PhD(c)</a:t>
            </a:r>
          </a:p>
          <a:p>
            <a:r>
              <a:rPr lang="en-US" dirty="0">
                <a:solidFill>
                  <a:schemeClr val="bg1"/>
                </a:solidFill>
              </a:rPr>
              <a:t>Systems Engineering</a:t>
            </a:r>
          </a:p>
          <a:p>
            <a:r>
              <a:rPr lang="en-US" dirty="0">
                <a:solidFill>
                  <a:schemeClr val="bg1"/>
                </a:solidFill>
              </a:rPr>
              <a:t>Johns Hopkins University</a:t>
            </a:r>
          </a:p>
          <a:p>
            <a:r>
              <a:rPr lang="en-US" dirty="0">
                <a:solidFill>
                  <a:schemeClr val="bg1"/>
                </a:solidFill>
              </a:rPr>
              <a:t>ahamil33@jh.edu</a:t>
            </a:r>
          </a:p>
        </p:txBody>
      </p:sp>
    </p:spTree>
    <p:extLst>
      <p:ext uri="{BB962C8B-B14F-4D97-AF65-F5344CB8AC3E}">
        <p14:creationId xmlns:p14="http://schemas.microsoft.com/office/powerpoint/2010/main" val="3345116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F81CE-6707-5FBE-E894-2D7FDA5ED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C0D509-52E7-E60D-91D5-9357A6F61C2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968417-2BEE-A7FE-89D3-DE430D5473A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D8AFF2-9042-B841-A3E7-F7EA0CBF7244}" type="datetime3">
              <a:rPr lang="en-US" smtClean="0"/>
              <a:pPr/>
              <a:t>28 October 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6EFAB-52D7-E02B-5075-31C7C363104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MIDAS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E0745D-A4A0-2F51-DAA0-2DB23BD487F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876332E-97D2-CC49-9E46-E6E0DDE407EB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A143A6E-DCED-7163-A877-AEDDF18C9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738000"/>
          </a:xfrm>
        </p:spPr>
        <p:txBody>
          <a:bodyPr>
            <a:normAutofit/>
          </a:bodyPr>
          <a:lstStyle/>
          <a:p>
            <a:r>
              <a:rPr lang="en-US" sz="3200" dirty="0"/>
              <a:t>Questions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FC1D79-0C0F-A352-4088-8173F12A831B}"/>
              </a:ext>
            </a:extLst>
          </p:cNvPr>
          <p:cNvSpPr txBox="1"/>
          <p:nvPr/>
        </p:nvSpPr>
        <p:spPr>
          <a:xfrm>
            <a:off x="1808706" y="2492344"/>
            <a:ext cx="8120063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Find me at the poster session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Pip install geopops and try going through the tutorial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/>
              <a:t>Log issues! Please be patient </a:t>
            </a:r>
            <a:r>
              <a:rPr lang="en-US" dirty="0">
                <a:sym typeface="Wingdings" pitchFamily="2" charset="2"/>
              </a:rPr>
              <a:t>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78E9E5E-2766-F407-8D07-2FC25B0D4ABB}"/>
              </a:ext>
            </a:extLst>
          </p:cNvPr>
          <p:cNvSpPr/>
          <p:nvPr/>
        </p:nvSpPr>
        <p:spPr>
          <a:xfrm>
            <a:off x="1808706" y="4413017"/>
            <a:ext cx="5750426" cy="82860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635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github.com/ACCIDDA/GeoPops/tutorials/MIDAS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A72C75-4590-7144-DBBB-5565ACCAD18C}"/>
              </a:ext>
            </a:extLst>
          </p:cNvPr>
          <p:cNvSpPr txBox="1"/>
          <p:nvPr/>
        </p:nvSpPr>
        <p:spPr>
          <a:xfrm>
            <a:off x="9063037" y="4365656"/>
            <a:ext cx="31289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Slides</a:t>
            </a:r>
          </a:p>
          <a:p>
            <a:r>
              <a:rPr lang="en-US" dirty="0"/>
              <a:t>Poster</a:t>
            </a:r>
          </a:p>
          <a:p>
            <a:r>
              <a:rPr lang="en-US" dirty="0"/>
              <a:t>Tutorial</a:t>
            </a:r>
          </a:p>
        </p:txBody>
      </p:sp>
      <p:sp>
        <p:nvSpPr>
          <p:cNvPr id="14" name="Left Arrow 13">
            <a:extLst>
              <a:ext uri="{FF2B5EF4-FFF2-40B4-BE49-F238E27FC236}">
                <a16:creationId xmlns:a16="http://schemas.microsoft.com/office/drawing/2014/main" id="{269F2384-6481-BA87-721F-9957ED834855}"/>
              </a:ext>
            </a:extLst>
          </p:cNvPr>
          <p:cNvSpPr/>
          <p:nvPr/>
        </p:nvSpPr>
        <p:spPr>
          <a:xfrm>
            <a:off x="7817644" y="4611382"/>
            <a:ext cx="981075" cy="442913"/>
          </a:xfrm>
          <a:prstGeom prst="leftArrow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3D0412-6AFC-C0EE-2992-9797D5DD2C02}"/>
              </a:ext>
            </a:extLst>
          </p:cNvPr>
          <p:cNvSpPr txBox="1"/>
          <p:nvPr/>
        </p:nvSpPr>
        <p:spPr>
          <a:xfrm>
            <a:off x="9201899" y="242454"/>
            <a:ext cx="27996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Alisa Hamilton, PhD(c)</a:t>
            </a:r>
          </a:p>
          <a:p>
            <a:r>
              <a:rPr lang="en-US" dirty="0">
                <a:solidFill>
                  <a:schemeClr val="bg1"/>
                </a:solidFill>
              </a:rPr>
              <a:t>Systems Engineering</a:t>
            </a:r>
          </a:p>
          <a:p>
            <a:r>
              <a:rPr lang="en-US" dirty="0">
                <a:solidFill>
                  <a:schemeClr val="bg1"/>
                </a:solidFill>
              </a:rPr>
              <a:t>Johns Hopkins University</a:t>
            </a:r>
          </a:p>
          <a:p>
            <a:r>
              <a:rPr lang="en-US" dirty="0">
                <a:solidFill>
                  <a:schemeClr val="bg1"/>
                </a:solidFill>
              </a:rPr>
              <a:t>ahamil33@jh.edu</a:t>
            </a:r>
          </a:p>
        </p:txBody>
      </p:sp>
    </p:spTree>
    <p:extLst>
      <p:ext uri="{BB962C8B-B14F-4D97-AF65-F5344CB8AC3E}">
        <p14:creationId xmlns:p14="http://schemas.microsoft.com/office/powerpoint/2010/main" val="13716691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90899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5909</TotalTime>
  <Words>1136</Words>
  <Application>Microsoft Macintosh PowerPoint</Application>
  <PresentationFormat>Widescreen</PresentationFormat>
  <Paragraphs>221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Courier New</vt:lpstr>
      <vt:lpstr>Poppins-Regular</vt:lpstr>
      <vt:lpstr>System Font Regular</vt:lpstr>
      <vt:lpstr>Tahoma</vt:lpstr>
      <vt:lpstr>Wingdings</vt:lpstr>
      <vt:lpstr>Office Theme</vt:lpstr>
      <vt:lpstr>GeoPops demonstration:  An open-source, adaptable framework for agent-based modeling on synthetic populations</vt:lpstr>
      <vt:lpstr>GeoPops</vt:lpstr>
      <vt:lpstr>MIDAS Notebook Tutorial </vt:lpstr>
      <vt:lpstr>Output: Agents and networks</vt:lpstr>
      <vt:lpstr>Methods: Generating agents and households</vt:lpstr>
      <vt:lpstr>Methods: Assigning agents to schools and workplaces</vt:lpstr>
      <vt:lpstr>PowerPoint Presentation</vt:lpstr>
      <vt:lpstr>Network visualizations for Howard County, MD</vt:lpstr>
      <vt:lpstr>GeoPops with Starsim</vt:lpstr>
      <vt:lpstr>Feedback vs No Feedback</vt:lpstr>
      <vt:lpstr>Outcome tracking by demographic subgroup</vt:lpstr>
      <vt:lpstr>Outcome tracking by geographic subgroup</vt:lpstr>
      <vt:lpstr>Why is this cool?!</vt:lpstr>
      <vt:lpstr>Conferences</vt:lpstr>
      <vt:lpstr>Questions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Hamilton, Alisa</cp:lastModifiedBy>
  <cp:revision>6</cp:revision>
  <dcterms:created xsi:type="dcterms:W3CDTF">2024-10-15T20:38:39Z</dcterms:created>
  <dcterms:modified xsi:type="dcterms:W3CDTF">2025-10-28T19:30:26Z</dcterms:modified>
</cp:coreProperties>
</file>