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8"/>
  </p:notesMasterIdLst>
  <p:sldIdLst>
    <p:sldId id="257" r:id="rId2"/>
    <p:sldId id="754" r:id="rId3"/>
    <p:sldId id="799" r:id="rId4"/>
    <p:sldId id="781" r:id="rId5"/>
    <p:sldId id="755" r:id="rId6"/>
    <p:sldId id="780" r:id="rId7"/>
    <p:sldId id="779" r:id="rId8"/>
    <p:sldId id="756" r:id="rId9"/>
    <p:sldId id="767" r:id="rId10"/>
    <p:sldId id="768" r:id="rId11"/>
    <p:sldId id="792" r:id="rId12"/>
    <p:sldId id="790" r:id="rId13"/>
    <p:sldId id="800" r:id="rId14"/>
    <p:sldId id="802" r:id="rId15"/>
    <p:sldId id="80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95EC08-8DB9-FEFA-569C-667833E559DF}" name="Emi Siler" initials="ES" userId="S::esiler2@jh.edu::e48d811e-394a-45ee-8f51-4ebb5c64ec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97132"/>
    <a:srgbClr val="000000"/>
    <a:srgbClr val="EDF5EC"/>
    <a:srgbClr val="6AA0D2"/>
    <a:srgbClr val="43803D"/>
    <a:srgbClr val="72C472"/>
    <a:srgbClr val="00BD10"/>
    <a:srgbClr val="435A45"/>
    <a:srgbClr val="3D6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6D5BD-16DF-5748-92E5-BCFA48BD30A9}" v="82" dt="2025-10-28T18:24:52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0"/>
    <p:restoredTop sz="80560"/>
  </p:normalViewPr>
  <p:slideViewPr>
    <p:cSldViewPr snapToGrid="0">
      <p:cViewPr>
        <p:scale>
          <a:sx n="90" d="100"/>
          <a:sy n="90" d="100"/>
        </p:scale>
        <p:origin x="121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D3D7-8444-4105-8ECC-C6DA00795A2A}" type="datetimeFigureOut"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9DED9-3E66-456D-B62A-AD19FD879A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0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ED0D2-16ED-5547-8DC8-59573C5E7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3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26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AEE6-34A2-628B-2508-21CB0944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1F597-5A7F-B41E-9E77-3333F467F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58733-51DB-80DA-60F3-560E41057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751FA-5BB8-01F7-21B2-CB1802D22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89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6C6EE-920C-E41E-0DDE-A4729390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AC738-A71E-96D1-FE25-DC4D2FC76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6D5DE-F2CD-6EA3-521C-2A5014C0B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1C864-2A73-F6EB-DA5D-80EFA1739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29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7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8712E-FB4C-DE91-5DA3-AB40CCC3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D11AB-38BE-7987-7229-BA9A8521F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49978-31EF-EBAC-CE98-02C57FEC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AF23A-3993-0D19-3D6D-DC294AA54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76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BFBB-BC46-8F9C-9AC9-5E988336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299A7-1FDC-D192-7F7F-9B5E47BA2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E3CE2-7E15-21D5-D2D6-EBC1745AF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001F2-D822-9161-39DF-C0FC63117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10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71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1293-623E-6AB0-8006-8F64BC581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80E0F-CDA7-EB0D-842C-0DFA0CC6F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5D8DF-DFF0-D92B-BB37-D1F64D46D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710D-A387-D8D1-0E6E-5014A6BEE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63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81C4-E76B-EC6E-4514-FE564123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51B4-A7BC-B2C2-1E50-31F90F9E6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4BC9-C469-84FC-7E98-E66770D2E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F7A50-C18D-D585-4A8F-80B305FCF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02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CFEE-7963-7037-AA0D-47E7D2374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167D8-3CC1-5EC6-7E6A-A77FA5000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9261D-2F82-A163-C62B-1E4B550A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F031D-AA0C-7731-A80A-BE25EBFE2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71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E4925-C35D-576E-B59C-C256DFBC0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F4F83-EB13-51AD-96F1-C7987279C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32745-548A-5479-9ADE-667DCA828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FFA12-DAF2-641C-CE8E-0A46F6DCE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25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9742-7F67-403B-43C0-2B430186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41540-FEB9-C7FC-2866-5EDBE6EBA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D454A-7E9F-311D-C139-E2C2FE034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347BA-7CBF-226A-A2A1-090193808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DED9-3E66-456D-B62A-AD19FD879A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8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6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8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7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5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5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4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0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4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84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4A0AA2-B636-401F-B58B-6DF5349EB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893" y="142826"/>
            <a:ext cx="10780553" cy="1143389"/>
          </a:xfrm>
          <a:prstGeom prst="rect">
            <a:avLst/>
          </a:prstGeom>
        </p:spPr>
        <p:txBody>
          <a:bodyPr anchor="b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14BC9-864B-4D63-BFF5-8A26BC6E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" y="1287499"/>
            <a:ext cx="1037573" cy="137787"/>
          </a:xfrm>
          <a:prstGeom prst="rect">
            <a:avLst/>
          </a:prstGeom>
          <a:solidFill>
            <a:srgbClr val="69ACE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489A78E5-4DD4-4398-92E6-73293FB04D0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11893" y="1854201"/>
            <a:ext cx="10780553" cy="4103431"/>
          </a:xfrm>
          <a:prstGeom prst="rect">
            <a:avLst/>
          </a:prstGeom>
        </p:spPr>
        <p:txBody>
          <a:bodyPr>
            <a:noAutofit/>
          </a:bodyPr>
          <a:lstStyle>
            <a:lvl1pPr marL="306910" indent="-306910">
              <a:spcBef>
                <a:spcPts val="1000"/>
              </a:spcBef>
              <a:buClr>
                <a:srgbClr val="092C74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61981" indent="-304792">
              <a:buClr>
                <a:srgbClr val="092C74"/>
              </a:buClr>
              <a:buFont typeface="Courier New" panose="02070309020205020404" pitchFamily="49" charset="0"/>
              <a:buChar char="o"/>
              <a:defRPr sz="2133"/>
            </a:lvl2pPr>
            <a:lvl3pPr marL="1219170" indent="-304792">
              <a:buClr>
                <a:srgbClr val="092C74"/>
              </a:buClr>
              <a:defRPr sz="2133"/>
            </a:lvl3pPr>
          </a:lstStyle>
          <a:p>
            <a:pPr lvl="0"/>
            <a:r>
              <a:rPr lang="en-US" noProof="0"/>
              <a:t>Click to add bullets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8" name="WSE logo">
            <a:extLst>
              <a:ext uri="{FF2B5EF4-FFF2-40B4-BE49-F238E27FC236}">
                <a16:creationId xmlns:a16="http://schemas.microsoft.com/office/drawing/2014/main" id="{5F712F24-2ADD-4B4F-B20F-5AF8A064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2" t="27464" r="12906" b="27019"/>
          <a:stretch/>
        </p:blipFill>
        <p:spPr>
          <a:xfrm>
            <a:off x="696950" y="6407120"/>
            <a:ext cx="1377375" cy="381160"/>
          </a:xfrm>
          <a:prstGeom prst="rect">
            <a:avLst/>
          </a:prstGeom>
        </p:spPr>
      </p:pic>
      <p:sp>
        <p:nvSpPr>
          <p:cNvPr id="7" name="Page Number">
            <a:extLst>
              <a:ext uri="{FF2B5EF4-FFF2-40B4-BE49-F238E27FC236}">
                <a16:creationId xmlns:a16="http://schemas.microsoft.com/office/drawing/2014/main" id="{A10FF969-5C1A-4F23-A07F-2B9FBF69C84B}"/>
              </a:ext>
            </a:extLst>
          </p:cNvPr>
          <p:cNvSpPr txBox="1"/>
          <p:nvPr userDrawn="1"/>
        </p:nvSpPr>
        <p:spPr>
          <a:xfrm>
            <a:off x="10521949" y="6480226"/>
            <a:ext cx="1060451" cy="234951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14354">
              <a:defRPr/>
            </a:pPr>
            <a:r>
              <a:rPr lang="en-US" sz="1333" b="1" baseline="0">
                <a:solidFill>
                  <a:schemeClr val="tx1"/>
                </a:solidFill>
                <a:latin typeface="+mj-lt"/>
              </a:rPr>
              <a:t>                </a:t>
            </a:r>
            <a:fld id="{F2C1E792-EDA4-4DC5-8412-A2C2E5D30ADF}" type="slidenum">
              <a:rPr lang="en-US" sz="1333" b="1" baseline="0">
                <a:solidFill>
                  <a:schemeClr val="tx1"/>
                </a:solidFill>
                <a:latin typeface="+mj-lt"/>
              </a:rPr>
              <a:pPr algn="r" defTabSz="914354">
                <a:defRPr/>
              </a:pPr>
              <a:t>‹#›</a:t>
            </a:fld>
            <a:endParaRPr lang="en-US" sz="1333" b="1" baseline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1508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1522A75-C6E1-4A35-AEF4-3058F787B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721" y="-1251492"/>
            <a:ext cx="10780553" cy="1168247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The Johns Hopkins University 2023. All rights reserved.</a:t>
            </a:r>
          </a:p>
        </p:txBody>
      </p:sp>
      <p:pic>
        <p:nvPicPr>
          <p:cNvPr id="2" name="Picture 18" descr="Medical History Moment - The Founding of Johns Hopkins University ...">
            <a:extLst>
              <a:ext uri="{FF2B5EF4-FFF2-40B4-BE49-F238E27FC236}">
                <a16:creationId xmlns:a16="http://schemas.microsoft.com/office/drawing/2014/main" id="{6855C648-89BA-05DB-FBE4-06DECEF5D9D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23" t="7786" r="6323" b="18463"/>
          <a:stretch/>
        </p:blipFill>
        <p:spPr bwMode="auto">
          <a:xfrm>
            <a:off x="1" y="1"/>
            <a:ext cx="12191999" cy="685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6A59C72E-C9CB-418F-981E-D5C3438A0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-2" y="-4"/>
            <a:ext cx="12192001" cy="6857999"/>
          </a:xfrm>
          <a:prstGeom prst="rect">
            <a:avLst/>
          </a:prstGeom>
          <a:gradFill flip="none" rotWithShape="1">
            <a:gsLst>
              <a:gs pos="0">
                <a:srgbClr val="69ACE5">
                  <a:alpha val="85000"/>
                </a:srgbClr>
              </a:gs>
              <a:gs pos="75000">
                <a:srgbClr val="3B6FAF">
                  <a:alpha val="8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WSE Logo">
            <a:extLst>
              <a:ext uri="{FF2B5EF4-FFF2-40B4-BE49-F238E27FC236}">
                <a16:creationId xmlns:a16="http://schemas.microsoft.com/office/drawing/2014/main" id="{73EE76B3-19B8-4A4F-9962-98EBF35D9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2" t="22639" r="15939" b="21111"/>
          <a:stretch/>
        </p:blipFill>
        <p:spPr>
          <a:xfrm>
            <a:off x="3446626" y="1889550"/>
            <a:ext cx="5298749" cy="3078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46C736-D135-449F-AC2D-8C9ACCE3507D}"/>
              </a:ext>
            </a:extLst>
          </p:cNvPr>
          <p:cNvSpPr/>
          <p:nvPr userDrawn="1"/>
        </p:nvSpPr>
        <p:spPr>
          <a:xfrm>
            <a:off x="0" y="6303182"/>
            <a:ext cx="12192000" cy="289453"/>
          </a:xfrm>
          <a:prstGeom prst="rect">
            <a:avLst/>
          </a:prstGeom>
        </p:spPr>
        <p:txBody>
          <a:bodyPr wrap="square" lIns="108852" tIns="54427" rIns="108852" bIns="54427">
            <a:spAutoFit/>
          </a:bodyPr>
          <a:lstStyle/>
          <a:p>
            <a:pPr algn="ctr"/>
            <a:r>
              <a:rPr lang="en-US" sz="1167">
                <a:solidFill>
                  <a:schemeClr val="bg1"/>
                </a:solidFill>
                <a:latin typeface="Arial"/>
                <a:cs typeface="Arial"/>
              </a:rPr>
              <a:t>© The Johns Hopkins University 2023,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91123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452E6E-29A6-2C85-9C79-764136C316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98" y="0"/>
            <a:ext cx="12188302" cy="6860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BC76EE-BBDD-9DAC-BD3C-14DC174D2E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1" y="1199408"/>
            <a:ext cx="5519350" cy="231568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of </a:t>
            </a:r>
            <a:br>
              <a:rPr lang="en-US"/>
            </a:br>
            <a:r>
              <a:rPr lang="en-US"/>
              <a:t>the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55132-02B7-F237-8FA1-F867CF88FB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692901"/>
            <a:ext cx="5519351" cy="784095"/>
          </a:xfrm>
        </p:spPr>
        <p:txBody>
          <a:bodyPr anchor="ctr">
            <a:normAutofit/>
          </a:bodyPr>
          <a:lstStyle>
            <a:lvl1pPr marL="0" indent="0" algn="l">
              <a:lnSpc>
                <a:spcPts val="1780"/>
              </a:lnSpc>
              <a:spcBef>
                <a:spcPts val="1000"/>
              </a:spcBef>
              <a:buNone/>
              <a:defRPr sz="2400" b="1">
                <a:solidFill>
                  <a:srgbClr val="4E97E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</a:t>
            </a:r>
          </a:p>
        </p:txBody>
      </p: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E5E73B6-2798-2A91-EEE6-2BB4284BE9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8770" y="5095306"/>
            <a:ext cx="4293230" cy="178427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77B635-698D-CEB4-EA5A-566854E400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476751"/>
            <a:ext cx="5519738" cy="45151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DEPARTMENT NAME OR DATE IN ALL CAPS</a:t>
            </a:r>
          </a:p>
        </p:txBody>
      </p:sp>
    </p:spTree>
    <p:extLst>
      <p:ext uri="{BB962C8B-B14F-4D97-AF65-F5344CB8AC3E}">
        <p14:creationId xmlns:p14="http://schemas.microsoft.com/office/powerpoint/2010/main" val="3084366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w/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596D2A21-2E76-5B18-DE93-32E809F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89" y="0"/>
            <a:ext cx="12192000" cy="1640793"/>
          </a:xfrm>
          <a:prstGeom prst="rect">
            <a:avLst/>
          </a:prstGeom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09356EC-295E-5603-B486-43CADD66F6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3317" y="1805025"/>
            <a:ext cx="11585365" cy="4245397"/>
          </a:xfrm>
        </p:spPr>
        <p:txBody>
          <a:bodyPr/>
          <a:lstStyle>
            <a:lvl2pPr>
              <a:defRPr sz="2000"/>
            </a:lvl2pPr>
            <a:lvl3pPr marL="1143000" indent="-228600">
              <a:buFont typeface="System Font Regular"/>
              <a:buChar char="–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05ABF60-1B68-135C-A9A6-11C948D7FA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6182963-1E80-6DE0-0367-A79451A82D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Unit Name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6BE6B5-4DC4-B1E9-5F84-01E6D86F86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D38D0CA-89C0-9ABD-FF68-B1CC4506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497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596D2A21-2E76-5B18-DE93-32E809F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E177EC9-C768-378C-1033-4D5D55FC0A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058" y="1376787"/>
            <a:ext cx="9875883" cy="410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31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596D2A21-2E76-5B18-DE93-32E809FDBF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CC74154-920A-7908-96E4-FCAB9EB05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2316" y="953546"/>
            <a:ext cx="10379241" cy="177869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CA531E-D6C1-E9A7-B39A-A410B89BA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2316" y="3015916"/>
            <a:ext cx="10379241" cy="89672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CTA or URL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10872C-6ED3-1495-01D5-B22FBFD037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2650" y="4090988"/>
            <a:ext cx="10379075" cy="198913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Names and Contact</a:t>
            </a:r>
          </a:p>
        </p:txBody>
      </p:sp>
    </p:spTree>
    <p:extLst>
      <p:ext uri="{BB962C8B-B14F-4D97-AF65-F5344CB8AC3E}">
        <p14:creationId xmlns:p14="http://schemas.microsoft.com/office/powerpoint/2010/main" val="407524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9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DDEP-DC/GREASYPOP-C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starsim.or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F3DE-E8AB-E7B1-FD37-595E64329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354" y="1270000"/>
            <a:ext cx="10451291" cy="2962563"/>
          </a:xfrm>
        </p:spPr>
        <p:txBody>
          <a:bodyPr anchor="t"/>
          <a:lstStyle/>
          <a:p>
            <a:r>
              <a:rPr lang="en-US" sz="5000" b="1" dirty="0">
                <a:latin typeface="Aptos Display"/>
                <a:ea typeface="Tahoma"/>
                <a:cs typeface="Tahoma"/>
              </a:rPr>
              <a:t>GeoPops demonstration: </a:t>
            </a:r>
            <a:br>
              <a:rPr lang="en-US" sz="5000" b="1" dirty="0">
                <a:latin typeface="Aptos Display"/>
                <a:ea typeface="Tahoma"/>
                <a:cs typeface="Tahoma"/>
              </a:rPr>
            </a:br>
            <a:r>
              <a:rPr lang="en-US" sz="5000" b="1" dirty="0">
                <a:latin typeface="Aptos Display"/>
                <a:ea typeface="Tahoma"/>
                <a:cs typeface="Tahoma"/>
              </a:rPr>
              <a:t>An open-source, adaptable framework for agent-based modeling on synthetic populations</a:t>
            </a:r>
            <a:endParaRPr lang="en-US" dirty="0">
              <a:ea typeface="Tahoma"/>
              <a:cs typeface="Tahom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9D27D-5938-E4B8-9569-883F82E1A0B3}"/>
              </a:ext>
            </a:extLst>
          </p:cNvPr>
          <p:cNvSpPr txBox="1"/>
          <p:nvPr/>
        </p:nvSpPr>
        <p:spPr>
          <a:xfrm>
            <a:off x="9201899" y="242454"/>
            <a:ext cx="279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Alisa Hamilton, PhD(c)</a:t>
            </a:r>
          </a:p>
          <a:p>
            <a:r>
              <a:rPr lang="en-US" dirty="0">
                <a:solidFill>
                  <a:schemeClr val="bg1"/>
                </a:solidFill>
              </a:rPr>
              <a:t>Systems Engineering</a:t>
            </a:r>
          </a:p>
          <a:p>
            <a:r>
              <a:rPr lang="en-US" dirty="0">
                <a:solidFill>
                  <a:schemeClr val="bg1"/>
                </a:solidFill>
              </a:rPr>
              <a:t>Johns Hopkins University</a:t>
            </a:r>
          </a:p>
          <a:p>
            <a:r>
              <a:rPr lang="en-US" dirty="0">
                <a:solidFill>
                  <a:schemeClr val="bg1"/>
                </a:solidFill>
              </a:rPr>
              <a:t>ahamil33@jh.edu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650DF-860F-A954-C71F-A97AE6C29A2A}"/>
              </a:ext>
            </a:extLst>
          </p:cNvPr>
          <p:cNvSpPr txBox="1"/>
          <p:nvPr/>
        </p:nvSpPr>
        <p:spPr>
          <a:xfrm>
            <a:off x="870354" y="4521445"/>
            <a:ext cx="10557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Alisa Hamilton</a:t>
            </a:r>
            <a:r>
              <a:rPr lang="en-US" sz="2400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Alexander Tulchinsky</a:t>
            </a:r>
            <a:r>
              <a:rPr lang="en-US" sz="2400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Cliff Kerr</a:t>
            </a:r>
            <a:r>
              <a:rPr lang="en-US" sz="2400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Eili Klein</a:t>
            </a:r>
            <a:r>
              <a:rPr lang="en-US" sz="2400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1,2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, Lauren Gardner</a:t>
            </a:r>
            <a:r>
              <a:rPr lang="en-US" sz="2400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Johns Hopkins University, </a:t>
            </a:r>
            <a:r>
              <a:rPr lang="en-US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One Health Trust, </a:t>
            </a:r>
            <a:r>
              <a:rPr lang="en-US" baseline="300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Institute for Disease Modeling</a:t>
            </a:r>
          </a:p>
        </p:txBody>
      </p:sp>
      <p:pic>
        <p:nvPicPr>
          <p:cNvPr id="8" name="Picture 7" descr="A logo with white letters&#10;&#10;AI-generated content may be incorrect.">
            <a:extLst>
              <a:ext uri="{FF2B5EF4-FFF2-40B4-BE49-F238E27FC236}">
                <a16:creationId xmlns:a16="http://schemas.microsoft.com/office/drawing/2014/main" id="{8985F249-D2FF-F060-EBE2-625D8961C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54" y="5758974"/>
            <a:ext cx="2290763" cy="59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1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C930E-78F7-57FB-E8BD-A961F806C1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AD075-6129-440B-3D26-0DAFAA5979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6DE3-745C-5C83-811B-DFE31AE8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84A3F4-6A99-E8C4-275C-F3439ADF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20981"/>
          </a:xfrm>
        </p:spPr>
        <p:txBody>
          <a:bodyPr>
            <a:normAutofit/>
          </a:bodyPr>
          <a:lstStyle/>
          <a:p>
            <a:r>
              <a:rPr lang="en-US" sz="3600" dirty="0"/>
              <a:t>GeoPops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C991E-1B5A-6C7D-4BF7-BFC0D02F98F3}"/>
              </a:ext>
            </a:extLst>
          </p:cNvPr>
          <p:cNvSpPr txBox="1"/>
          <p:nvPr/>
        </p:nvSpPr>
        <p:spPr>
          <a:xfrm>
            <a:off x="449026" y="2276914"/>
            <a:ext cx="1024543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Open-source package for generating geographically and demographically realistic synthetic populations for any US Census location using publicly available data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Same methodology as </a:t>
            </a:r>
            <a:r>
              <a:rPr lang="en-US" dirty="0">
                <a:hlinkClick r:id="rId3"/>
              </a:rPr>
              <a:t>GREASYPOP-CO</a:t>
            </a:r>
            <a:r>
              <a:rPr lang="en-US" dirty="0"/>
              <a:t> (One Health Trust) but wrapped in convenient Python package that can be pip installed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Automatic data downloading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Compatibility with Census data beyond 2019 (in development)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Compatibility with agent-based modeling software </a:t>
            </a:r>
            <a:r>
              <a:rPr lang="en-US" dirty="0">
                <a:hlinkClick r:id="rId4"/>
              </a:rPr>
              <a:t>Starsim</a:t>
            </a:r>
            <a:r>
              <a:rPr lang="en-US" dirty="0"/>
              <a:t> (IDM)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1FA5E5-6BC3-3D13-9FE0-DBD908888097}"/>
              </a:ext>
            </a:extLst>
          </p:cNvPr>
          <p:cNvSpPr/>
          <p:nvPr/>
        </p:nvSpPr>
        <p:spPr>
          <a:xfrm>
            <a:off x="7628291" y="4108653"/>
            <a:ext cx="3725508" cy="8286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github.com/ACCIDDA/GeoPops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749392-BEF2-AB99-0590-A8E6801CBF20}"/>
              </a:ext>
            </a:extLst>
          </p:cNvPr>
          <p:cNvSpPr/>
          <p:nvPr/>
        </p:nvSpPr>
        <p:spPr>
          <a:xfrm>
            <a:off x="7628292" y="5165420"/>
            <a:ext cx="3725508" cy="8286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pypi.org/project/geopops</a:t>
            </a:r>
          </a:p>
        </p:txBody>
      </p:sp>
    </p:spTree>
    <p:extLst>
      <p:ext uri="{BB962C8B-B14F-4D97-AF65-F5344CB8AC3E}">
        <p14:creationId xmlns:p14="http://schemas.microsoft.com/office/powerpoint/2010/main" val="187651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30000-9593-EE45-E30D-5A30A27F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13B96-A417-25C4-18C2-83794501B9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82C91-3FF0-6AA5-846A-72CDC20FF9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8F99B-9746-1360-321B-7C95A88F91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DF1930-5005-24DD-9B5B-1E373464A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20981"/>
          </a:xfrm>
        </p:spPr>
        <p:txBody>
          <a:bodyPr>
            <a:normAutofit/>
          </a:bodyPr>
          <a:lstStyle/>
          <a:p>
            <a:r>
              <a:rPr lang="en-US" sz="3600" dirty="0"/>
              <a:t>MIDAS Notebook Tutorial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BBBDE-0494-8768-484C-161705418C0D}"/>
              </a:ext>
            </a:extLst>
          </p:cNvPr>
          <p:cNvSpPr txBox="1"/>
          <p:nvPr/>
        </p:nvSpPr>
        <p:spPr>
          <a:xfrm>
            <a:off x="838200" y="2167116"/>
            <a:ext cx="802538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Demonstration of framework. Not a realistic application!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1. Make a population of Howard County, MD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2. Run a COVID-like SIR Starsim model on the population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3. Incorporate prevalence-dependent "school closures"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4. Track outcomes by age and Census Block Group (CBG)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5C99A6-BE39-9D8F-0BC7-976F179846E9}"/>
              </a:ext>
            </a:extLst>
          </p:cNvPr>
          <p:cNvSpPr/>
          <p:nvPr/>
        </p:nvSpPr>
        <p:spPr>
          <a:xfrm>
            <a:off x="2607137" y="4922292"/>
            <a:ext cx="6977725" cy="8286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github.com/ACCIDDA/GeoPops/tutorials/MIDAS</a:t>
            </a:r>
          </a:p>
        </p:txBody>
      </p:sp>
    </p:spTree>
    <p:extLst>
      <p:ext uri="{BB962C8B-B14F-4D97-AF65-F5344CB8AC3E}">
        <p14:creationId xmlns:p14="http://schemas.microsoft.com/office/powerpoint/2010/main" val="261128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BE83-C3EA-255D-65BC-7ADB65263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43E46-F735-6CDB-0E1F-F486CB5822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C3319-01B1-1619-4756-6B62B1F30A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896B7-4E60-FFB6-EDC4-FE465FDB04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5F6884-9E6C-9400-F1BC-096F44A4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34936"/>
          </a:xfrm>
        </p:spPr>
        <p:txBody>
          <a:bodyPr>
            <a:normAutofit/>
          </a:bodyPr>
          <a:lstStyle/>
          <a:p>
            <a:r>
              <a:rPr lang="en-US" sz="3600" dirty="0"/>
              <a:t>Output: Agents and networks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873F44-2AF2-F2A6-F913-B8EED1D2C6AF}"/>
              </a:ext>
            </a:extLst>
          </p:cNvPr>
          <p:cNvSpPr txBox="1"/>
          <p:nvPr/>
        </p:nvSpPr>
        <p:spPr>
          <a:xfrm>
            <a:off x="967563" y="2038360"/>
            <a:ext cx="39340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Race/ethnicity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 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Commuter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Income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Workplace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CBG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School CBG if applicable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CBG if applicable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GQ CBG if applicable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C9B78C-EBDC-4804-54F8-45B61ABE297C}"/>
              </a:ext>
            </a:extLst>
          </p:cNvPr>
          <p:cNvSpPr txBox="1"/>
          <p:nvPr/>
        </p:nvSpPr>
        <p:spPr>
          <a:xfrm>
            <a:off x="5040628" y="2596455"/>
            <a:ext cx="3220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School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of students for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 of grade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teachers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CBG 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C3C14-751E-9010-EC49-ADE5DA1094F9}"/>
              </a:ext>
            </a:extLst>
          </p:cNvPr>
          <p:cNvSpPr txBox="1"/>
          <p:nvPr/>
        </p:nvSpPr>
        <p:spPr>
          <a:xfrm>
            <a:off x="8808720" y="2600841"/>
            <a:ext cx="2545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CBG if inside population 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7D462-858C-5A8E-2FA0-89F4A9E656D4}"/>
              </a:ext>
            </a:extLst>
          </p:cNvPr>
          <p:cNvSpPr txBox="1"/>
          <p:nvPr/>
        </p:nvSpPr>
        <p:spPr>
          <a:xfrm>
            <a:off x="8808720" y="5029597"/>
            <a:ext cx="3002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Group quarters (GQ)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residents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CBG 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F20BA-FDBA-CF30-4357-EA40D3F88BB7}"/>
              </a:ext>
            </a:extLst>
          </p:cNvPr>
          <p:cNvSpPr txBox="1"/>
          <p:nvPr/>
        </p:nvSpPr>
        <p:spPr>
          <a:xfrm>
            <a:off x="5040628" y="5029597"/>
            <a:ext cx="2690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Household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of agents for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CBG location</a:t>
            </a:r>
          </a:p>
        </p:txBody>
      </p:sp>
      <p:pic>
        <p:nvPicPr>
          <p:cNvPr id="10" name="Picture 9" descr="A blue outline of a book&#10;&#10;Description automatically generated">
            <a:extLst>
              <a:ext uri="{FF2B5EF4-FFF2-40B4-BE49-F238E27FC236}">
                <a16:creationId xmlns:a16="http://schemas.microsoft.com/office/drawing/2014/main" id="{1DFC34EE-54A5-EC7E-4B1E-43D15FCA11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628" y="1866941"/>
            <a:ext cx="889000" cy="889000"/>
          </a:xfrm>
          <a:prstGeom prst="rect">
            <a:avLst/>
          </a:prstGeom>
        </p:spPr>
      </p:pic>
      <p:pic>
        <p:nvPicPr>
          <p:cNvPr id="11" name="Picture 10" descr="A blue line art of a briefcase&#10;&#10;Description automatically generated">
            <a:extLst>
              <a:ext uri="{FF2B5EF4-FFF2-40B4-BE49-F238E27FC236}">
                <a16:creationId xmlns:a16="http://schemas.microsoft.com/office/drawing/2014/main" id="{4CD4A0C7-44B3-770E-0934-263660FB99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720" y="1817111"/>
            <a:ext cx="889000" cy="889000"/>
          </a:xfrm>
          <a:prstGeom prst="rect">
            <a:avLst/>
          </a:prstGeom>
        </p:spPr>
      </p:pic>
      <p:pic>
        <p:nvPicPr>
          <p:cNvPr id="12" name="Picture 11" descr="A grey house with a door&#10;&#10;Description automatically generated">
            <a:extLst>
              <a:ext uri="{FF2B5EF4-FFF2-40B4-BE49-F238E27FC236}">
                <a16:creationId xmlns:a16="http://schemas.microsoft.com/office/drawing/2014/main" id="{552699F8-18C8-8D7A-0B09-CF21CE685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940" y="4302759"/>
            <a:ext cx="708660" cy="7086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B05296-A4C3-2A25-6998-0966FF72F3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31" y="4241783"/>
            <a:ext cx="1051556" cy="105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23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C930E-78F7-57FB-E8BD-A961F806C1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AD075-6129-440B-3D26-0DAFAA5979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6DE3-745C-5C83-811B-DFE31AE8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84A3F4-6A99-E8C4-275C-F3439ADF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83" y="0"/>
            <a:ext cx="10515600" cy="1631876"/>
          </a:xfrm>
        </p:spPr>
        <p:txBody>
          <a:bodyPr>
            <a:normAutofit/>
          </a:bodyPr>
          <a:lstStyle/>
          <a:p>
            <a:r>
              <a:rPr lang="en-US" sz="3600" dirty="0"/>
              <a:t>Methods: Generating agents and households</a:t>
            </a:r>
          </a:p>
        </p:txBody>
      </p:sp>
      <p:pic>
        <p:nvPicPr>
          <p:cNvPr id="17" name="Picture 16" descr="A grey house with a door&#10;&#10;Description automatically generated">
            <a:extLst>
              <a:ext uri="{FF2B5EF4-FFF2-40B4-BE49-F238E27FC236}">
                <a16:creationId xmlns:a16="http://schemas.microsoft.com/office/drawing/2014/main" id="{10BA71BB-2364-E252-58FF-CD6E0E15D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106" y="3269519"/>
            <a:ext cx="708660" cy="708660"/>
          </a:xfrm>
          <a:prstGeom prst="rect">
            <a:avLst/>
          </a:prstGeom>
        </p:spPr>
      </p:pic>
      <p:pic>
        <p:nvPicPr>
          <p:cNvPr id="19" name="Picture 18" descr="A grey house with a door&#10;&#10;Description automatically generated">
            <a:extLst>
              <a:ext uri="{FF2B5EF4-FFF2-40B4-BE49-F238E27FC236}">
                <a16:creationId xmlns:a16="http://schemas.microsoft.com/office/drawing/2014/main" id="{3CDC3A94-85BD-02D9-0092-9EBEBB31A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766" y="2858237"/>
            <a:ext cx="708660" cy="708660"/>
          </a:xfrm>
          <a:prstGeom prst="rect">
            <a:avLst/>
          </a:prstGeom>
        </p:spPr>
      </p:pic>
      <p:pic>
        <p:nvPicPr>
          <p:cNvPr id="21" name="Picture 20" descr="A grey house with a door&#10;&#10;Description automatically generated">
            <a:extLst>
              <a:ext uri="{FF2B5EF4-FFF2-40B4-BE49-F238E27FC236}">
                <a16:creationId xmlns:a16="http://schemas.microsoft.com/office/drawing/2014/main" id="{86F754CF-81BD-85D6-8F94-A26EAC29C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744" y="3319247"/>
            <a:ext cx="708660" cy="708660"/>
          </a:xfrm>
          <a:prstGeom prst="rect">
            <a:avLst/>
          </a:prstGeom>
        </p:spPr>
      </p:pic>
      <p:pic>
        <p:nvPicPr>
          <p:cNvPr id="25" name="Picture 24" descr="A blue line drawing of a graph&#10;&#10;Description automatically generated">
            <a:extLst>
              <a:ext uri="{FF2B5EF4-FFF2-40B4-BE49-F238E27FC236}">
                <a16:creationId xmlns:a16="http://schemas.microsoft.com/office/drawing/2014/main" id="{E35FD3A9-EFA4-07E7-216D-7E90B772E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970" y="2761216"/>
            <a:ext cx="1680210" cy="168021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DFA8AA6-CE27-2151-882B-D116FC4FB516}"/>
              </a:ext>
            </a:extLst>
          </p:cNvPr>
          <p:cNvSpPr txBox="1"/>
          <p:nvPr/>
        </p:nvSpPr>
        <p:spPr>
          <a:xfrm>
            <a:off x="838200" y="2296183"/>
            <a:ext cx="425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Public Use Microdata Samples (PUMS)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D841D5-EEC5-BD32-DA9C-736164D44BC7}"/>
              </a:ext>
            </a:extLst>
          </p:cNvPr>
          <p:cNvSpPr txBox="1"/>
          <p:nvPr/>
        </p:nvSpPr>
        <p:spPr>
          <a:xfrm>
            <a:off x="6959303" y="2296183"/>
            <a:ext cx="4001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American Community Survey (ACS)</a:t>
            </a:r>
            <a:endParaRPr lang="en-US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D01084-E389-C668-603D-742CF5D1D821}"/>
              </a:ext>
            </a:extLst>
          </p:cNvPr>
          <p:cNvCxnSpPr/>
          <p:nvPr/>
        </p:nvCxnSpPr>
        <p:spPr>
          <a:xfrm flipH="1">
            <a:off x="4274820" y="3560984"/>
            <a:ext cx="2914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9B76C1F-F7B8-58CC-26EC-5D0227F92741}"/>
              </a:ext>
            </a:extLst>
          </p:cNvPr>
          <p:cNvSpPr txBox="1"/>
          <p:nvPr/>
        </p:nvSpPr>
        <p:spPr>
          <a:xfrm>
            <a:off x="4791506" y="3211912"/>
            <a:ext cx="1833468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Combinatorial optimization (CO)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DDAB0-4CC7-BE0D-FA53-1E9EC9756679}"/>
              </a:ext>
            </a:extLst>
          </p:cNvPr>
          <p:cNvSpPr txBox="1"/>
          <p:nvPr/>
        </p:nvSpPr>
        <p:spPr>
          <a:xfrm>
            <a:off x="445770" y="5761650"/>
            <a:ext cx="645205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9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Alexander Y. Tulchinsky, Fardad Haghpanah, Alisa Hamilton, Nodar Kipshidze, and Eili Y. Klein. (2024). Generating geographically and economically realistic large-scale synthetic contact networks: A general method using publicly available data. https://</a:t>
            </a:r>
            <a:r>
              <a:rPr lang="en-US" sz="9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arxiv.org</a:t>
            </a:r>
            <a:r>
              <a:rPr lang="en-US" sz="9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/abs/2406.14698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C4A15-27AD-A1A2-8082-4A1481CB362C}"/>
              </a:ext>
            </a:extLst>
          </p:cNvPr>
          <p:cNvSpPr txBox="1"/>
          <p:nvPr/>
        </p:nvSpPr>
        <p:spPr>
          <a:xfrm>
            <a:off x="617696" y="4225290"/>
            <a:ext cx="4114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Subset of census survey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Compositional details, e.g., the number of 5-member households in a CBG with school-aged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7C8BC-6210-D4C1-C91D-DCEC163E20EB}"/>
              </a:ext>
            </a:extLst>
          </p:cNvPr>
          <p:cNvSpPr txBox="1"/>
          <p:nvPr/>
        </p:nvSpPr>
        <p:spPr>
          <a:xfrm>
            <a:off x="6696935" y="4225290"/>
            <a:ext cx="50177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Demographic data at fine geographic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 to marginal counts, e.g., the number of households in a CBG with 5 members and the number of households in a CBG with school-aged children</a:t>
            </a:r>
          </a:p>
        </p:txBody>
      </p:sp>
    </p:spTree>
    <p:extLst>
      <p:ext uri="{BB962C8B-B14F-4D97-AF65-F5344CB8AC3E}">
        <p14:creationId xmlns:p14="http://schemas.microsoft.com/office/powerpoint/2010/main" val="128596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2C61-2AB9-4F3C-44D4-528B56B6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C040C-FE2A-DDCD-AFCA-3BDAE4031F8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C4CD5-FD83-E95E-B3E0-DB85576468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DB79E-1C78-E570-5A61-A3FBF47A19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6967FE-60E3-403D-8E09-CEB4B33C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45919"/>
          </a:xfrm>
        </p:spPr>
        <p:txBody>
          <a:bodyPr>
            <a:normAutofit/>
          </a:bodyPr>
          <a:lstStyle/>
          <a:p>
            <a:r>
              <a:rPr lang="en-US" sz="3600" dirty="0"/>
              <a:t>Methods: Assigning agents to schools and workplaces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A76861-1E15-96A6-81F0-10B1D2CE9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868939"/>
              </p:ext>
            </p:extLst>
          </p:nvPr>
        </p:nvGraphicFramePr>
        <p:xfrm>
          <a:off x="1061561" y="2137505"/>
          <a:ext cx="10068877" cy="258298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514117">
                  <a:extLst>
                    <a:ext uri="{9D8B030D-6E8A-4147-A177-3AD203B41FA5}">
                      <a16:colId xmlns:a16="http://schemas.microsoft.com/office/drawing/2014/main" val="3798875613"/>
                    </a:ext>
                  </a:extLst>
                </a:gridCol>
                <a:gridCol w="2195470">
                  <a:extLst>
                    <a:ext uri="{9D8B030D-6E8A-4147-A177-3AD203B41FA5}">
                      <a16:colId xmlns:a16="http://schemas.microsoft.com/office/drawing/2014/main" val="2391291249"/>
                    </a:ext>
                  </a:extLst>
                </a:gridCol>
                <a:gridCol w="2415941">
                  <a:extLst>
                    <a:ext uri="{9D8B030D-6E8A-4147-A177-3AD203B41FA5}">
                      <a16:colId xmlns:a16="http://schemas.microsoft.com/office/drawing/2014/main" val="4218018759"/>
                    </a:ext>
                  </a:extLst>
                </a:gridCol>
                <a:gridCol w="3943349">
                  <a:extLst>
                    <a:ext uri="{9D8B030D-6E8A-4147-A177-3AD203B41FA5}">
                      <a16:colId xmlns:a16="http://schemas.microsoft.com/office/drawing/2014/main" val="3774818006"/>
                    </a:ext>
                  </a:extLst>
                </a:gridCol>
              </a:tblGrid>
              <a:tr h="469996">
                <a:tc>
                  <a:txBody>
                    <a:bodyPr/>
                    <a:lstStyle/>
                    <a:p>
                      <a:pPr marL="0" marR="0"/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source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Data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Methods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41057"/>
                  </a:ext>
                </a:extLst>
              </a:tr>
              <a:tr h="99528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400" b="1" kern="0">
                          <a:effectLst/>
                        </a:rPr>
                        <a:t>Schools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National Center for Education Statistics (NCES)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>
                          <a:effectLst/>
                        </a:rPr>
                        <a:t>Student and staff counts for each grade level in public schools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Students assigned to closest school that offered required grade</a:t>
                      </a: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Teachers assigned to school by selecting teachers from nearby CBGs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715874"/>
                  </a:ext>
                </a:extLst>
              </a:tr>
              <a:tr h="1117709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400" b="1" kern="0">
                          <a:effectLst/>
                        </a:rPr>
                        <a:t>Workplaces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 dirty="0">
                          <a:effectLst/>
                        </a:rPr>
                        <a:t>Longitudinal Employer-Household Dynamics (LEHD)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>
                          <a:effectLst/>
                        </a:rPr>
                        <a:t>Origin-destination and workplace characteristics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Iterative proportional fitting (IPF) to make origin-destination commute matrix</a:t>
                      </a: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IPF to make industry by destination commute matrix for each origin CBG </a:t>
                      </a: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Includes outside workers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713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F13D97-5455-32E9-F1EE-951ED7B35698}"/>
              </a:ext>
            </a:extLst>
          </p:cNvPr>
          <p:cNvSpPr txBox="1"/>
          <p:nvPr/>
        </p:nvSpPr>
        <p:spPr>
          <a:xfrm>
            <a:off x="445770" y="5761650"/>
            <a:ext cx="645205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9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Alexander Y. Tulchinsky, Fardad Haghpanah, Alisa Hamilton, Nodar Kipshidze, and Eili Y. Klein. (2024). Generating geographically and economically realistic large-scale synthetic contact networks: A general method using publicly available data. https://</a:t>
            </a:r>
            <a:r>
              <a:rPr lang="en-US" sz="9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arxiv.org</a:t>
            </a:r>
            <a:r>
              <a:rPr lang="en-US" sz="9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/abs/2406.14698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74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E5C5-8188-BF79-79D4-43BCDF00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3BDD8-4C61-98A3-26EB-1FD7037798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910DB-84B2-4251-8242-99775937AE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C5D2D-F79F-0F96-CB9A-2A75CFED36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184994-3CA2-EBE7-2B9D-F6F62D1E0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30644"/>
              </p:ext>
            </p:extLst>
          </p:nvPr>
        </p:nvGraphicFramePr>
        <p:xfrm>
          <a:off x="1898322" y="1957760"/>
          <a:ext cx="8395356" cy="349204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667631">
                  <a:extLst>
                    <a:ext uri="{9D8B030D-6E8A-4147-A177-3AD203B41FA5}">
                      <a16:colId xmlns:a16="http://schemas.microsoft.com/office/drawing/2014/main" val="3798875613"/>
                    </a:ext>
                  </a:extLst>
                </a:gridCol>
                <a:gridCol w="2775157">
                  <a:extLst>
                    <a:ext uri="{9D8B030D-6E8A-4147-A177-3AD203B41FA5}">
                      <a16:colId xmlns:a16="http://schemas.microsoft.com/office/drawing/2014/main" val="2391291249"/>
                    </a:ext>
                  </a:extLst>
                </a:gridCol>
                <a:gridCol w="3952568">
                  <a:extLst>
                    <a:ext uri="{9D8B030D-6E8A-4147-A177-3AD203B41FA5}">
                      <a16:colId xmlns:a16="http://schemas.microsoft.com/office/drawing/2014/main" val="4218018759"/>
                    </a:ext>
                  </a:extLst>
                </a:gridCol>
              </a:tblGrid>
              <a:tr h="444634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Layer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Algorithm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Parameters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541057"/>
                  </a:ext>
                </a:extLst>
              </a:tr>
              <a:tr h="645175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Household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>
                          <a:effectLst/>
                        </a:rPr>
                        <a:t>All agents within a household are fully connected 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>
                          <a:effectLst/>
                        </a:rPr>
                        <a:t>N/A         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715874"/>
                  </a:ext>
                </a:extLst>
              </a:tr>
              <a:tr h="781342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School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>
                          <a:effectLst/>
                        </a:rPr>
                        <a:t>Stochastic Block Model within each school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Assortativity: ⍺=0.9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Mean degree: K=12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Blocks are grade levels (Pre-k – 12)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571378"/>
                  </a:ext>
                </a:extLst>
              </a:tr>
              <a:tr h="827851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Workplace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>
                          <a:effectLst/>
                        </a:rPr>
                        <a:t>Stochastic Block Model within each workplace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Assortativity: ⍺=0.9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Mean degree: K=8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Blocks are income levels (&lt;40k or ≥ 40k)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157227"/>
                  </a:ext>
                </a:extLst>
              </a:tr>
              <a:tr h="793047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400" b="1" kern="0">
                          <a:effectLst/>
                        </a:rPr>
                        <a:t>Group quarters</a:t>
                      </a:r>
                      <a:endParaRPr lang="en-US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400" kern="0" dirty="0">
                          <a:effectLst/>
                        </a:rPr>
                        <a:t>Watts-</a:t>
                      </a:r>
                      <a:r>
                        <a:rPr lang="en-US" sz="1400" kern="0" dirty="0" err="1">
                          <a:effectLst/>
                        </a:rPr>
                        <a:t>Strogatz</a:t>
                      </a:r>
                      <a:r>
                        <a:rPr lang="en-US" sz="1400" kern="0" dirty="0">
                          <a:effectLst/>
                        </a:rPr>
                        <a:t> Model</a:t>
                      </a:r>
                    </a:p>
                    <a:p>
                      <a:pPr marL="0" marR="0"/>
                      <a:r>
                        <a:rPr lang="en-US" sz="1400" kern="0" dirty="0">
                          <a:effectLst/>
                        </a:rPr>
                        <a:t>within each GQ facility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Mean degree: K=12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0" dirty="0">
                          <a:effectLst/>
                        </a:rPr>
                        <a:t>Rewiring probability: β=0.25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466537"/>
                  </a:ext>
                </a:extLst>
              </a:tr>
            </a:tbl>
          </a:graphicData>
        </a:graphic>
      </p:graphicFrame>
      <p:sp>
        <p:nvSpPr>
          <p:cNvPr id="9" name="Title 5">
            <a:extLst>
              <a:ext uri="{FF2B5EF4-FFF2-40B4-BE49-F238E27FC236}">
                <a16:creationId xmlns:a16="http://schemas.microsoft.com/office/drawing/2014/main" id="{1C84C428-F031-75DB-0552-256FC8941B74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6459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Methods: Generating Contacts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73DF5-1F4A-082E-0AF7-C5411E8D90AA}"/>
              </a:ext>
            </a:extLst>
          </p:cNvPr>
          <p:cNvSpPr txBox="1"/>
          <p:nvPr/>
        </p:nvSpPr>
        <p:spPr>
          <a:xfrm>
            <a:off x="445770" y="5761650"/>
            <a:ext cx="645205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457200"/>
            <a:r>
              <a:rPr lang="en-US" sz="9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Alexander Y. Tulchinsky, Fardad Haghpanah, Alisa Hamilton, Nodar Kipshidze, and Eili Y. Klein. (2024). Generating geographically and economically realistic large-scale synthetic contact networks: A general method using publicly available data. https://</a:t>
            </a:r>
            <a:r>
              <a:rPr lang="en-US" sz="9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arxiv.org</a:t>
            </a:r>
            <a:r>
              <a:rPr lang="en-US" sz="9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oppins-Regular"/>
              </a:rPr>
              <a:t>/abs/2406.14698</a:t>
            </a:r>
            <a:endParaRPr lang="en-US" sz="9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03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C930E-78F7-57FB-E8BD-A961F806C1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AD075-6129-440B-3D26-0DAFAA5979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6DE3-745C-5C83-811B-DFE31AE8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84A3F4-6A99-E8C4-275C-F3439ADF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40806"/>
          </a:xfrm>
        </p:spPr>
        <p:txBody>
          <a:bodyPr>
            <a:normAutofit/>
          </a:bodyPr>
          <a:lstStyle/>
          <a:p>
            <a:r>
              <a:rPr lang="en-US" sz="3600" dirty="0"/>
              <a:t>Network visualizations for Howard County, MD</a:t>
            </a:r>
          </a:p>
        </p:txBody>
      </p:sp>
      <p:pic>
        <p:nvPicPr>
          <p:cNvPr id="9" name="Picture 8" descr="A clock with black lines&#10;&#10;Description automatically generated with medium confidence">
            <a:extLst>
              <a:ext uri="{FF2B5EF4-FFF2-40B4-BE49-F238E27FC236}">
                <a16:creationId xmlns:a16="http://schemas.microsoft.com/office/drawing/2014/main" id="{AF1DE48C-170E-8E8C-ED74-7D9430338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902" y="2193238"/>
            <a:ext cx="2998328" cy="3023955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black specks in a circle&#10;&#10;Description automatically generated">
            <a:extLst>
              <a:ext uri="{FF2B5EF4-FFF2-40B4-BE49-F238E27FC236}">
                <a16:creationId xmlns:a16="http://schemas.microsoft.com/office/drawing/2014/main" id="{48F8FC01-3C20-F680-3BBD-F15A1A509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812" y="1970360"/>
            <a:ext cx="3234690" cy="3246833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1395B0-8C30-4A10-76AF-31789462CCF8}"/>
              </a:ext>
            </a:extLst>
          </p:cNvPr>
          <p:cNvSpPr txBox="1"/>
          <p:nvPr/>
        </p:nvSpPr>
        <p:spPr>
          <a:xfrm>
            <a:off x="3084036" y="5446014"/>
            <a:ext cx="1834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School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8D590-9C14-243E-84A1-520392D2CEEA}"/>
              </a:ext>
            </a:extLst>
          </p:cNvPr>
          <p:cNvSpPr txBox="1"/>
          <p:nvPr/>
        </p:nvSpPr>
        <p:spPr>
          <a:xfrm>
            <a:off x="7336542" y="5446014"/>
            <a:ext cx="29601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Group Quarters</a:t>
            </a:r>
          </a:p>
        </p:txBody>
      </p:sp>
      <p:pic>
        <p:nvPicPr>
          <p:cNvPr id="8" name="Picture 7" descr="A group of black dots&#10;&#10;Description automatically generated">
            <a:extLst>
              <a:ext uri="{FF2B5EF4-FFF2-40B4-BE49-F238E27FC236}">
                <a16:creationId xmlns:a16="http://schemas.microsoft.com/office/drawing/2014/main" id="{DAA06387-1332-E681-2B13-0A9A6F96B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737" y="3639747"/>
            <a:ext cx="1834674" cy="14974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2207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827D61F-870B-ECD8-75C9-91D41B55EB49}"/>
              </a:ext>
            </a:extLst>
          </p:cNvPr>
          <p:cNvSpPr/>
          <p:nvPr/>
        </p:nvSpPr>
        <p:spPr>
          <a:xfrm>
            <a:off x="2849880" y="1967293"/>
            <a:ext cx="6740653" cy="4283523"/>
          </a:xfrm>
          <a:prstGeom prst="roundRect">
            <a:avLst/>
          </a:prstGeom>
          <a:solidFill>
            <a:schemeClr val="bg2"/>
          </a:solidFill>
          <a:ln w="635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C930E-78F7-57FB-E8BD-A961F806C1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AD075-6129-440B-3D26-0DAFAA5979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6DE3-745C-5C83-811B-DFE31AE8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84A3F4-6A99-E8C4-275C-F3439ADF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17919"/>
          </a:xfrm>
        </p:spPr>
        <p:txBody>
          <a:bodyPr>
            <a:normAutofit/>
          </a:bodyPr>
          <a:lstStyle/>
          <a:p>
            <a:r>
              <a:rPr lang="en-US" sz="3600" dirty="0"/>
              <a:t>GeoPops with Starsim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8E3AE1A-416A-4016-B1A5-00BF28E26B2E}"/>
              </a:ext>
            </a:extLst>
          </p:cNvPr>
          <p:cNvSpPr/>
          <p:nvPr/>
        </p:nvSpPr>
        <p:spPr>
          <a:xfrm>
            <a:off x="5945125" y="2336039"/>
            <a:ext cx="3075432" cy="121488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SIR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Respiratory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Infection duration ~7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Transmission coefficient ~0.1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50-day simulation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EB85167-36C9-128B-1947-7A8AD2E64DAD}"/>
              </a:ext>
            </a:extLst>
          </p:cNvPr>
          <p:cNvSpPr/>
          <p:nvPr/>
        </p:nvSpPr>
        <p:spPr>
          <a:xfrm>
            <a:off x="5945126" y="3757749"/>
            <a:ext cx="3075431" cy="89952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Feedback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Removes edges of school network when prevalence &gt; 0.1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23E3503-73AE-ACE0-5E1C-DBE5A18CBF6B}"/>
              </a:ext>
            </a:extLst>
          </p:cNvPr>
          <p:cNvSpPr/>
          <p:nvPr/>
        </p:nvSpPr>
        <p:spPr>
          <a:xfrm>
            <a:off x="5945125" y="4872938"/>
            <a:ext cx="3075431" cy="90185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Subgroup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Infections by age and CBG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EB8DCC-1409-8128-5AEC-F2A4AF79D1C8}"/>
              </a:ext>
            </a:extLst>
          </p:cNvPr>
          <p:cNvSpPr/>
          <p:nvPr/>
        </p:nvSpPr>
        <p:spPr>
          <a:xfrm>
            <a:off x="3581401" y="3755414"/>
            <a:ext cx="1906524" cy="90185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GeoPops agents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FC301E9-8EEC-8861-5161-D86CC7CBCE0B}"/>
              </a:ext>
            </a:extLst>
          </p:cNvPr>
          <p:cNvSpPr/>
          <p:nvPr/>
        </p:nvSpPr>
        <p:spPr>
          <a:xfrm>
            <a:off x="3581400" y="4872938"/>
            <a:ext cx="1906524" cy="90185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GeoPops networks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927399-FB76-C730-CDC3-1EBF6D43CB9B}"/>
              </a:ext>
            </a:extLst>
          </p:cNvPr>
          <p:cNvSpPr txBox="1"/>
          <p:nvPr/>
        </p:nvSpPr>
        <p:spPr>
          <a:xfrm>
            <a:off x="3821430" y="2633062"/>
            <a:ext cx="142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Starsim</a:t>
            </a:r>
          </a:p>
          <a:p>
            <a:r>
              <a:rPr lang="en-US" b="1" dirty="0"/>
              <a:t>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8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167303-43EE-C2CD-D3F9-FFB8FE88A9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C930E-78F7-57FB-E8BD-A961F806C1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AD075-6129-440B-3D26-0DAFAA5979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6DE3-745C-5C83-811B-DFE31AE8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84A3F4-6A99-E8C4-275C-F3439ADF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45919"/>
          </a:xfrm>
        </p:spPr>
        <p:txBody>
          <a:bodyPr>
            <a:normAutofit/>
          </a:bodyPr>
          <a:lstStyle/>
          <a:p>
            <a:r>
              <a:rPr lang="en-US" sz="3200" dirty="0"/>
              <a:t>Feedback vs No Feedback</a:t>
            </a:r>
          </a:p>
        </p:txBody>
      </p:sp>
      <p:pic>
        <p:nvPicPr>
          <p:cNvPr id="8" name="Picture 7" descr="A graph of static and dynamic school network&#10;&#10;AI-generated content may be incorrect.">
            <a:extLst>
              <a:ext uri="{FF2B5EF4-FFF2-40B4-BE49-F238E27FC236}">
                <a16:creationId xmlns:a16="http://schemas.microsoft.com/office/drawing/2014/main" id="{E06FCEC2-D39F-B721-D6E4-0E7A825B0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342" y="1805025"/>
            <a:ext cx="6973316" cy="44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07F8-D22A-E2DC-42FA-68B59032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33E81-BBC3-62F1-A979-176C82E3A8F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3F68A-2455-E568-8387-E40BBBF0B4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A8B19-EEB3-0DD8-C332-0FB7E78988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1F6E71-B71C-B112-7023-E88A5EE1C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7"/>
          </a:xfrm>
        </p:spPr>
        <p:txBody>
          <a:bodyPr>
            <a:normAutofit/>
          </a:bodyPr>
          <a:lstStyle/>
          <a:p>
            <a:r>
              <a:rPr lang="en-US" sz="3200" dirty="0"/>
              <a:t>Outcome tracking by demographic subgroup</a:t>
            </a:r>
          </a:p>
        </p:txBody>
      </p:sp>
      <p:pic>
        <p:nvPicPr>
          <p:cNvPr id="11" name="Picture 10" descr="A graph of infection by age group&#10;&#10;AI-generated content may be incorrect.">
            <a:extLst>
              <a:ext uri="{FF2B5EF4-FFF2-40B4-BE49-F238E27FC236}">
                <a16:creationId xmlns:a16="http://schemas.microsoft.com/office/drawing/2014/main" id="{B6F65DEA-11D1-9513-CFAE-BB7E6BA46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772" y="1848358"/>
            <a:ext cx="7602455" cy="440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7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32B2-7DA3-35FC-386B-B120B205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C15DC3-15A3-E54B-BF95-D7F73D2B05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0EB0E-1724-4BC9-598C-6BB4C38C234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0EE44-957A-DC10-FEE9-CD75A848FC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1DCB0-280A-04E3-6A19-531C121FFC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225E75-B0DB-A962-100C-034BE1C6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737999"/>
          </a:xfrm>
        </p:spPr>
        <p:txBody>
          <a:bodyPr>
            <a:normAutofit/>
          </a:bodyPr>
          <a:lstStyle/>
          <a:p>
            <a:r>
              <a:rPr lang="en-US" sz="3200" dirty="0"/>
              <a:t>Outcome tracking by geographic subgroup</a:t>
            </a:r>
          </a:p>
        </p:txBody>
      </p:sp>
      <p:pic>
        <p:nvPicPr>
          <p:cNvPr id="9" name="Picture 8" descr="A map of a country with red and orange areas&#10;&#10;AI-generated content may be incorrect.">
            <a:extLst>
              <a:ext uri="{FF2B5EF4-FFF2-40B4-BE49-F238E27FC236}">
                <a16:creationId xmlns:a16="http://schemas.microsoft.com/office/drawing/2014/main" id="{7BFFC8C8-E8F6-DE62-1AC1-DCB83BB98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421" y="1805025"/>
            <a:ext cx="7217157" cy="44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52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96D76-A75D-F927-6DEE-7CA6D456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84E95B-CEB6-4F12-4E72-258D0340824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82C53-4B90-B34D-F65F-9174AD85DC0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60202-D861-4A55-1B6E-B192B48836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C850-16A3-2A12-1115-F1C2362B77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2D3678-0C6B-0B61-28A0-3DE62FA89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738000"/>
          </a:xfrm>
        </p:spPr>
        <p:txBody>
          <a:bodyPr>
            <a:normAutofit/>
          </a:bodyPr>
          <a:lstStyle/>
          <a:p>
            <a:r>
              <a:rPr lang="en-US" sz="3200" dirty="0"/>
              <a:t>Why is this cool?!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2AF412-6E17-9B0C-A918-2DD35143F66A}"/>
              </a:ext>
            </a:extLst>
          </p:cNvPr>
          <p:cNvSpPr txBox="1"/>
          <p:nvPr/>
        </p:nvSpPr>
        <p:spPr>
          <a:xfrm>
            <a:off x="950976" y="2527339"/>
            <a:ext cx="100462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Reasonably realistic geographic and demographic granularity for night and day-time activities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Don't have to build a model from scratch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Can be used by state and county health departments for context-specific scenario modeling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Seed infections to a specific geography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Target interventions to specific demographic or geographic groups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There are several research groups already using Starsim to model respiratory diseases that can now use GeoPops as well</a:t>
            </a:r>
          </a:p>
        </p:txBody>
      </p:sp>
    </p:spTree>
    <p:extLst>
      <p:ext uri="{BB962C8B-B14F-4D97-AF65-F5344CB8AC3E}">
        <p14:creationId xmlns:p14="http://schemas.microsoft.com/office/powerpoint/2010/main" val="1510155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FE5FF-8F22-DDEE-AA6B-99664EF4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C0F4A8-2A0D-3CB8-4362-AC29D69761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/>
          </a:p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FB09E-A136-C24E-E8C4-37F2ACB4C4F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E7638-0A8D-C550-4573-326287CFD4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A2A18-4B00-457E-B1F3-65087357D2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7A2091-6AEA-0F12-1E62-B2A2E651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738000"/>
          </a:xfrm>
        </p:spPr>
        <p:txBody>
          <a:bodyPr>
            <a:normAutofit/>
          </a:bodyPr>
          <a:lstStyle/>
          <a:p>
            <a:r>
              <a:rPr lang="en-US" sz="3200" dirty="0"/>
              <a:t>Conferences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D1F57C-D2DB-B1CB-2A2B-190FC30DB1FA}"/>
              </a:ext>
            </a:extLst>
          </p:cNvPr>
          <p:cNvSpPr/>
          <p:nvPr/>
        </p:nvSpPr>
        <p:spPr>
          <a:xfrm>
            <a:off x="838200" y="1976784"/>
            <a:ext cx="4935393" cy="4379566"/>
          </a:xfrm>
          <a:prstGeom prst="roundRect">
            <a:avLst/>
          </a:prstGeom>
          <a:solidFill>
            <a:schemeClr val="tx2">
              <a:lumMod val="25000"/>
              <a:lumOff val="75000"/>
              <a:alpha val="366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Winter Simulation Conference 2025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GeoPops: An open-source package for generating geographically realistic synthetic populations</a:t>
            </a:r>
          </a:p>
          <a:p>
            <a:pPr lvl="1"/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detailed methodology and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GeoPops to two other open-source synthetic population generators (UrbanPop and Geo-Synthetic-Pop)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three MD pops (one with each generator)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individuals and homes to real Census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network stats of each home, school, and workplace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Starsim COVID-19 model on each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simulation results to each other and observed data for first wave of pandemic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Discuss usability of each generator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5B447-33F7-AA2A-7737-DE6A73F39A99}"/>
              </a:ext>
            </a:extLst>
          </p:cNvPr>
          <p:cNvSpPr/>
          <p:nvPr/>
        </p:nvSpPr>
        <p:spPr>
          <a:xfrm>
            <a:off x="6632431" y="1976783"/>
            <a:ext cx="4739733" cy="4379566"/>
          </a:xfrm>
          <a:prstGeom prst="roundRect">
            <a:avLst/>
          </a:prstGeom>
          <a:solidFill>
            <a:schemeClr val="tx2">
              <a:lumMod val="25000"/>
              <a:lumOff val="75000"/>
              <a:alpha val="3668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Epidemics 2025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Modeling the impact of dynamic decision making on infectious disease outcomes by demographic and geographic subgroups: An open-source agent-based modeling framework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Starsim COVID-19 model with utility framework on GeoPops population of 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Individuals weigh health-wealth trade-offs of staying home from work as a function of their income and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different policy scenarios (e.g., paid sick leave, cash transfer) and compare to observed data from first wave of pandemic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Demographic and geographic subgroup outcome tracking 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E3F59-56F2-68AE-8E62-D8818630E738}"/>
              </a:ext>
            </a:extLst>
          </p:cNvPr>
          <p:cNvSpPr txBox="1"/>
          <p:nvPr/>
        </p:nvSpPr>
        <p:spPr>
          <a:xfrm>
            <a:off x="9201899" y="242454"/>
            <a:ext cx="279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Alisa Hamilton, PhD(c)</a:t>
            </a:r>
          </a:p>
          <a:p>
            <a:r>
              <a:rPr lang="en-US" dirty="0">
                <a:solidFill>
                  <a:schemeClr val="bg1"/>
                </a:solidFill>
              </a:rPr>
              <a:t>Systems Engineering</a:t>
            </a:r>
          </a:p>
          <a:p>
            <a:r>
              <a:rPr lang="en-US" dirty="0">
                <a:solidFill>
                  <a:schemeClr val="bg1"/>
                </a:solidFill>
              </a:rPr>
              <a:t>Johns Hopkins University</a:t>
            </a:r>
          </a:p>
          <a:p>
            <a:r>
              <a:rPr lang="en-US" dirty="0">
                <a:solidFill>
                  <a:schemeClr val="bg1"/>
                </a:solidFill>
              </a:rPr>
              <a:t>ahamil33@jh.edu</a:t>
            </a:r>
          </a:p>
        </p:txBody>
      </p:sp>
    </p:spTree>
    <p:extLst>
      <p:ext uri="{BB962C8B-B14F-4D97-AF65-F5344CB8AC3E}">
        <p14:creationId xmlns:p14="http://schemas.microsoft.com/office/powerpoint/2010/main" val="3345116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F81CE-6707-5FBE-E894-2D7FDA5E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C0D509-52E7-E60D-91D5-9357A6F61C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68417-2BEE-A7FE-89D3-DE430D5473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D8AFF2-9042-B841-A3E7-F7EA0CBF7244}" type="datetime3">
              <a:rPr lang="en-US" smtClean="0"/>
              <a:pPr/>
              <a:t>28 October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6EFAB-52D7-E02B-5075-31C7C36310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MIDAS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0745D-A4A0-2F51-DAA0-2DB23BD487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76332E-97D2-CC49-9E46-E6E0DDE407E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143A6E-DCED-7163-A877-AEDDF18C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738000"/>
          </a:xfrm>
        </p:spPr>
        <p:txBody>
          <a:bodyPr>
            <a:normAutofit/>
          </a:bodyPr>
          <a:lstStyle/>
          <a:p>
            <a:r>
              <a:rPr lang="en-US" sz="3200" dirty="0"/>
              <a:t>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C1D79-0C0F-A352-4088-8173F12A831B}"/>
              </a:ext>
            </a:extLst>
          </p:cNvPr>
          <p:cNvSpPr txBox="1"/>
          <p:nvPr/>
        </p:nvSpPr>
        <p:spPr>
          <a:xfrm>
            <a:off x="1808706" y="2492344"/>
            <a:ext cx="812006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Find me at the poster session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Pip install geopops and try going through the tutorial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Log issues! Please be patient </a:t>
            </a:r>
            <a:r>
              <a:rPr lang="en-US" dirty="0">
                <a:sym typeface="Wingdings" pitchFamily="2" charset="2"/>
              </a:rPr>
              <a:t>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8E9E5E-2766-F407-8D07-2FC25B0D4ABB}"/>
              </a:ext>
            </a:extLst>
          </p:cNvPr>
          <p:cNvSpPr/>
          <p:nvPr/>
        </p:nvSpPr>
        <p:spPr>
          <a:xfrm>
            <a:off x="1808706" y="4413017"/>
            <a:ext cx="5750426" cy="82860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635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github.com/ACCIDDA/GeoPops/tutorials/MIDAS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72C75-4590-7144-DBBB-5565ACCAD18C}"/>
              </a:ext>
            </a:extLst>
          </p:cNvPr>
          <p:cNvSpPr txBox="1"/>
          <p:nvPr/>
        </p:nvSpPr>
        <p:spPr>
          <a:xfrm>
            <a:off x="9063037" y="4365656"/>
            <a:ext cx="3128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Slides</a:t>
            </a:r>
          </a:p>
          <a:p>
            <a:r>
              <a:rPr lang="en-US" dirty="0"/>
              <a:t>Poster</a:t>
            </a:r>
          </a:p>
          <a:p>
            <a:r>
              <a:rPr lang="en-US" dirty="0"/>
              <a:t>Tutorial</a:t>
            </a:r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269F2384-6481-BA87-721F-9957ED834855}"/>
              </a:ext>
            </a:extLst>
          </p:cNvPr>
          <p:cNvSpPr/>
          <p:nvPr/>
        </p:nvSpPr>
        <p:spPr>
          <a:xfrm>
            <a:off x="7817644" y="4611382"/>
            <a:ext cx="981075" cy="442913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3D0412-6AFC-C0EE-2992-9797D5DD2C02}"/>
              </a:ext>
            </a:extLst>
          </p:cNvPr>
          <p:cNvSpPr txBox="1"/>
          <p:nvPr/>
        </p:nvSpPr>
        <p:spPr>
          <a:xfrm>
            <a:off x="9201899" y="242454"/>
            <a:ext cx="279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Alisa Hamilton, PhD(c)</a:t>
            </a:r>
          </a:p>
          <a:p>
            <a:r>
              <a:rPr lang="en-US" dirty="0">
                <a:solidFill>
                  <a:schemeClr val="bg1"/>
                </a:solidFill>
              </a:rPr>
              <a:t>Systems Engineering</a:t>
            </a:r>
          </a:p>
          <a:p>
            <a:r>
              <a:rPr lang="en-US" dirty="0">
                <a:solidFill>
                  <a:schemeClr val="bg1"/>
                </a:solidFill>
              </a:rPr>
              <a:t>Johns Hopkins University</a:t>
            </a:r>
          </a:p>
          <a:p>
            <a:r>
              <a:rPr lang="en-US" dirty="0">
                <a:solidFill>
                  <a:schemeClr val="bg1"/>
                </a:solidFill>
              </a:rPr>
              <a:t>ahamil33@jh.edu</a:t>
            </a:r>
          </a:p>
        </p:txBody>
      </p:sp>
    </p:spTree>
    <p:extLst>
      <p:ext uri="{BB962C8B-B14F-4D97-AF65-F5344CB8AC3E}">
        <p14:creationId xmlns:p14="http://schemas.microsoft.com/office/powerpoint/2010/main" val="1371669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08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5909</TotalTime>
  <Words>1136</Words>
  <Application>Microsoft Macintosh PowerPoint</Application>
  <PresentationFormat>Widescreen</PresentationFormat>
  <Paragraphs>221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Courier New</vt:lpstr>
      <vt:lpstr>Poppins-Regular</vt:lpstr>
      <vt:lpstr>System Font Regular</vt:lpstr>
      <vt:lpstr>Tahoma</vt:lpstr>
      <vt:lpstr>Wingdings</vt:lpstr>
      <vt:lpstr>Office Theme</vt:lpstr>
      <vt:lpstr>GeoPops demonstration:  An open-source, adaptable framework for agent-based modeling on synthetic populations</vt:lpstr>
      <vt:lpstr>GeoPops</vt:lpstr>
      <vt:lpstr>MIDAS Notebook Tutorial </vt:lpstr>
      <vt:lpstr>Output: Agents and networks</vt:lpstr>
      <vt:lpstr>Methods: Generating agents and households</vt:lpstr>
      <vt:lpstr>Methods: Assigning agents to schools and workplaces</vt:lpstr>
      <vt:lpstr>PowerPoint Presentation</vt:lpstr>
      <vt:lpstr>Network visualizations for Howard County, MD</vt:lpstr>
      <vt:lpstr>GeoPops with Starsim</vt:lpstr>
      <vt:lpstr>Feedback vs No Feedback</vt:lpstr>
      <vt:lpstr>Outcome tracking by demographic subgroup</vt:lpstr>
      <vt:lpstr>Outcome tracking by geographic subgroup</vt:lpstr>
      <vt:lpstr>Why is this cool?!</vt:lpstr>
      <vt:lpstr>Conferences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Hamilton, Alisa</cp:lastModifiedBy>
  <cp:revision>6</cp:revision>
  <dcterms:created xsi:type="dcterms:W3CDTF">2024-10-15T20:38:39Z</dcterms:created>
  <dcterms:modified xsi:type="dcterms:W3CDTF">2025-10-28T19:26:41Z</dcterms:modified>
</cp:coreProperties>
</file>