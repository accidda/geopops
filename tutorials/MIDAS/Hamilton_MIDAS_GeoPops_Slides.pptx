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4" r:id="rId1"/>
  </p:sldMasterIdLst>
  <p:notesMasterIdLst>
    <p:notesMasterId r:id="rId18"/>
  </p:notesMasterIdLst>
  <p:sldIdLst>
    <p:sldId id="257" r:id="rId2"/>
    <p:sldId id="754" r:id="rId3"/>
    <p:sldId id="799" r:id="rId4"/>
    <p:sldId id="781" r:id="rId5"/>
    <p:sldId id="755" r:id="rId6"/>
    <p:sldId id="780" r:id="rId7"/>
    <p:sldId id="779" r:id="rId8"/>
    <p:sldId id="756" r:id="rId9"/>
    <p:sldId id="767" r:id="rId10"/>
    <p:sldId id="768" r:id="rId11"/>
    <p:sldId id="792" r:id="rId12"/>
    <p:sldId id="790" r:id="rId13"/>
    <p:sldId id="800" r:id="rId14"/>
    <p:sldId id="802" r:id="rId15"/>
    <p:sldId id="803" r:id="rId16"/>
    <p:sldId id="274"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195EC08-8DB9-FEFA-569C-667833E559DF}" name="Emi Siler" initials="ES" userId="S::esiler2@jh.edu::e48d811e-394a-45ee-8f51-4ebb5c64ec2e"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E97132"/>
    <a:srgbClr val="000000"/>
    <a:srgbClr val="EDF5EC"/>
    <a:srgbClr val="6AA0D2"/>
    <a:srgbClr val="43803D"/>
    <a:srgbClr val="72C472"/>
    <a:srgbClr val="00BD10"/>
    <a:srgbClr val="435A45"/>
    <a:srgbClr val="3D692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C46D5BD-16DF-5748-92E5-BCFA48BD30A9}" v="82" dt="2025-10-28T18:24:52.076"/>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050"/>
    <p:restoredTop sz="80560"/>
  </p:normalViewPr>
  <p:slideViewPr>
    <p:cSldViewPr snapToGrid="0">
      <p:cViewPr>
        <p:scale>
          <a:sx n="90" d="100"/>
          <a:sy n="90" d="100"/>
        </p:scale>
        <p:origin x="1216" y="1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59BD3D7-8444-4105-8ECC-C6DA00795A2A}" type="datetimeFigureOut">
              <a:t>10/28/25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F89DED9-3E66-456D-B62A-AD19FD879AEA}" type="slidenum">
              <a:t>‹#›</a:t>
            </a:fld>
            <a:endParaRPr lang="en-US"/>
          </a:p>
        </p:txBody>
      </p:sp>
    </p:spTree>
    <p:extLst>
      <p:ext uri="{BB962C8B-B14F-4D97-AF65-F5344CB8AC3E}">
        <p14:creationId xmlns:p14="http://schemas.microsoft.com/office/powerpoint/2010/main" val="40545025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64ED0D2-16ED-5547-8DC8-59573C5E7DB0}" type="slidenum">
              <a:rPr lang="en-US" smtClean="0"/>
              <a:t>1</a:t>
            </a:fld>
            <a:endParaRPr lang="en-US"/>
          </a:p>
        </p:txBody>
      </p:sp>
    </p:spTree>
    <p:extLst>
      <p:ext uri="{BB962C8B-B14F-4D97-AF65-F5344CB8AC3E}">
        <p14:creationId xmlns:p14="http://schemas.microsoft.com/office/powerpoint/2010/main" val="40818303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ea typeface="Calibri"/>
              <a:cs typeface="Calibri"/>
            </a:endParaRPr>
          </a:p>
        </p:txBody>
      </p:sp>
      <p:sp>
        <p:nvSpPr>
          <p:cNvPr id="4" name="Slide Number Placeholder 3"/>
          <p:cNvSpPr>
            <a:spLocks noGrp="1"/>
          </p:cNvSpPr>
          <p:nvPr>
            <p:ph type="sldNum" sz="quarter" idx="5"/>
          </p:nvPr>
        </p:nvSpPr>
        <p:spPr/>
        <p:txBody>
          <a:bodyPr/>
          <a:lstStyle/>
          <a:p>
            <a:fld id="{2F89DED9-3E66-456D-B62A-AD19FD879AEA}" type="slidenum">
              <a:rPr lang="en-US" smtClean="0"/>
              <a:t>2</a:t>
            </a:fld>
            <a:endParaRPr lang="en-US"/>
          </a:p>
        </p:txBody>
      </p:sp>
    </p:spTree>
    <p:extLst>
      <p:ext uri="{BB962C8B-B14F-4D97-AF65-F5344CB8AC3E}">
        <p14:creationId xmlns:p14="http://schemas.microsoft.com/office/powerpoint/2010/main" val="12866269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8AEE6-34A2-628B-2508-21CB094455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D1F597-5A7F-B41E-9E77-3333F467FDA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AD58733-51DB-80DA-60F3-560E41057851}"/>
              </a:ext>
            </a:extLst>
          </p:cNvPr>
          <p:cNvSpPr>
            <a:spLocks noGrp="1"/>
          </p:cNvSpPr>
          <p:nvPr>
            <p:ph type="body" idx="1"/>
          </p:nvPr>
        </p:nvSpPr>
        <p:spPr/>
        <p:txBody>
          <a:bodyPr/>
          <a:lstStyle/>
          <a:p>
            <a:endParaRPr lang="en-US">
              <a:ea typeface="Calibri"/>
              <a:cs typeface="Calibri"/>
            </a:endParaRPr>
          </a:p>
        </p:txBody>
      </p:sp>
      <p:sp>
        <p:nvSpPr>
          <p:cNvPr id="4" name="Slide Number Placeholder 3">
            <a:extLst>
              <a:ext uri="{FF2B5EF4-FFF2-40B4-BE49-F238E27FC236}">
                <a16:creationId xmlns:a16="http://schemas.microsoft.com/office/drawing/2014/main" id="{1E5751FA-5BB8-01F7-21B2-CB1802D22E53}"/>
              </a:ext>
            </a:extLst>
          </p:cNvPr>
          <p:cNvSpPr>
            <a:spLocks noGrp="1"/>
          </p:cNvSpPr>
          <p:nvPr>
            <p:ph type="sldNum" sz="quarter" idx="5"/>
          </p:nvPr>
        </p:nvSpPr>
        <p:spPr/>
        <p:txBody>
          <a:bodyPr/>
          <a:lstStyle/>
          <a:p>
            <a:fld id="{2F89DED9-3E66-456D-B62A-AD19FD879AEA}" type="slidenum">
              <a:rPr lang="en-US" smtClean="0"/>
              <a:t>3</a:t>
            </a:fld>
            <a:endParaRPr lang="en-US"/>
          </a:p>
        </p:txBody>
      </p:sp>
    </p:spTree>
    <p:extLst>
      <p:ext uri="{BB962C8B-B14F-4D97-AF65-F5344CB8AC3E}">
        <p14:creationId xmlns:p14="http://schemas.microsoft.com/office/powerpoint/2010/main" val="15602896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06C6EE-920C-E41E-0DDE-A472939017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BAC738-A71E-96D1-FE25-DC4D2FC7629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06D5DE-F2CD-6EA3-521C-2A5014C0B037}"/>
              </a:ext>
            </a:extLst>
          </p:cNvPr>
          <p:cNvSpPr>
            <a:spLocks noGrp="1"/>
          </p:cNvSpPr>
          <p:nvPr>
            <p:ph type="body" idx="1"/>
          </p:nvPr>
        </p:nvSpPr>
        <p:spPr/>
        <p:txBody>
          <a:bodyPr/>
          <a:lstStyle/>
          <a:p>
            <a:r>
              <a:rPr lang="en-US"/>
              <a:t>The population is made up of agents with demographic characteristics that are spatially connected in a way that reasonably approximates your area of interest. Then you can project disease outcomes by demographic group or geographic location, which is very useful for scenario modeling and testing out different interventions or policies.</a:t>
            </a:r>
          </a:p>
        </p:txBody>
      </p:sp>
      <p:sp>
        <p:nvSpPr>
          <p:cNvPr id="4" name="Slide Number Placeholder 3">
            <a:extLst>
              <a:ext uri="{FF2B5EF4-FFF2-40B4-BE49-F238E27FC236}">
                <a16:creationId xmlns:a16="http://schemas.microsoft.com/office/drawing/2014/main" id="{B511C864-2A73-F6EB-DA5D-80EFA173933D}"/>
              </a:ext>
            </a:extLst>
          </p:cNvPr>
          <p:cNvSpPr>
            <a:spLocks noGrp="1"/>
          </p:cNvSpPr>
          <p:nvPr>
            <p:ph type="sldNum" sz="quarter" idx="5"/>
          </p:nvPr>
        </p:nvSpPr>
        <p:spPr/>
        <p:txBody>
          <a:bodyPr/>
          <a:lstStyle/>
          <a:p>
            <a:fld id="{2F89DED9-3E66-456D-B62A-AD19FD879AEA}" type="slidenum">
              <a:rPr lang="en-US" smtClean="0"/>
              <a:t>4</a:t>
            </a:fld>
            <a:endParaRPr lang="en-US"/>
          </a:p>
        </p:txBody>
      </p:sp>
    </p:spTree>
    <p:extLst>
      <p:ext uri="{BB962C8B-B14F-4D97-AF65-F5344CB8AC3E}">
        <p14:creationId xmlns:p14="http://schemas.microsoft.com/office/powerpoint/2010/main" val="35112296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Can use a method called CO to sample households from the PUMS data until a set is found that matches the Census data for the region and demographic characteristics you’ve specified.</a:t>
            </a:r>
          </a:p>
        </p:txBody>
      </p:sp>
      <p:sp>
        <p:nvSpPr>
          <p:cNvPr id="4" name="Slide Number Placeholder 3"/>
          <p:cNvSpPr>
            <a:spLocks noGrp="1"/>
          </p:cNvSpPr>
          <p:nvPr>
            <p:ph type="sldNum" sz="quarter" idx="5"/>
          </p:nvPr>
        </p:nvSpPr>
        <p:spPr/>
        <p:txBody>
          <a:bodyPr/>
          <a:lstStyle/>
          <a:p>
            <a:fld id="{2F89DED9-3E66-456D-B62A-AD19FD879AEA}" type="slidenum">
              <a:rPr lang="en-US" smtClean="0"/>
              <a:t>5</a:t>
            </a:fld>
            <a:endParaRPr lang="en-US"/>
          </a:p>
        </p:txBody>
      </p:sp>
    </p:spTree>
    <p:extLst>
      <p:ext uri="{BB962C8B-B14F-4D97-AF65-F5344CB8AC3E}">
        <p14:creationId xmlns:p14="http://schemas.microsoft.com/office/powerpoint/2010/main" val="25355714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F8712E-FB4C-DE91-5DA3-AB40CCC36C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FD11AB-38BE-7987-7229-BA9A8521FAD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1749978-31EF-EBAC-CE98-02C57FECA27E}"/>
              </a:ext>
            </a:extLst>
          </p:cNvPr>
          <p:cNvSpPr>
            <a:spLocks noGrp="1"/>
          </p:cNvSpPr>
          <p:nvPr>
            <p:ph type="body" idx="1"/>
          </p:nvPr>
        </p:nvSpPr>
        <p:spPr/>
        <p:txBody>
          <a:bodyPr/>
          <a:lstStyle/>
          <a:p>
            <a:r>
              <a:rPr lang="en-US"/>
              <a:t>Data from NCES on student and staff counts for each grade level in public schools was used to assign children to schools.</a:t>
            </a:r>
          </a:p>
          <a:p>
            <a:r>
              <a:rPr lang="en-US"/>
              <a:t>Data on origin-destination and workplace characteristics from LEHD were used to assign workers to workplaces.</a:t>
            </a:r>
          </a:p>
        </p:txBody>
      </p:sp>
      <p:sp>
        <p:nvSpPr>
          <p:cNvPr id="4" name="Slide Number Placeholder 3">
            <a:extLst>
              <a:ext uri="{FF2B5EF4-FFF2-40B4-BE49-F238E27FC236}">
                <a16:creationId xmlns:a16="http://schemas.microsoft.com/office/drawing/2014/main" id="{7F6AF23A-3993-0D19-3D6D-DC294AA544DB}"/>
              </a:ext>
            </a:extLst>
          </p:cNvPr>
          <p:cNvSpPr>
            <a:spLocks noGrp="1"/>
          </p:cNvSpPr>
          <p:nvPr>
            <p:ph type="sldNum" sz="quarter" idx="5"/>
          </p:nvPr>
        </p:nvSpPr>
        <p:spPr/>
        <p:txBody>
          <a:bodyPr/>
          <a:lstStyle/>
          <a:p>
            <a:fld id="{2F89DED9-3E66-456D-B62A-AD19FD879AEA}" type="slidenum">
              <a:rPr lang="en-US" smtClean="0"/>
              <a:t>6</a:t>
            </a:fld>
            <a:endParaRPr lang="en-US"/>
          </a:p>
        </p:txBody>
      </p:sp>
    </p:spTree>
    <p:extLst>
      <p:ext uri="{BB962C8B-B14F-4D97-AF65-F5344CB8AC3E}">
        <p14:creationId xmlns:p14="http://schemas.microsoft.com/office/powerpoint/2010/main" val="41899764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1BFBB-BC46-8F9C-9AC9-5E988336F3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1299A7-1FDC-D192-7F7F-9B5E47BA2DA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9AE3CE2-7E15-21D5-D2D6-EBC1745AF20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43001F2-D822-9161-39DF-C0FC63117992}"/>
              </a:ext>
            </a:extLst>
          </p:cNvPr>
          <p:cNvSpPr>
            <a:spLocks noGrp="1"/>
          </p:cNvSpPr>
          <p:nvPr>
            <p:ph type="sldNum" sz="quarter" idx="5"/>
          </p:nvPr>
        </p:nvSpPr>
        <p:spPr/>
        <p:txBody>
          <a:bodyPr/>
          <a:lstStyle/>
          <a:p>
            <a:fld id="{2F89DED9-3E66-456D-B62A-AD19FD879AEA}" type="slidenum">
              <a:rPr lang="en-US" smtClean="0"/>
              <a:t>7</a:t>
            </a:fld>
            <a:endParaRPr lang="en-US"/>
          </a:p>
        </p:txBody>
      </p:sp>
    </p:spTree>
    <p:extLst>
      <p:ext uri="{BB962C8B-B14F-4D97-AF65-F5344CB8AC3E}">
        <p14:creationId xmlns:p14="http://schemas.microsoft.com/office/powerpoint/2010/main" val="19683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Alisa</a:t>
            </a:r>
          </a:p>
        </p:txBody>
      </p:sp>
      <p:sp>
        <p:nvSpPr>
          <p:cNvPr id="4" name="Slide Number Placeholder 3"/>
          <p:cNvSpPr>
            <a:spLocks noGrp="1"/>
          </p:cNvSpPr>
          <p:nvPr>
            <p:ph type="sldNum" sz="quarter" idx="5"/>
          </p:nvPr>
        </p:nvSpPr>
        <p:spPr/>
        <p:txBody>
          <a:bodyPr/>
          <a:lstStyle/>
          <a:p>
            <a:fld id="{2F89DED9-3E66-456D-B62A-AD19FD879AEA}" type="slidenum">
              <a:rPr lang="en-US" smtClean="0"/>
              <a:t>8</a:t>
            </a:fld>
            <a:endParaRPr lang="en-US"/>
          </a:p>
        </p:txBody>
      </p:sp>
    </p:spTree>
    <p:extLst>
      <p:ext uri="{BB962C8B-B14F-4D97-AF65-F5344CB8AC3E}">
        <p14:creationId xmlns:p14="http://schemas.microsoft.com/office/powerpoint/2010/main" val="25141101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We used </a:t>
            </a:r>
            <a:r>
              <a:rPr lang="en-US" err="1"/>
              <a:t>Covasim</a:t>
            </a:r>
            <a:r>
              <a:rPr lang="en-US"/>
              <a:t>-G, a method for processing the synthetic population files for Howard County in a format readable by </a:t>
            </a:r>
            <a:r>
              <a:rPr lang="en-US" err="1"/>
              <a:t>Covasim</a:t>
            </a:r>
            <a:r>
              <a:rPr lang="en-US"/>
              <a:t>, an open-source agent-based model for COVID-19 transmission. Main assumptions…..</a:t>
            </a:r>
          </a:p>
        </p:txBody>
      </p:sp>
      <p:sp>
        <p:nvSpPr>
          <p:cNvPr id="4" name="Slide Number Placeholder 3"/>
          <p:cNvSpPr>
            <a:spLocks noGrp="1"/>
          </p:cNvSpPr>
          <p:nvPr>
            <p:ph type="sldNum" sz="quarter" idx="5"/>
          </p:nvPr>
        </p:nvSpPr>
        <p:spPr/>
        <p:txBody>
          <a:bodyPr/>
          <a:lstStyle/>
          <a:p>
            <a:fld id="{2F89DED9-3E66-456D-B62A-AD19FD879AEA}" type="slidenum">
              <a:rPr lang="en-US" smtClean="0"/>
              <a:t>9</a:t>
            </a:fld>
            <a:endParaRPr lang="en-US"/>
          </a:p>
        </p:txBody>
      </p:sp>
    </p:spTree>
    <p:extLst>
      <p:ext uri="{BB962C8B-B14F-4D97-AF65-F5344CB8AC3E}">
        <p14:creationId xmlns:p14="http://schemas.microsoft.com/office/powerpoint/2010/main" val="422695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Abby</a:t>
            </a:r>
          </a:p>
        </p:txBody>
      </p:sp>
      <p:sp>
        <p:nvSpPr>
          <p:cNvPr id="4" name="Slide Number Placeholder 3"/>
          <p:cNvSpPr>
            <a:spLocks noGrp="1"/>
          </p:cNvSpPr>
          <p:nvPr>
            <p:ph type="sldNum" sz="quarter" idx="5"/>
          </p:nvPr>
        </p:nvSpPr>
        <p:spPr/>
        <p:txBody>
          <a:bodyPr/>
          <a:lstStyle/>
          <a:p>
            <a:fld id="{2F89DED9-3E66-456D-B62A-AD19FD879AEA}" type="slidenum">
              <a:rPr lang="en-US" smtClean="0"/>
              <a:t>10</a:t>
            </a:fld>
            <a:endParaRPr lang="en-US"/>
          </a:p>
        </p:txBody>
      </p:sp>
    </p:spTree>
    <p:extLst>
      <p:ext uri="{BB962C8B-B14F-4D97-AF65-F5344CB8AC3E}">
        <p14:creationId xmlns:p14="http://schemas.microsoft.com/office/powerpoint/2010/main" val="28583717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41293-623E-6AB0-8006-8F64BC5810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680E0F-CDA7-EB0D-842C-0DFA0CC6FC4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DD5D8DF-DFF0-D92B-BB37-D1F64D46DB3F}"/>
              </a:ext>
            </a:extLst>
          </p:cNvPr>
          <p:cNvSpPr>
            <a:spLocks noGrp="1"/>
          </p:cNvSpPr>
          <p:nvPr>
            <p:ph type="body" idx="1"/>
          </p:nvPr>
        </p:nvSpPr>
        <p:spPr/>
        <p:txBody>
          <a:bodyPr/>
          <a:lstStyle/>
          <a:p>
            <a:r>
              <a:rPr lang="en-US"/>
              <a:t>Abby</a:t>
            </a:r>
          </a:p>
        </p:txBody>
      </p:sp>
      <p:sp>
        <p:nvSpPr>
          <p:cNvPr id="4" name="Slide Number Placeholder 3">
            <a:extLst>
              <a:ext uri="{FF2B5EF4-FFF2-40B4-BE49-F238E27FC236}">
                <a16:creationId xmlns:a16="http://schemas.microsoft.com/office/drawing/2014/main" id="{B173710D-A387-D8D1-0E6E-5014A6BEEE44}"/>
              </a:ext>
            </a:extLst>
          </p:cNvPr>
          <p:cNvSpPr>
            <a:spLocks noGrp="1"/>
          </p:cNvSpPr>
          <p:nvPr>
            <p:ph type="sldNum" sz="quarter" idx="5"/>
          </p:nvPr>
        </p:nvSpPr>
        <p:spPr/>
        <p:txBody>
          <a:bodyPr/>
          <a:lstStyle/>
          <a:p>
            <a:fld id="{2F89DED9-3E66-456D-B62A-AD19FD879AEA}" type="slidenum">
              <a:rPr lang="en-US" smtClean="0"/>
              <a:t>11</a:t>
            </a:fld>
            <a:endParaRPr lang="en-US"/>
          </a:p>
        </p:txBody>
      </p:sp>
    </p:spTree>
    <p:extLst>
      <p:ext uri="{BB962C8B-B14F-4D97-AF65-F5344CB8AC3E}">
        <p14:creationId xmlns:p14="http://schemas.microsoft.com/office/powerpoint/2010/main" val="276586362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3F81C4-E76B-EC6E-4514-FE56412399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7051B4-A7BC-B2C2-1E50-31F90F9E6AD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0D44BC9-C469-84FC-7E98-E66770D2E7F0}"/>
              </a:ext>
            </a:extLst>
          </p:cNvPr>
          <p:cNvSpPr>
            <a:spLocks noGrp="1"/>
          </p:cNvSpPr>
          <p:nvPr>
            <p:ph type="body" idx="1"/>
          </p:nvPr>
        </p:nvSpPr>
        <p:spPr/>
        <p:txBody>
          <a:bodyPr/>
          <a:lstStyle/>
          <a:p>
            <a:r>
              <a:rPr lang="en-US"/>
              <a:t>Abby</a:t>
            </a:r>
          </a:p>
        </p:txBody>
      </p:sp>
      <p:sp>
        <p:nvSpPr>
          <p:cNvPr id="4" name="Slide Number Placeholder 3">
            <a:extLst>
              <a:ext uri="{FF2B5EF4-FFF2-40B4-BE49-F238E27FC236}">
                <a16:creationId xmlns:a16="http://schemas.microsoft.com/office/drawing/2014/main" id="{0F9F7A50-C18D-D585-4A8F-80B305FCF2A5}"/>
              </a:ext>
            </a:extLst>
          </p:cNvPr>
          <p:cNvSpPr>
            <a:spLocks noGrp="1"/>
          </p:cNvSpPr>
          <p:nvPr>
            <p:ph type="sldNum" sz="quarter" idx="5"/>
          </p:nvPr>
        </p:nvSpPr>
        <p:spPr/>
        <p:txBody>
          <a:bodyPr/>
          <a:lstStyle/>
          <a:p>
            <a:fld id="{2F89DED9-3E66-456D-B62A-AD19FD879AEA}" type="slidenum">
              <a:rPr lang="en-US" smtClean="0"/>
              <a:t>12</a:t>
            </a:fld>
            <a:endParaRPr lang="en-US"/>
          </a:p>
        </p:txBody>
      </p:sp>
    </p:spTree>
    <p:extLst>
      <p:ext uri="{BB962C8B-B14F-4D97-AF65-F5344CB8AC3E}">
        <p14:creationId xmlns:p14="http://schemas.microsoft.com/office/powerpoint/2010/main" val="17759025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6CFEE-7963-7037-AA0D-47E7D23747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A167D8-3CC1-5EC6-7E6A-A77FA5000C5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629261D-2F82-A163-C62B-1E4B550AFD61}"/>
              </a:ext>
            </a:extLst>
          </p:cNvPr>
          <p:cNvSpPr>
            <a:spLocks noGrp="1"/>
          </p:cNvSpPr>
          <p:nvPr>
            <p:ph type="body" idx="1"/>
          </p:nvPr>
        </p:nvSpPr>
        <p:spPr/>
        <p:txBody>
          <a:bodyPr/>
          <a:lstStyle/>
          <a:p>
            <a:r>
              <a:rPr lang="en-US"/>
              <a:t>Abby</a:t>
            </a:r>
          </a:p>
        </p:txBody>
      </p:sp>
      <p:sp>
        <p:nvSpPr>
          <p:cNvPr id="4" name="Slide Number Placeholder 3">
            <a:extLst>
              <a:ext uri="{FF2B5EF4-FFF2-40B4-BE49-F238E27FC236}">
                <a16:creationId xmlns:a16="http://schemas.microsoft.com/office/drawing/2014/main" id="{4C9F031D-AA0C-7731-A80A-BE25EBFE2752}"/>
              </a:ext>
            </a:extLst>
          </p:cNvPr>
          <p:cNvSpPr>
            <a:spLocks noGrp="1"/>
          </p:cNvSpPr>
          <p:nvPr>
            <p:ph type="sldNum" sz="quarter" idx="5"/>
          </p:nvPr>
        </p:nvSpPr>
        <p:spPr/>
        <p:txBody>
          <a:bodyPr/>
          <a:lstStyle/>
          <a:p>
            <a:fld id="{2F89DED9-3E66-456D-B62A-AD19FD879AEA}" type="slidenum">
              <a:rPr lang="en-US" smtClean="0"/>
              <a:t>13</a:t>
            </a:fld>
            <a:endParaRPr lang="en-US"/>
          </a:p>
        </p:txBody>
      </p:sp>
    </p:spTree>
    <p:extLst>
      <p:ext uri="{BB962C8B-B14F-4D97-AF65-F5344CB8AC3E}">
        <p14:creationId xmlns:p14="http://schemas.microsoft.com/office/powerpoint/2010/main" val="30869714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DE4925-C35D-576E-B59C-C256DFBC0E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4F4F83-EB13-51AD-96F1-C7987279CEE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BD32745-548A-5479-9ADE-667DCA8280A7}"/>
              </a:ext>
            </a:extLst>
          </p:cNvPr>
          <p:cNvSpPr>
            <a:spLocks noGrp="1"/>
          </p:cNvSpPr>
          <p:nvPr>
            <p:ph type="body" idx="1"/>
          </p:nvPr>
        </p:nvSpPr>
        <p:spPr/>
        <p:txBody>
          <a:bodyPr/>
          <a:lstStyle/>
          <a:p>
            <a:r>
              <a:rPr lang="en-US"/>
              <a:t>Abby</a:t>
            </a:r>
          </a:p>
        </p:txBody>
      </p:sp>
      <p:sp>
        <p:nvSpPr>
          <p:cNvPr id="4" name="Slide Number Placeholder 3">
            <a:extLst>
              <a:ext uri="{FF2B5EF4-FFF2-40B4-BE49-F238E27FC236}">
                <a16:creationId xmlns:a16="http://schemas.microsoft.com/office/drawing/2014/main" id="{FBEFFA12-DAF2-641C-CE8E-0A46F6DCE42F}"/>
              </a:ext>
            </a:extLst>
          </p:cNvPr>
          <p:cNvSpPr>
            <a:spLocks noGrp="1"/>
          </p:cNvSpPr>
          <p:nvPr>
            <p:ph type="sldNum" sz="quarter" idx="5"/>
          </p:nvPr>
        </p:nvSpPr>
        <p:spPr/>
        <p:txBody>
          <a:bodyPr/>
          <a:lstStyle/>
          <a:p>
            <a:fld id="{2F89DED9-3E66-456D-B62A-AD19FD879AEA}" type="slidenum">
              <a:rPr lang="en-US" smtClean="0"/>
              <a:t>14</a:t>
            </a:fld>
            <a:endParaRPr lang="en-US"/>
          </a:p>
        </p:txBody>
      </p:sp>
    </p:spTree>
    <p:extLst>
      <p:ext uri="{BB962C8B-B14F-4D97-AF65-F5344CB8AC3E}">
        <p14:creationId xmlns:p14="http://schemas.microsoft.com/office/powerpoint/2010/main" val="31788256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E9742-7F67-403B-43C0-2B430186A9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941540-FEB9-C7FC-2866-5EDBE6EBA23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B3D454A-7E9F-311D-C139-E2C2FE03416E}"/>
              </a:ext>
            </a:extLst>
          </p:cNvPr>
          <p:cNvSpPr>
            <a:spLocks noGrp="1"/>
          </p:cNvSpPr>
          <p:nvPr>
            <p:ph type="body" idx="1"/>
          </p:nvPr>
        </p:nvSpPr>
        <p:spPr/>
        <p:txBody>
          <a:bodyPr/>
          <a:lstStyle/>
          <a:p>
            <a:r>
              <a:rPr lang="en-US"/>
              <a:t>Abby</a:t>
            </a:r>
          </a:p>
        </p:txBody>
      </p:sp>
      <p:sp>
        <p:nvSpPr>
          <p:cNvPr id="4" name="Slide Number Placeholder 3">
            <a:extLst>
              <a:ext uri="{FF2B5EF4-FFF2-40B4-BE49-F238E27FC236}">
                <a16:creationId xmlns:a16="http://schemas.microsoft.com/office/drawing/2014/main" id="{EC6347BA-7CBF-226A-A2A1-090193808B27}"/>
              </a:ext>
            </a:extLst>
          </p:cNvPr>
          <p:cNvSpPr>
            <a:spLocks noGrp="1"/>
          </p:cNvSpPr>
          <p:nvPr>
            <p:ph type="sldNum" sz="quarter" idx="5"/>
          </p:nvPr>
        </p:nvSpPr>
        <p:spPr/>
        <p:txBody>
          <a:bodyPr/>
          <a:lstStyle/>
          <a:p>
            <a:fld id="{2F89DED9-3E66-456D-B62A-AD19FD879AEA}" type="slidenum">
              <a:rPr lang="en-US" smtClean="0"/>
              <a:t>15</a:t>
            </a:fld>
            <a:endParaRPr lang="en-US"/>
          </a:p>
        </p:txBody>
      </p:sp>
    </p:spTree>
    <p:extLst>
      <p:ext uri="{BB962C8B-B14F-4D97-AF65-F5344CB8AC3E}">
        <p14:creationId xmlns:p14="http://schemas.microsoft.com/office/powerpoint/2010/main" val="32330932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C764DE79-268F-4C1A-8933-263129D2AF90}" type="datetimeFigureOut">
              <a:rPr lang="en-US" dirty="0"/>
              <a:t>10/28/25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2524489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64DE79-268F-4C1A-8933-263129D2AF90}" type="datetimeFigureOut">
              <a:rPr lang="en-US" dirty="0"/>
              <a:t>10/28/25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5754674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dirty="0"/>
              <a:t>10/28/25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8114191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C764DE79-268F-4C1A-8933-263129D2AF90}" type="datetimeFigureOut">
              <a:rPr lang="en-US" dirty="0"/>
              <a:t>10/28/25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4547895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C764DE79-268F-4C1A-8933-263129D2AF90}" type="datetimeFigureOut">
              <a:rPr lang="en-US" dirty="0"/>
              <a:t>10/28/25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9213746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764DE79-268F-4C1A-8933-263129D2AF90}" type="datetimeFigureOut">
              <a:rPr lang="en-US" dirty="0"/>
              <a:t>10/28/25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5136505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10/28/25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2574537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10/28/25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1020435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10/28/25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0350068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64DE79-268F-4C1A-8933-263129D2AF90}" type="datetimeFigureOut">
              <a:rPr lang="en-US" dirty="0"/>
              <a:t>10/28/25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28168458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64DE79-268F-4C1A-8933-263129D2AF90}" type="datetimeFigureOut">
              <a:rPr lang="en-US" dirty="0"/>
              <a:t>10/28/25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810484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nd Bullets">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54A0AA2-B636-401F-B58B-6DF5349EBC51}"/>
              </a:ext>
            </a:extLst>
          </p:cNvPr>
          <p:cNvSpPr>
            <a:spLocks noGrp="1"/>
          </p:cNvSpPr>
          <p:nvPr>
            <p:ph type="title" hasCustomPrompt="1"/>
          </p:nvPr>
        </p:nvSpPr>
        <p:spPr>
          <a:xfrm>
            <a:off x="711893" y="142826"/>
            <a:ext cx="10780553" cy="1143389"/>
          </a:xfrm>
          <a:prstGeom prst="rect">
            <a:avLst/>
          </a:prstGeom>
        </p:spPr>
        <p:txBody>
          <a:bodyPr anchor="b"/>
          <a:lstStyle>
            <a:lvl1pPr>
              <a:defRPr sz="4000" b="1">
                <a:solidFill>
                  <a:schemeClr val="tx2"/>
                </a:solidFill>
              </a:defRPr>
            </a:lvl1pPr>
          </a:lstStyle>
          <a:p>
            <a:r>
              <a:rPr lang="en-US" noProof="0"/>
              <a:t>Click to add title</a:t>
            </a:r>
          </a:p>
        </p:txBody>
      </p:sp>
      <p:sp>
        <p:nvSpPr>
          <p:cNvPr id="11" name="Rectangle 10">
            <a:extLst>
              <a:ext uri="{FF2B5EF4-FFF2-40B4-BE49-F238E27FC236}">
                <a16:creationId xmlns:a16="http://schemas.microsoft.com/office/drawing/2014/main" id="{20414BC9-864B-4D63-BFF5-8A26BC6E5477}"/>
              </a:ext>
              <a:ext uri="{C183D7F6-B498-43B3-948B-1728B52AA6E4}">
                <adec:decorative xmlns:adec="http://schemas.microsoft.com/office/drawing/2017/decorative" val="1"/>
              </a:ext>
            </a:extLst>
          </p:cNvPr>
          <p:cNvSpPr/>
          <p:nvPr userDrawn="1"/>
        </p:nvSpPr>
        <p:spPr>
          <a:xfrm>
            <a:off x="853440" y="1287499"/>
            <a:ext cx="1037573" cy="137787"/>
          </a:xfrm>
          <a:prstGeom prst="rect">
            <a:avLst/>
          </a:prstGeom>
          <a:solidFill>
            <a:srgbClr val="69ACE5"/>
          </a:solidFill>
          <a:ln w="12700" cap="flat" cmpd="sng" algn="ctr">
            <a:noFill/>
            <a:prstDash val="solid"/>
            <a:miter lim="800000"/>
          </a:ln>
          <a:effectLst/>
        </p:spPr>
        <p:txBody>
          <a:bodyPr rtlCol="0" anchor="ctr"/>
          <a:lstStyle/>
          <a:p>
            <a:pPr marL="0" marR="0" lvl="0" indent="0" algn="ctr" defTabSz="914377"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0" name="Bullets">
            <a:extLst>
              <a:ext uri="{FF2B5EF4-FFF2-40B4-BE49-F238E27FC236}">
                <a16:creationId xmlns:a16="http://schemas.microsoft.com/office/drawing/2014/main" id="{489A78E5-4DD4-4398-92E6-73293FB04D0D}"/>
              </a:ext>
            </a:extLst>
          </p:cNvPr>
          <p:cNvSpPr>
            <a:spLocks noGrp="1"/>
          </p:cNvSpPr>
          <p:nvPr userDrawn="1">
            <p:ph type="body" sz="quarter" idx="16" hasCustomPrompt="1"/>
          </p:nvPr>
        </p:nvSpPr>
        <p:spPr>
          <a:xfrm>
            <a:off x="711893" y="1854201"/>
            <a:ext cx="10780553" cy="4103431"/>
          </a:xfrm>
          <a:prstGeom prst="rect">
            <a:avLst/>
          </a:prstGeom>
        </p:spPr>
        <p:txBody>
          <a:bodyPr>
            <a:noAutofit/>
          </a:bodyPr>
          <a:lstStyle>
            <a:lvl1pPr marL="306910" indent="-306910">
              <a:spcBef>
                <a:spcPts val="1000"/>
              </a:spcBef>
              <a:buClr>
                <a:srgbClr val="092C74"/>
              </a:buClr>
              <a:buFont typeface="Wingdings" panose="05000000000000000000" pitchFamily="2" charset="2"/>
              <a:buChar char="§"/>
              <a:defRPr sz="2133" b="0">
                <a:solidFill>
                  <a:schemeClr val="tx1"/>
                </a:solidFill>
                <a:latin typeface="Tahoma" panose="020B0604030504040204" pitchFamily="34" charset="0"/>
                <a:ea typeface="Tahoma" panose="020B0604030504040204" pitchFamily="34" charset="0"/>
                <a:cs typeface="Tahoma" panose="020B0604030504040204" pitchFamily="34" charset="0"/>
              </a:defRPr>
            </a:lvl1pPr>
            <a:lvl2pPr marL="761981" indent="-304792">
              <a:buClr>
                <a:srgbClr val="092C74"/>
              </a:buClr>
              <a:buFont typeface="Courier New" panose="02070309020205020404" pitchFamily="49" charset="0"/>
              <a:buChar char="o"/>
              <a:defRPr sz="2133"/>
            </a:lvl2pPr>
            <a:lvl3pPr marL="1219170" indent="-304792">
              <a:buClr>
                <a:srgbClr val="092C74"/>
              </a:buClr>
              <a:defRPr sz="2133"/>
            </a:lvl3pPr>
          </a:lstStyle>
          <a:p>
            <a:pPr lvl="0"/>
            <a:r>
              <a:rPr lang="en-US" noProof="0"/>
              <a:t>Click to add bullets</a:t>
            </a:r>
          </a:p>
          <a:p>
            <a:pPr lvl="1"/>
            <a:r>
              <a:rPr lang="en-US" noProof="0"/>
              <a:t>Second level</a:t>
            </a:r>
          </a:p>
          <a:p>
            <a:pPr lvl="2"/>
            <a:r>
              <a:rPr lang="en-US" noProof="0"/>
              <a:t>Third level</a:t>
            </a:r>
          </a:p>
        </p:txBody>
      </p:sp>
      <p:pic>
        <p:nvPicPr>
          <p:cNvPr id="8" name="WSE logo">
            <a:extLst>
              <a:ext uri="{FF2B5EF4-FFF2-40B4-BE49-F238E27FC236}">
                <a16:creationId xmlns:a16="http://schemas.microsoft.com/office/drawing/2014/main" id="{5F712F24-2ADD-4B4F-B20F-5AF8A0644F0E}"/>
              </a:ext>
              <a:ext uri="{C183D7F6-B498-43B3-948B-1728B52AA6E4}">
                <adec:decorative xmlns:adec="http://schemas.microsoft.com/office/drawing/2017/decorative" val="1"/>
              </a:ext>
            </a:extLst>
          </p:cNvPr>
          <p:cNvPicPr>
            <a:picLocks noChangeAspect="1"/>
          </p:cNvPicPr>
          <p:nvPr userDrawn="1"/>
        </p:nvPicPr>
        <p:blipFill rotWithShape="1">
          <a:blip r:embed="rId2">
            <a:clrChange>
              <a:clrFrom>
                <a:srgbClr val="000000">
                  <a:alpha val="0"/>
                </a:srgbClr>
              </a:clrFrom>
              <a:clrTo>
                <a:srgbClr val="000000">
                  <a:alpha val="0"/>
                </a:srgbClr>
              </a:clrTo>
            </a:clrChange>
            <a:alphaModFix amt="50000"/>
            <a:extLst>
              <a:ext uri="{28A0092B-C50C-407E-A947-70E740481C1C}">
                <a14:useLocalDpi xmlns:a14="http://schemas.microsoft.com/office/drawing/2010/main" val="0"/>
              </a:ext>
            </a:extLst>
          </a:blip>
          <a:srcRect l="12472" t="27464" r="12906" b="27019"/>
          <a:stretch/>
        </p:blipFill>
        <p:spPr>
          <a:xfrm>
            <a:off x="696950" y="6407120"/>
            <a:ext cx="1377375" cy="381160"/>
          </a:xfrm>
          <a:prstGeom prst="rect">
            <a:avLst/>
          </a:prstGeom>
        </p:spPr>
      </p:pic>
      <p:sp>
        <p:nvSpPr>
          <p:cNvPr id="7" name="Page Number">
            <a:extLst>
              <a:ext uri="{FF2B5EF4-FFF2-40B4-BE49-F238E27FC236}">
                <a16:creationId xmlns:a16="http://schemas.microsoft.com/office/drawing/2014/main" id="{A10FF969-5C1A-4F23-A07F-2B9FBF69C84B}"/>
              </a:ext>
            </a:extLst>
          </p:cNvPr>
          <p:cNvSpPr txBox="1"/>
          <p:nvPr userDrawn="1"/>
        </p:nvSpPr>
        <p:spPr>
          <a:xfrm>
            <a:off x="10521949" y="6480226"/>
            <a:ext cx="1060451" cy="234951"/>
          </a:xfrm>
          <a:prstGeom prst="rect">
            <a:avLst/>
          </a:prstGeom>
        </p:spPr>
        <p:txBody>
          <a:bodyPr wrap="none" anchor="ctr" anchorCtr="1">
            <a:no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defTabSz="457200" fontAlgn="base">
              <a:spcBef>
                <a:spcPct val="0"/>
              </a:spcBef>
              <a:spcAft>
                <a:spcPct val="0"/>
              </a:spcAft>
              <a:defRPr>
                <a:solidFill>
                  <a:schemeClr val="tx1"/>
                </a:solidFill>
                <a:latin typeface="Arial" charset="0"/>
              </a:defRPr>
            </a:lvl6pPr>
            <a:lvl7pPr marL="2971800" indent="-228600" defTabSz="457200" fontAlgn="base">
              <a:spcBef>
                <a:spcPct val="0"/>
              </a:spcBef>
              <a:spcAft>
                <a:spcPct val="0"/>
              </a:spcAft>
              <a:defRPr>
                <a:solidFill>
                  <a:schemeClr val="tx1"/>
                </a:solidFill>
                <a:latin typeface="Arial" charset="0"/>
              </a:defRPr>
            </a:lvl7pPr>
            <a:lvl8pPr marL="3429000" indent="-228600" defTabSz="457200" fontAlgn="base">
              <a:spcBef>
                <a:spcPct val="0"/>
              </a:spcBef>
              <a:spcAft>
                <a:spcPct val="0"/>
              </a:spcAft>
              <a:defRPr>
                <a:solidFill>
                  <a:schemeClr val="tx1"/>
                </a:solidFill>
                <a:latin typeface="Arial" charset="0"/>
              </a:defRPr>
            </a:lvl8pPr>
            <a:lvl9pPr marL="3886200" indent="-228600" defTabSz="457200" fontAlgn="base">
              <a:spcBef>
                <a:spcPct val="0"/>
              </a:spcBef>
              <a:spcAft>
                <a:spcPct val="0"/>
              </a:spcAft>
              <a:defRPr>
                <a:solidFill>
                  <a:schemeClr val="tx1"/>
                </a:solidFill>
                <a:latin typeface="Arial" charset="0"/>
              </a:defRPr>
            </a:lvl9pPr>
          </a:lstStyle>
          <a:p>
            <a:pPr algn="r" defTabSz="914354">
              <a:defRPr/>
            </a:pPr>
            <a:r>
              <a:rPr lang="en-US" sz="1333" b="1" baseline="0">
                <a:solidFill>
                  <a:schemeClr val="tx1"/>
                </a:solidFill>
                <a:latin typeface="+mj-lt"/>
              </a:rPr>
              <a:t>                </a:t>
            </a:r>
            <a:fld id="{F2C1E792-EDA4-4DC5-8412-A2C2E5D30ADF}" type="slidenum">
              <a:rPr lang="en-US" sz="1333" b="1" baseline="0">
                <a:solidFill>
                  <a:schemeClr val="tx1"/>
                </a:solidFill>
                <a:latin typeface="+mj-lt"/>
              </a:rPr>
              <a:pPr algn="r" defTabSz="914354">
                <a:defRPr/>
              </a:pPr>
              <a:t>‹#›</a:t>
            </a:fld>
            <a:endParaRPr lang="en-US" sz="1333" b="1" baseline="0">
              <a:solidFill>
                <a:schemeClr val="tx1"/>
              </a:solidFill>
              <a:latin typeface="+mj-lt"/>
            </a:endParaRPr>
          </a:p>
        </p:txBody>
      </p:sp>
    </p:spTree>
    <p:extLst>
      <p:ext uri="{BB962C8B-B14F-4D97-AF65-F5344CB8AC3E}">
        <p14:creationId xmlns:p14="http://schemas.microsoft.com/office/powerpoint/2010/main" val="29915085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End Slide - Light Blue">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61522A75-C6E1-4A35-AEF4-3058F787B06D}"/>
              </a:ext>
            </a:extLst>
          </p:cNvPr>
          <p:cNvSpPr>
            <a:spLocks noGrp="1"/>
          </p:cNvSpPr>
          <p:nvPr>
            <p:ph type="title" hasCustomPrompt="1"/>
          </p:nvPr>
        </p:nvSpPr>
        <p:spPr>
          <a:xfrm>
            <a:off x="705721" y="-1251492"/>
            <a:ext cx="10780553" cy="1168247"/>
          </a:xfrm>
          <a:prstGeom prst="rect">
            <a:avLst/>
          </a:prstGeom>
        </p:spPr>
        <p:txBody>
          <a:bodyPr anchor="ctr"/>
          <a:lstStyle>
            <a:lvl1pPr>
              <a:defRPr sz="4000" b="1">
                <a:solidFill>
                  <a:schemeClr val="tx2"/>
                </a:solidFill>
              </a:defRPr>
            </a:lvl1pPr>
          </a:lstStyle>
          <a:p>
            <a:r>
              <a:rPr lang="en-US"/>
              <a:t>Copyright The Johns Hopkins University 2023. All rights reserved.</a:t>
            </a:r>
          </a:p>
        </p:txBody>
      </p:sp>
      <p:pic>
        <p:nvPicPr>
          <p:cNvPr id="2" name="Picture 18" descr="Medical History Moment - The Founding of Johns Hopkins University ...">
            <a:extLst>
              <a:ext uri="{FF2B5EF4-FFF2-40B4-BE49-F238E27FC236}">
                <a16:creationId xmlns:a16="http://schemas.microsoft.com/office/drawing/2014/main" id="{6855C648-89BA-05DB-FBE4-06DECEF5D9D4}"/>
              </a:ext>
            </a:extLst>
          </p:cNvPr>
          <p:cNvPicPr>
            <a:picLocks noChangeAspect="1" noChangeArrowheads="1"/>
          </p:cNvPicPr>
          <p:nvPr userDrawn="1"/>
        </p:nvPicPr>
        <p:blipFill rotWithShape="1">
          <a:blip r:embed="rId2">
            <a:grayscl/>
            <a:extLst>
              <a:ext uri="{BEBA8EAE-BF5A-486C-A8C5-ECC9F3942E4B}">
                <a14:imgProps xmlns:a14="http://schemas.microsoft.com/office/drawing/2010/main">
                  <a14:imgLayer r:embed="rId3">
                    <a14:imgEffect>
                      <a14:colorTemperature colorTemp="4700"/>
                    </a14:imgEffect>
                    <a14:imgEffect>
                      <a14:brightnessContrast contrast="40000"/>
                    </a14:imgEffect>
                  </a14:imgLayer>
                </a14:imgProps>
              </a:ext>
              <a:ext uri="{28A0092B-C50C-407E-A947-70E740481C1C}">
                <a14:useLocalDpi xmlns:a14="http://schemas.microsoft.com/office/drawing/2010/main" val="0"/>
              </a:ext>
            </a:extLst>
          </a:blip>
          <a:srcRect l="6323" t="7786" r="6323" b="18463"/>
          <a:stretch/>
        </p:blipFill>
        <p:spPr bwMode="auto">
          <a:xfrm>
            <a:off x="1" y="1"/>
            <a:ext cx="12191999" cy="6857996"/>
          </a:xfrm>
          <a:prstGeom prst="rect">
            <a:avLst/>
          </a:prstGeom>
          <a:noFill/>
          <a:extLst>
            <a:ext uri="{909E8E84-426E-40DD-AFC4-6F175D3DCCD1}">
              <a14:hiddenFill xmlns:a14="http://schemas.microsoft.com/office/drawing/2010/main">
                <a:solidFill>
                  <a:srgbClr val="FFFFFF"/>
                </a:solidFill>
              </a14:hiddenFill>
            </a:ext>
          </a:extLst>
        </p:spPr>
      </p:pic>
      <p:sp>
        <p:nvSpPr>
          <p:cNvPr id="10" name="Freeform 13">
            <a:extLst>
              <a:ext uri="{FF2B5EF4-FFF2-40B4-BE49-F238E27FC236}">
                <a16:creationId xmlns:a16="http://schemas.microsoft.com/office/drawing/2014/main" id="{6A59C72E-C9CB-418F-981E-D5C3438A0826}"/>
              </a:ext>
              <a:ext uri="{C183D7F6-B498-43B3-948B-1728B52AA6E4}">
                <adec:decorative xmlns:adec="http://schemas.microsoft.com/office/drawing/2017/decorative" val="1"/>
              </a:ext>
            </a:extLst>
          </p:cNvPr>
          <p:cNvSpPr>
            <a:spLocks/>
          </p:cNvSpPr>
          <p:nvPr userDrawn="1"/>
        </p:nvSpPr>
        <p:spPr bwMode="auto">
          <a:xfrm rot="10800000">
            <a:off x="-2" y="-4"/>
            <a:ext cx="12192001" cy="6857999"/>
          </a:xfrm>
          <a:prstGeom prst="rect">
            <a:avLst/>
          </a:prstGeom>
          <a:gradFill flip="none" rotWithShape="1">
            <a:gsLst>
              <a:gs pos="0">
                <a:srgbClr val="69ACE5">
                  <a:alpha val="85000"/>
                </a:srgbClr>
              </a:gs>
              <a:gs pos="75000">
                <a:srgbClr val="3B6FAF">
                  <a:alpha val="85000"/>
                </a:srgbClr>
              </a:gs>
            </a:gsLst>
            <a:lin ang="10800000" scaled="1"/>
            <a:tileRect/>
          </a:gradFill>
          <a:ln>
            <a:noFill/>
          </a:ln>
        </p:spPr>
        <p:txBody>
          <a:bodyPr vert="horz" wrap="square" lIns="91440" tIns="45720" rIns="91440" bIns="45720" numCol="1" anchor="t" anchorCtr="0" compatLnSpc="1">
            <a:prstTxWarp prst="textNoShape">
              <a:avLst/>
            </a:prstTxWarp>
          </a:bodyPr>
          <a:lstStyle/>
          <a:p>
            <a:pPr marL="0" marR="0" lvl="0" indent="0" algn="l"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6" name="WSE Logo">
            <a:extLst>
              <a:ext uri="{FF2B5EF4-FFF2-40B4-BE49-F238E27FC236}">
                <a16:creationId xmlns:a16="http://schemas.microsoft.com/office/drawing/2014/main" id="{73EE76B3-19B8-4A4F-9962-98EBF35D9275}"/>
              </a:ext>
              <a:ext uri="{C183D7F6-B498-43B3-948B-1728B52AA6E4}">
                <adec:decorative xmlns:adec="http://schemas.microsoft.com/office/drawing/2017/decorative" val="1"/>
              </a:ext>
            </a:extLst>
          </p:cNvPr>
          <p:cNvPicPr>
            <a:picLocks noChangeAspect="1"/>
          </p:cNvPicPr>
          <p:nvPr userDrawn="1"/>
        </p:nvPicPr>
        <p:blipFill rotWithShape="1">
          <a:blip r:embed="rId4">
            <a:extLst>
              <a:ext uri="{28A0092B-C50C-407E-A947-70E740481C1C}">
                <a14:useLocalDpi xmlns:a14="http://schemas.microsoft.com/office/drawing/2010/main" val="0"/>
              </a:ext>
            </a:extLst>
          </a:blip>
          <a:srcRect l="15642" t="22639" r="15939" b="21111"/>
          <a:stretch/>
        </p:blipFill>
        <p:spPr>
          <a:xfrm>
            <a:off x="3446626" y="1889550"/>
            <a:ext cx="5298749" cy="3078901"/>
          </a:xfrm>
          <a:prstGeom prst="rect">
            <a:avLst/>
          </a:prstGeom>
        </p:spPr>
      </p:pic>
      <p:sp>
        <p:nvSpPr>
          <p:cNvPr id="5" name="Rectangle 4">
            <a:extLst>
              <a:ext uri="{FF2B5EF4-FFF2-40B4-BE49-F238E27FC236}">
                <a16:creationId xmlns:a16="http://schemas.microsoft.com/office/drawing/2014/main" id="{1146C736-D135-449F-AC2D-8C9ACCE3507D}"/>
              </a:ext>
            </a:extLst>
          </p:cNvPr>
          <p:cNvSpPr/>
          <p:nvPr userDrawn="1"/>
        </p:nvSpPr>
        <p:spPr>
          <a:xfrm>
            <a:off x="0" y="6303182"/>
            <a:ext cx="12192000" cy="289453"/>
          </a:xfrm>
          <a:prstGeom prst="rect">
            <a:avLst/>
          </a:prstGeom>
        </p:spPr>
        <p:txBody>
          <a:bodyPr wrap="square" lIns="108852" tIns="54427" rIns="108852" bIns="54427">
            <a:spAutoFit/>
          </a:bodyPr>
          <a:lstStyle/>
          <a:p>
            <a:pPr algn="ctr"/>
            <a:r>
              <a:rPr lang="en-US" sz="1167">
                <a:solidFill>
                  <a:schemeClr val="bg1"/>
                </a:solidFill>
                <a:latin typeface="Arial"/>
                <a:cs typeface="Arial"/>
              </a:rPr>
              <a:t>© The Johns Hopkins University 2023, All Rights Reserved.</a:t>
            </a:r>
          </a:p>
        </p:txBody>
      </p:sp>
    </p:spTree>
    <p:extLst>
      <p:ext uri="{BB962C8B-B14F-4D97-AF65-F5344CB8AC3E}">
        <p14:creationId xmlns:p14="http://schemas.microsoft.com/office/powerpoint/2010/main" val="289112319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D7452E6E-29A6-2C85-9C79-764136C31689}"/>
              </a:ext>
              <a:ext uri="{C183D7F6-B498-43B3-948B-1728B52AA6E4}">
                <adec:decorative xmlns:adec="http://schemas.microsoft.com/office/drawing/2017/decorative" val="0"/>
              </a:ext>
            </a:extLst>
          </p:cNvPr>
          <p:cNvPicPr>
            <a:picLocks noChangeAspect="1"/>
          </p:cNvPicPr>
          <p:nvPr userDrawn="1"/>
        </p:nvPicPr>
        <p:blipFill>
          <a:blip r:embed="rId2"/>
          <a:stretch>
            <a:fillRect/>
          </a:stretch>
        </p:blipFill>
        <p:spPr>
          <a:xfrm>
            <a:off x="3698" y="0"/>
            <a:ext cx="12188302" cy="6860082"/>
          </a:xfrm>
          <a:prstGeom prst="rect">
            <a:avLst/>
          </a:prstGeom>
        </p:spPr>
      </p:pic>
      <p:sp>
        <p:nvSpPr>
          <p:cNvPr id="2" name="Title 1">
            <a:extLst>
              <a:ext uri="{FF2B5EF4-FFF2-40B4-BE49-F238E27FC236}">
                <a16:creationId xmlns:a16="http://schemas.microsoft.com/office/drawing/2014/main" id="{36BC76EE-BBDD-9DAC-BD3C-14DC174D2E84}"/>
              </a:ext>
            </a:extLst>
          </p:cNvPr>
          <p:cNvSpPr>
            <a:spLocks noGrp="1"/>
          </p:cNvSpPr>
          <p:nvPr>
            <p:ph type="ctrTitle" hasCustomPrompt="1"/>
          </p:nvPr>
        </p:nvSpPr>
        <p:spPr>
          <a:xfrm>
            <a:off x="6096001" y="1199408"/>
            <a:ext cx="5519350" cy="2315688"/>
          </a:xfrm>
          <a:prstGeom prst="rect">
            <a:avLst/>
          </a:prstGeom>
        </p:spPr>
        <p:txBody>
          <a:bodyPr anchor="b" anchorCtr="0">
            <a:noAutofit/>
          </a:bodyPr>
          <a:lstStyle>
            <a:lvl1pPr algn="l">
              <a:defRPr sz="4000">
                <a:solidFill>
                  <a:schemeClr val="bg1"/>
                </a:solidFill>
                <a:latin typeface="Tahoma" panose="020B0604030504040204" pitchFamily="34" charset="0"/>
                <a:ea typeface="Tahoma" panose="020B0604030504040204" pitchFamily="34" charset="0"/>
                <a:cs typeface="Tahoma" panose="020B0604030504040204" pitchFamily="34" charset="0"/>
              </a:defRPr>
            </a:lvl1pPr>
          </a:lstStyle>
          <a:p>
            <a:r>
              <a:rPr lang="en-US"/>
              <a:t>Click to Edit </a:t>
            </a:r>
            <a:br>
              <a:rPr lang="en-US"/>
            </a:br>
            <a:r>
              <a:rPr lang="en-US"/>
              <a:t>Master title of </a:t>
            </a:r>
            <a:br>
              <a:rPr lang="en-US"/>
            </a:br>
            <a:r>
              <a:rPr lang="en-US"/>
              <a:t>the Presentation</a:t>
            </a:r>
          </a:p>
        </p:txBody>
      </p:sp>
      <p:sp>
        <p:nvSpPr>
          <p:cNvPr id="3" name="Subtitle 2">
            <a:extLst>
              <a:ext uri="{FF2B5EF4-FFF2-40B4-BE49-F238E27FC236}">
                <a16:creationId xmlns:a16="http://schemas.microsoft.com/office/drawing/2014/main" id="{E1755132-02B7-F237-8FA1-F867CF88FB25}"/>
              </a:ext>
            </a:extLst>
          </p:cNvPr>
          <p:cNvSpPr>
            <a:spLocks noGrp="1"/>
          </p:cNvSpPr>
          <p:nvPr>
            <p:ph type="subTitle" idx="1" hasCustomPrompt="1"/>
          </p:nvPr>
        </p:nvSpPr>
        <p:spPr>
          <a:xfrm>
            <a:off x="6096000" y="3692901"/>
            <a:ext cx="5519351" cy="784095"/>
          </a:xfrm>
        </p:spPr>
        <p:txBody>
          <a:bodyPr anchor="ctr">
            <a:normAutofit/>
          </a:bodyPr>
          <a:lstStyle>
            <a:lvl1pPr marL="0" indent="0" algn="l">
              <a:lnSpc>
                <a:spcPts val="1780"/>
              </a:lnSpc>
              <a:spcBef>
                <a:spcPts val="1000"/>
              </a:spcBef>
              <a:buNone/>
              <a:defRPr sz="2400" b="1">
                <a:solidFill>
                  <a:srgbClr val="4E97E0"/>
                </a:solidFill>
                <a:latin typeface="Tahoma" panose="020B0604030504040204" pitchFamily="34" charset="0"/>
                <a:ea typeface="Tahoma" panose="020B0604030504040204" pitchFamily="34" charset="0"/>
                <a:cs typeface="Tahom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Add Subtitle</a:t>
            </a:r>
          </a:p>
        </p:txBody>
      </p:sp>
      <p:pic>
        <p:nvPicPr>
          <p:cNvPr id="12" name="Picture 11" descr="A black background with white text&#10;&#10;Description automatically generated">
            <a:extLst>
              <a:ext uri="{FF2B5EF4-FFF2-40B4-BE49-F238E27FC236}">
                <a16:creationId xmlns:a16="http://schemas.microsoft.com/office/drawing/2014/main" id="{5E5E73B6-2798-2A91-EEE6-2BB4284BE96A}"/>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7898770" y="5095306"/>
            <a:ext cx="4293230" cy="1784270"/>
          </a:xfrm>
          <a:prstGeom prst="rect">
            <a:avLst/>
          </a:prstGeom>
        </p:spPr>
      </p:pic>
      <p:sp>
        <p:nvSpPr>
          <p:cNvPr id="7" name="Text Placeholder 6">
            <a:extLst>
              <a:ext uri="{FF2B5EF4-FFF2-40B4-BE49-F238E27FC236}">
                <a16:creationId xmlns:a16="http://schemas.microsoft.com/office/drawing/2014/main" id="{9E77B635-698D-CEB4-EA5A-566854E400B9}"/>
              </a:ext>
            </a:extLst>
          </p:cNvPr>
          <p:cNvSpPr>
            <a:spLocks noGrp="1"/>
          </p:cNvSpPr>
          <p:nvPr>
            <p:ph type="body" sz="quarter" idx="10" hasCustomPrompt="1"/>
          </p:nvPr>
        </p:nvSpPr>
        <p:spPr>
          <a:xfrm>
            <a:off x="6096000" y="4476751"/>
            <a:ext cx="5519738" cy="451510"/>
          </a:xfrm>
        </p:spPr>
        <p:txBody>
          <a:bodyPr anchor="ctr">
            <a:normAutofit/>
          </a:bodyPr>
          <a:lstStyle>
            <a:lvl1pPr marL="0" indent="0">
              <a:buNone/>
              <a:defRPr sz="1800">
                <a:solidFill>
                  <a:schemeClr val="bg1"/>
                </a:solidFill>
              </a:defRPr>
            </a:lvl1pPr>
          </a:lstStyle>
          <a:p>
            <a:pPr lvl="0"/>
            <a:r>
              <a:rPr lang="en-US"/>
              <a:t>DEPARTMENT NAME OR DATE IN ALL CAPS</a:t>
            </a:r>
          </a:p>
        </p:txBody>
      </p:sp>
    </p:spTree>
    <p:extLst>
      <p:ext uri="{BB962C8B-B14F-4D97-AF65-F5344CB8AC3E}">
        <p14:creationId xmlns:p14="http://schemas.microsoft.com/office/powerpoint/2010/main" val="30843665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Image w/ Caption">
    <p:spTree>
      <p:nvGrpSpPr>
        <p:cNvPr id="1" name=""/>
        <p:cNvGrpSpPr/>
        <p:nvPr/>
      </p:nvGrpSpPr>
      <p:grpSpPr>
        <a:xfrm>
          <a:off x="0" y="0"/>
          <a:ext cx="0" cy="0"/>
          <a:chOff x="0" y="0"/>
          <a:chExt cx="0" cy="0"/>
        </a:xfrm>
      </p:grpSpPr>
      <p:pic>
        <p:nvPicPr>
          <p:cNvPr id="4" name="Picture 3" descr="A blue square with white lines&#10;&#10;Description automatically generated with medium confidence">
            <a:extLst>
              <a:ext uri="{FF2B5EF4-FFF2-40B4-BE49-F238E27FC236}">
                <a16:creationId xmlns:a16="http://schemas.microsoft.com/office/drawing/2014/main" id="{596D2A21-2E76-5B18-DE93-32E809FDBF2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089" y="0"/>
            <a:ext cx="12192000" cy="1640793"/>
          </a:xfrm>
          <a:prstGeom prst="rect">
            <a:avLst/>
          </a:prstGeom>
        </p:spPr>
      </p:pic>
      <p:sp>
        <p:nvSpPr>
          <p:cNvPr id="7" name="Content Placeholder 8">
            <a:extLst>
              <a:ext uri="{FF2B5EF4-FFF2-40B4-BE49-F238E27FC236}">
                <a16:creationId xmlns:a16="http://schemas.microsoft.com/office/drawing/2014/main" id="{209356EC-295E-5603-B486-43CADD66F6A8}"/>
              </a:ext>
            </a:extLst>
          </p:cNvPr>
          <p:cNvSpPr>
            <a:spLocks noGrp="1"/>
          </p:cNvSpPr>
          <p:nvPr>
            <p:ph sz="quarter" idx="13"/>
          </p:nvPr>
        </p:nvSpPr>
        <p:spPr>
          <a:xfrm>
            <a:off x="303317" y="1805025"/>
            <a:ext cx="11585365" cy="4245397"/>
          </a:xfrm>
        </p:spPr>
        <p:txBody>
          <a:bodyPr/>
          <a:lstStyle>
            <a:lvl2pPr>
              <a:defRPr sz="2000"/>
            </a:lvl2pPr>
            <a:lvl3pPr marL="1143000" indent="-228600">
              <a:buFont typeface="System Font Regular"/>
              <a:buChar cha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605ABF60-1B68-135C-A9A6-11C948D7FAC4}"/>
              </a:ext>
            </a:extLst>
          </p:cNvPr>
          <p:cNvSpPr>
            <a:spLocks noGrp="1"/>
          </p:cNvSpPr>
          <p:nvPr>
            <p:ph type="dt" sz="half" idx="14"/>
          </p:nvPr>
        </p:nvSpPr>
        <p:spPr/>
        <p:txBody>
          <a:bodyPr/>
          <a:lstStyle/>
          <a:p>
            <a:fld id="{2FD8AFF2-9042-B841-A3E7-F7EA0CBF7244}" type="datetime3">
              <a:rPr lang="en-US" smtClean="0"/>
              <a:pPr/>
              <a:t>28 October 2025</a:t>
            </a:fld>
            <a:endParaRPr lang="en-US"/>
          </a:p>
        </p:txBody>
      </p:sp>
      <p:sp>
        <p:nvSpPr>
          <p:cNvPr id="9" name="Footer Placeholder 8">
            <a:extLst>
              <a:ext uri="{FF2B5EF4-FFF2-40B4-BE49-F238E27FC236}">
                <a16:creationId xmlns:a16="http://schemas.microsoft.com/office/drawing/2014/main" id="{D6182963-1E80-6DE0-0367-A79451A82D6C}"/>
              </a:ext>
            </a:extLst>
          </p:cNvPr>
          <p:cNvSpPr>
            <a:spLocks noGrp="1"/>
          </p:cNvSpPr>
          <p:nvPr>
            <p:ph type="ftr" sz="quarter" idx="15"/>
          </p:nvPr>
        </p:nvSpPr>
        <p:spPr/>
        <p:txBody>
          <a:bodyPr/>
          <a:lstStyle/>
          <a:p>
            <a:r>
              <a:rPr lang="en-US"/>
              <a:t>Unit Name</a:t>
            </a:r>
          </a:p>
        </p:txBody>
      </p:sp>
      <p:sp>
        <p:nvSpPr>
          <p:cNvPr id="10" name="Slide Number Placeholder 9">
            <a:extLst>
              <a:ext uri="{FF2B5EF4-FFF2-40B4-BE49-F238E27FC236}">
                <a16:creationId xmlns:a16="http://schemas.microsoft.com/office/drawing/2014/main" id="{5A6BE6B5-4DC4-B1E9-5F84-01E6D86F86B7}"/>
              </a:ext>
            </a:extLst>
          </p:cNvPr>
          <p:cNvSpPr>
            <a:spLocks noGrp="1"/>
          </p:cNvSpPr>
          <p:nvPr>
            <p:ph type="sldNum" sz="quarter" idx="16"/>
          </p:nvPr>
        </p:nvSpPr>
        <p:spPr/>
        <p:txBody>
          <a:bodyPr/>
          <a:lstStyle/>
          <a:p>
            <a:fld id="{1876332E-97D2-CC49-9E46-E6E0DDE407EB}" type="slidenum">
              <a:rPr lang="en-US" smtClean="0"/>
              <a:pPr/>
              <a:t>‹#›</a:t>
            </a:fld>
            <a:endParaRPr lang="en-US"/>
          </a:p>
        </p:txBody>
      </p:sp>
      <p:sp>
        <p:nvSpPr>
          <p:cNvPr id="11" name="Title 10">
            <a:extLst>
              <a:ext uri="{FF2B5EF4-FFF2-40B4-BE49-F238E27FC236}">
                <a16:creationId xmlns:a16="http://schemas.microsoft.com/office/drawing/2014/main" id="{9D38D0CA-89C0-9ABD-FF68-B1CC45068AC3}"/>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177349753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Logo">
    <p:spTree>
      <p:nvGrpSpPr>
        <p:cNvPr id="1" name=""/>
        <p:cNvGrpSpPr/>
        <p:nvPr/>
      </p:nvGrpSpPr>
      <p:grpSpPr>
        <a:xfrm>
          <a:off x="0" y="0"/>
          <a:ext cx="0" cy="0"/>
          <a:chOff x="0" y="0"/>
          <a:chExt cx="0" cy="0"/>
        </a:xfrm>
      </p:grpSpPr>
      <p:pic>
        <p:nvPicPr>
          <p:cNvPr id="4" name="Picture 3" descr="A blue square with white lines&#10;&#10;Description automatically generated with medium confidence">
            <a:extLst>
              <a:ext uri="{FF2B5EF4-FFF2-40B4-BE49-F238E27FC236}">
                <a16:creationId xmlns:a16="http://schemas.microsoft.com/office/drawing/2014/main" id="{596D2A21-2E76-5B18-DE93-32E809FDBF2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1"/>
            <a:ext cx="12192001" cy="6858001"/>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DE177EC9-C768-378C-1033-4D5D55FC0ADA}"/>
              </a:ext>
            </a:extLst>
          </p:cNvPr>
          <p:cNvPicPr>
            <a:picLocks noChangeAspect="1"/>
          </p:cNvPicPr>
          <p:nvPr userDrawn="1"/>
        </p:nvPicPr>
        <p:blipFill>
          <a:blip r:embed="rId3"/>
          <a:stretch>
            <a:fillRect/>
          </a:stretch>
        </p:blipFill>
        <p:spPr>
          <a:xfrm>
            <a:off x="1158058" y="1376787"/>
            <a:ext cx="9875883" cy="4104425"/>
          </a:xfrm>
          <a:prstGeom prst="rect">
            <a:avLst/>
          </a:prstGeom>
        </p:spPr>
      </p:pic>
    </p:spTree>
    <p:extLst>
      <p:ext uri="{BB962C8B-B14F-4D97-AF65-F5344CB8AC3E}">
        <p14:creationId xmlns:p14="http://schemas.microsoft.com/office/powerpoint/2010/main" val="414113185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losing Slide">
    <p:spTree>
      <p:nvGrpSpPr>
        <p:cNvPr id="1" name=""/>
        <p:cNvGrpSpPr/>
        <p:nvPr/>
      </p:nvGrpSpPr>
      <p:grpSpPr>
        <a:xfrm>
          <a:off x="0" y="0"/>
          <a:ext cx="0" cy="0"/>
          <a:chOff x="0" y="0"/>
          <a:chExt cx="0" cy="0"/>
        </a:xfrm>
      </p:grpSpPr>
      <p:pic>
        <p:nvPicPr>
          <p:cNvPr id="4" name="Picture 3" descr="A blue square with white lines&#10;&#10;Description automatically generated with medium confidence">
            <a:extLst>
              <a:ext uri="{FF2B5EF4-FFF2-40B4-BE49-F238E27FC236}">
                <a16:creationId xmlns:a16="http://schemas.microsoft.com/office/drawing/2014/main" id="{596D2A21-2E76-5B18-DE93-32E809FDBF2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8" name="Title 1">
            <a:extLst>
              <a:ext uri="{FF2B5EF4-FFF2-40B4-BE49-F238E27FC236}">
                <a16:creationId xmlns:a16="http://schemas.microsoft.com/office/drawing/2014/main" id="{FCC74154-920A-7908-96E4-FCAB9EB05834}"/>
              </a:ext>
            </a:extLst>
          </p:cNvPr>
          <p:cNvSpPr>
            <a:spLocks noGrp="1"/>
          </p:cNvSpPr>
          <p:nvPr>
            <p:ph type="ctrTitle" hasCustomPrompt="1"/>
          </p:nvPr>
        </p:nvSpPr>
        <p:spPr>
          <a:xfrm>
            <a:off x="882316" y="953546"/>
            <a:ext cx="10379241" cy="1778695"/>
          </a:xfrm>
          <a:prstGeom prst="rect">
            <a:avLst/>
          </a:prstGeom>
        </p:spPr>
        <p:txBody>
          <a:bodyPr lIns="0" tIns="0" rIns="0" bIns="0" anchor="b" anchorCtr="0">
            <a:noAutofit/>
          </a:bodyPr>
          <a:lstStyle>
            <a:lvl1pPr algn="ctr">
              <a:defRPr sz="6000">
                <a:solidFill>
                  <a:schemeClr val="bg1"/>
                </a:solidFill>
              </a:defRPr>
            </a:lvl1pPr>
          </a:lstStyle>
          <a:p>
            <a:r>
              <a:rPr lang="en-US"/>
              <a:t>Closing Slide</a:t>
            </a:r>
          </a:p>
        </p:txBody>
      </p:sp>
      <p:sp>
        <p:nvSpPr>
          <p:cNvPr id="9" name="Subtitle 2">
            <a:extLst>
              <a:ext uri="{FF2B5EF4-FFF2-40B4-BE49-F238E27FC236}">
                <a16:creationId xmlns:a16="http://schemas.microsoft.com/office/drawing/2014/main" id="{DACA531E-D6C1-E9A7-B39A-A410B89BA0D5}"/>
              </a:ext>
            </a:extLst>
          </p:cNvPr>
          <p:cNvSpPr>
            <a:spLocks noGrp="1"/>
          </p:cNvSpPr>
          <p:nvPr>
            <p:ph type="subTitle" idx="1" hasCustomPrompt="1"/>
          </p:nvPr>
        </p:nvSpPr>
        <p:spPr>
          <a:xfrm>
            <a:off x="882316" y="3015916"/>
            <a:ext cx="10379241" cy="896721"/>
          </a:xfrm>
        </p:spPr>
        <p:txBody>
          <a:bodyPr lIns="0" tIns="0" rIns="0" bIns="0">
            <a:normAutofit/>
          </a:bodyPr>
          <a:lstStyle>
            <a:lvl1pPr marL="0" indent="0" algn="ctr">
              <a:buNone/>
              <a:defRPr sz="2400" b="1">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CTA or URL</a:t>
            </a:r>
          </a:p>
        </p:txBody>
      </p:sp>
      <p:sp>
        <p:nvSpPr>
          <p:cNvPr id="6" name="Text Placeholder 5">
            <a:extLst>
              <a:ext uri="{FF2B5EF4-FFF2-40B4-BE49-F238E27FC236}">
                <a16:creationId xmlns:a16="http://schemas.microsoft.com/office/drawing/2014/main" id="{4810872C-6ED3-1495-01D5-B22FBFD03747}"/>
              </a:ext>
            </a:extLst>
          </p:cNvPr>
          <p:cNvSpPr>
            <a:spLocks noGrp="1"/>
          </p:cNvSpPr>
          <p:nvPr>
            <p:ph type="body" sz="quarter" idx="10" hasCustomPrompt="1"/>
          </p:nvPr>
        </p:nvSpPr>
        <p:spPr>
          <a:xfrm>
            <a:off x="882650" y="4090988"/>
            <a:ext cx="10379075" cy="1989137"/>
          </a:xfrm>
        </p:spPr>
        <p:txBody>
          <a:bodyPr>
            <a:normAutofit/>
          </a:bodyPr>
          <a:lstStyle>
            <a:lvl1pPr marL="0" indent="0" algn="ctr">
              <a:buNone/>
              <a:defRPr sz="18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Presenter Names and Contact</a:t>
            </a:r>
          </a:p>
        </p:txBody>
      </p:sp>
    </p:spTree>
    <p:extLst>
      <p:ext uri="{BB962C8B-B14F-4D97-AF65-F5344CB8AC3E}">
        <p14:creationId xmlns:p14="http://schemas.microsoft.com/office/powerpoint/2010/main" val="40752444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764DE79-268F-4C1A-8933-263129D2AF90}" type="datetimeFigureOut">
              <a:rPr lang="en-US" dirty="0"/>
              <a:t>10/28/25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8F63A3B-78C7-47BE-AE5E-E10140E04643}" type="slidenum">
              <a:rPr lang="en-US" dirty="0"/>
              <a:t>‹#›</a:t>
            </a:fld>
            <a:endParaRPr lang="en-US"/>
          </a:p>
        </p:txBody>
      </p:sp>
    </p:spTree>
    <p:extLst>
      <p:ext uri="{BB962C8B-B14F-4D97-AF65-F5344CB8AC3E}">
        <p14:creationId xmlns:p14="http://schemas.microsoft.com/office/powerpoint/2010/main" val="2911594174"/>
      </p:ext>
    </p:extLst>
  </p:cSld>
  <p:clrMap bg1="lt1" tx1="dk1" bg2="lt2" tx2="dk2" accent1="accent1" accent2="accent2" accent3="accent3" accent4="accent4" accent5="accent5" accent6="accent6" hlink="hlink" folHlink="folHlink"/>
  <p:sldLayoutIdLst>
    <p:sldLayoutId id="2147483805" r:id="rId1"/>
    <p:sldLayoutId id="2147483806" r:id="rId2"/>
    <p:sldLayoutId id="2147483807" r:id="rId3"/>
    <p:sldLayoutId id="2147483808" r:id="rId4"/>
    <p:sldLayoutId id="2147483809" r:id="rId5"/>
    <p:sldLayoutId id="2147483810" r:id="rId6"/>
    <p:sldLayoutId id="2147483811" r:id="rId7"/>
    <p:sldLayoutId id="2147483812" r:id="rId8"/>
    <p:sldLayoutId id="2147483813" r:id="rId9"/>
    <p:sldLayoutId id="2147483814" r:id="rId10"/>
    <p:sldLayoutId id="2147483815" r:id="rId11"/>
    <p:sldLayoutId id="2147483816" r:id="rId12"/>
    <p:sldLayoutId id="2147483817" r:id="rId13"/>
    <p:sldLayoutId id="2147483818" r:id="rId14"/>
    <p:sldLayoutId id="2147483819" r:id="rId15"/>
    <p:sldLayoutId id="2147483820" r:id="rId16"/>
    <p:sldLayoutId id="2147483821" r:id="rId1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CDDEP-DC/GREASYPOP-CO" TargetMode="External"/><Relationship Id="rId2" Type="http://schemas.openxmlformats.org/officeDocument/2006/relationships/notesSlide" Target="../notesSlides/notesSlide2.xml"/><Relationship Id="rId1" Type="http://schemas.openxmlformats.org/officeDocument/2006/relationships/slideLayout" Target="../slideLayouts/slideLayout15.xml"/><Relationship Id="rId4" Type="http://schemas.openxmlformats.org/officeDocument/2006/relationships/hyperlink" Target="https://starsim.org/"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5.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15.xml"/><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8.xml"/><Relationship Id="rId1" Type="http://schemas.openxmlformats.org/officeDocument/2006/relationships/slideLayout" Target="../slideLayouts/slideLayout15.xml"/><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0F3DE-E8AB-E7B1-FD37-595E64329564}"/>
              </a:ext>
            </a:extLst>
          </p:cNvPr>
          <p:cNvSpPr>
            <a:spLocks noGrp="1"/>
          </p:cNvSpPr>
          <p:nvPr>
            <p:ph type="ctrTitle"/>
          </p:nvPr>
        </p:nvSpPr>
        <p:spPr>
          <a:xfrm>
            <a:off x="870354" y="1270000"/>
            <a:ext cx="10451291" cy="2962563"/>
          </a:xfrm>
        </p:spPr>
        <p:txBody>
          <a:bodyPr anchor="t"/>
          <a:lstStyle/>
          <a:p>
            <a:r>
              <a:rPr lang="en-US" sz="5000" b="1" dirty="0">
                <a:latin typeface="Aptos Display"/>
                <a:ea typeface="Tahoma"/>
                <a:cs typeface="Tahoma"/>
              </a:rPr>
              <a:t>GeoPops demonstration: </a:t>
            </a:r>
            <a:br>
              <a:rPr lang="en-US" sz="5000" b="1" dirty="0">
                <a:latin typeface="Aptos Display"/>
                <a:ea typeface="Tahoma"/>
                <a:cs typeface="Tahoma"/>
              </a:rPr>
            </a:br>
            <a:r>
              <a:rPr lang="en-US" sz="5000" b="1" dirty="0">
                <a:latin typeface="Aptos Display"/>
                <a:ea typeface="Tahoma"/>
                <a:cs typeface="Tahoma"/>
              </a:rPr>
              <a:t>An open-source, adaptable framework for agent-based modeling on synthetic populations</a:t>
            </a:r>
            <a:endParaRPr lang="en-US" dirty="0">
              <a:ea typeface="Tahoma"/>
              <a:cs typeface="Tahoma"/>
            </a:endParaRPr>
          </a:p>
        </p:txBody>
      </p:sp>
      <p:sp>
        <p:nvSpPr>
          <p:cNvPr id="3" name="TextBox 2">
            <a:extLst>
              <a:ext uri="{FF2B5EF4-FFF2-40B4-BE49-F238E27FC236}">
                <a16:creationId xmlns:a16="http://schemas.microsoft.com/office/drawing/2014/main" id="{BD69D27D-5938-E4B8-9569-883F82E1A0B3}"/>
              </a:ext>
            </a:extLst>
          </p:cNvPr>
          <p:cNvSpPr txBox="1"/>
          <p:nvPr/>
        </p:nvSpPr>
        <p:spPr>
          <a:xfrm>
            <a:off x="9201899" y="242454"/>
            <a:ext cx="2799601" cy="1200329"/>
          </a:xfrm>
          <a:prstGeom prst="rect">
            <a:avLst/>
          </a:prstGeom>
          <a:noFill/>
        </p:spPr>
        <p:txBody>
          <a:bodyPr wrap="square" rtlCol="0">
            <a:spAutoFit/>
          </a:bodyPr>
          <a:lstStyle/>
          <a:p>
            <a:r>
              <a:rPr lang="en-US" dirty="0">
                <a:solidFill>
                  <a:schemeClr val="bg1"/>
                </a:solidFill>
              </a:rPr>
              <a:t>Alisa Hamilton, PhD(c)</a:t>
            </a:r>
          </a:p>
          <a:p>
            <a:r>
              <a:rPr lang="en-US" dirty="0">
                <a:solidFill>
                  <a:schemeClr val="bg1"/>
                </a:solidFill>
              </a:rPr>
              <a:t>Systems Engineering</a:t>
            </a:r>
          </a:p>
          <a:p>
            <a:r>
              <a:rPr lang="en-US" dirty="0">
                <a:solidFill>
                  <a:schemeClr val="bg1"/>
                </a:solidFill>
              </a:rPr>
              <a:t>Johns Hopkins University</a:t>
            </a:r>
          </a:p>
          <a:p>
            <a:r>
              <a:rPr lang="en-US" dirty="0">
                <a:solidFill>
                  <a:schemeClr val="bg1"/>
                </a:solidFill>
              </a:rPr>
              <a:t>ahamil33@jh.edu</a:t>
            </a:r>
          </a:p>
        </p:txBody>
      </p:sp>
      <p:sp>
        <p:nvSpPr>
          <p:cNvPr id="4" name="TextBox 3">
            <a:extLst>
              <a:ext uri="{FF2B5EF4-FFF2-40B4-BE49-F238E27FC236}">
                <a16:creationId xmlns:a16="http://schemas.microsoft.com/office/drawing/2014/main" id="{D1F650DF-860F-A954-C71F-A97AE6C29A2A}"/>
              </a:ext>
            </a:extLst>
          </p:cNvPr>
          <p:cNvSpPr txBox="1"/>
          <p:nvPr/>
        </p:nvSpPr>
        <p:spPr>
          <a:xfrm>
            <a:off x="870354" y="4521445"/>
            <a:ext cx="10557164" cy="738664"/>
          </a:xfrm>
          <a:prstGeom prst="rect">
            <a:avLst/>
          </a:prstGeom>
          <a:noFill/>
        </p:spPr>
        <p:txBody>
          <a:bodyPr wrap="square" rtlCol="0">
            <a:spAutoFit/>
          </a:bodyPr>
          <a:lstStyle/>
          <a:p>
            <a:r>
              <a:rPr lang="en-US" sz="2400" dirty="0">
                <a:solidFill>
                  <a:schemeClr val="bg1"/>
                </a:solidFill>
                <a:latin typeface="Aptos" panose="020B0004020202020204" pitchFamily="34" charset="0"/>
                <a:cs typeface="Times New Roman" panose="02020603050405020304" pitchFamily="18" charset="0"/>
              </a:rPr>
              <a:t>Alisa Hamilton</a:t>
            </a:r>
            <a:r>
              <a:rPr lang="en-US" sz="2400" baseline="30000" dirty="0">
                <a:solidFill>
                  <a:schemeClr val="bg1"/>
                </a:solidFill>
                <a:latin typeface="Aptos" panose="020B0004020202020204" pitchFamily="34" charset="0"/>
                <a:cs typeface="Times New Roman" panose="02020603050405020304" pitchFamily="18" charset="0"/>
              </a:rPr>
              <a:t>1</a:t>
            </a:r>
            <a:r>
              <a:rPr lang="en-US" sz="2400" dirty="0">
                <a:solidFill>
                  <a:schemeClr val="bg1"/>
                </a:solidFill>
                <a:latin typeface="Aptos" panose="020B0004020202020204" pitchFamily="34" charset="0"/>
                <a:cs typeface="Times New Roman" panose="02020603050405020304" pitchFamily="18" charset="0"/>
              </a:rPr>
              <a:t>, Alexander Tulchinsky</a:t>
            </a:r>
            <a:r>
              <a:rPr lang="en-US" sz="2400" baseline="30000" dirty="0">
                <a:solidFill>
                  <a:schemeClr val="bg1"/>
                </a:solidFill>
                <a:latin typeface="Aptos" panose="020B0004020202020204" pitchFamily="34" charset="0"/>
                <a:cs typeface="Times New Roman" panose="02020603050405020304" pitchFamily="18" charset="0"/>
              </a:rPr>
              <a:t>2</a:t>
            </a:r>
            <a:r>
              <a:rPr lang="en-US" sz="2400" dirty="0">
                <a:solidFill>
                  <a:schemeClr val="bg1"/>
                </a:solidFill>
                <a:latin typeface="Aptos" panose="020B0004020202020204" pitchFamily="34" charset="0"/>
                <a:cs typeface="Times New Roman" panose="02020603050405020304" pitchFamily="18" charset="0"/>
              </a:rPr>
              <a:t>, Cliff Kerr</a:t>
            </a:r>
            <a:r>
              <a:rPr lang="en-US" sz="2400" baseline="30000" dirty="0">
                <a:solidFill>
                  <a:schemeClr val="bg1"/>
                </a:solidFill>
                <a:latin typeface="Aptos" panose="020B0004020202020204" pitchFamily="34" charset="0"/>
                <a:cs typeface="Times New Roman" panose="02020603050405020304" pitchFamily="18" charset="0"/>
              </a:rPr>
              <a:t>3</a:t>
            </a:r>
            <a:r>
              <a:rPr lang="en-US" sz="2400" dirty="0">
                <a:solidFill>
                  <a:schemeClr val="bg1"/>
                </a:solidFill>
                <a:latin typeface="Aptos" panose="020B0004020202020204" pitchFamily="34" charset="0"/>
                <a:cs typeface="Times New Roman" panose="02020603050405020304" pitchFamily="18" charset="0"/>
              </a:rPr>
              <a:t>, Eili Klein</a:t>
            </a:r>
            <a:r>
              <a:rPr lang="en-US" sz="2400" baseline="30000" dirty="0">
                <a:solidFill>
                  <a:schemeClr val="bg1"/>
                </a:solidFill>
                <a:latin typeface="Aptos" panose="020B0004020202020204" pitchFamily="34" charset="0"/>
                <a:cs typeface="Times New Roman" panose="02020603050405020304" pitchFamily="18" charset="0"/>
              </a:rPr>
              <a:t>1,2</a:t>
            </a:r>
            <a:r>
              <a:rPr lang="en-US" sz="2400" dirty="0">
                <a:solidFill>
                  <a:schemeClr val="bg1"/>
                </a:solidFill>
                <a:latin typeface="Aptos" panose="020B0004020202020204" pitchFamily="34" charset="0"/>
                <a:cs typeface="Times New Roman" panose="02020603050405020304" pitchFamily="18" charset="0"/>
              </a:rPr>
              <a:t>, Lauren Gardner</a:t>
            </a:r>
            <a:r>
              <a:rPr lang="en-US" sz="2400" baseline="30000" dirty="0">
                <a:solidFill>
                  <a:schemeClr val="bg1"/>
                </a:solidFill>
                <a:latin typeface="Aptos" panose="020B0004020202020204" pitchFamily="34" charset="0"/>
                <a:cs typeface="Times New Roman" panose="02020603050405020304" pitchFamily="18" charset="0"/>
              </a:rPr>
              <a:t>1</a:t>
            </a:r>
          </a:p>
          <a:p>
            <a:r>
              <a:rPr lang="en-US" baseline="30000" dirty="0">
                <a:solidFill>
                  <a:schemeClr val="bg1"/>
                </a:solidFill>
                <a:latin typeface="Aptos" panose="020B0004020202020204" pitchFamily="34" charset="0"/>
                <a:cs typeface="Times New Roman" panose="02020603050405020304" pitchFamily="18" charset="0"/>
              </a:rPr>
              <a:t>1</a:t>
            </a:r>
            <a:r>
              <a:rPr lang="en-US" dirty="0">
                <a:solidFill>
                  <a:schemeClr val="bg1"/>
                </a:solidFill>
                <a:latin typeface="Aptos" panose="020B0004020202020204" pitchFamily="34" charset="0"/>
                <a:cs typeface="Times New Roman" panose="02020603050405020304" pitchFamily="18" charset="0"/>
              </a:rPr>
              <a:t>Johns Hopkins University, </a:t>
            </a:r>
            <a:r>
              <a:rPr lang="en-US" baseline="30000" dirty="0">
                <a:solidFill>
                  <a:schemeClr val="bg1"/>
                </a:solidFill>
                <a:latin typeface="Aptos" panose="020B0004020202020204" pitchFamily="34" charset="0"/>
                <a:cs typeface="Times New Roman" panose="02020603050405020304" pitchFamily="18" charset="0"/>
              </a:rPr>
              <a:t>2</a:t>
            </a:r>
            <a:r>
              <a:rPr lang="en-US" dirty="0">
                <a:solidFill>
                  <a:schemeClr val="bg1"/>
                </a:solidFill>
                <a:latin typeface="Aptos" panose="020B0004020202020204" pitchFamily="34" charset="0"/>
                <a:cs typeface="Times New Roman" panose="02020603050405020304" pitchFamily="18" charset="0"/>
              </a:rPr>
              <a:t>One Health Trust, </a:t>
            </a:r>
            <a:r>
              <a:rPr lang="en-US" baseline="30000" dirty="0">
                <a:solidFill>
                  <a:schemeClr val="bg1"/>
                </a:solidFill>
                <a:latin typeface="Aptos" panose="020B0004020202020204" pitchFamily="34" charset="0"/>
                <a:cs typeface="Times New Roman" panose="02020603050405020304" pitchFamily="18" charset="0"/>
              </a:rPr>
              <a:t>3</a:t>
            </a:r>
            <a:r>
              <a:rPr lang="en-US" dirty="0">
                <a:solidFill>
                  <a:schemeClr val="bg1"/>
                </a:solidFill>
                <a:latin typeface="Aptos" panose="020B0004020202020204" pitchFamily="34" charset="0"/>
                <a:cs typeface="Times New Roman" panose="02020603050405020304" pitchFamily="18" charset="0"/>
              </a:rPr>
              <a:t>Institute for Disease Modeling</a:t>
            </a:r>
          </a:p>
        </p:txBody>
      </p:sp>
      <p:pic>
        <p:nvPicPr>
          <p:cNvPr id="8" name="Picture 7" descr="A logo with white letters&#10;&#10;AI-generated content may be incorrect.">
            <a:extLst>
              <a:ext uri="{FF2B5EF4-FFF2-40B4-BE49-F238E27FC236}">
                <a16:creationId xmlns:a16="http://schemas.microsoft.com/office/drawing/2014/main" id="{8985F249-D2FF-F060-EBE2-625D8961C9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0354" y="5758974"/>
            <a:ext cx="2290763" cy="598892"/>
          </a:xfrm>
          <a:prstGeom prst="rect">
            <a:avLst/>
          </a:prstGeom>
        </p:spPr>
      </p:pic>
    </p:spTree>
    <p:extLst>
      <p:ext uri="{BB962C8B-B14F-4D97-AF65-F5344CB8AC3E}">
        <p14:creationId xmlns:p14="http://schemas.microsoft.com/office/powerpoint/2010/main" val="16583153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A68C930E-78F7-57FB-E8BD-A961F806C102}"/>
              </a:ext>
            </a:extLst>
          </p:cNvPr>
          <p:cNvSpPr>
            <a:spLocks noGrp="1"/>
          </p:cNvSpPr>
          <p:nvPr>
            <p:ph type="dt" sz="half" idx="14"/>
          </p:nvPr>
        </p:nvSpPr>
        <p:spPr/>
        <p:txBody>
          <a:bodyPr/>
          <a:lstStyle/>
          <a:p>
            <a:fld id="{2FD8AFF2-9042-B841-A3E7-F7EA0CBF7244}" type="datetime3">
              <a:rPr lang="en-US" smtClean="0"/>
              <a:pPr/>
              <a:t>28 October 2025</a:t>
            </a:fld>
            <a:endParaRPr lang="en-US"/>
          </a:p>
        </p:txBody>
      </p:sp>
      <p:sp>
        <p:nvSpPr>
          <p:cNvPr id="4" name="Footer Placeholder 3">
            <a:extLst>
              <a:ext uri="{FF2B5EF4-FFF2-40B4-BE49-F238E27FC236}">
                <a16:creationId xmlns:a16="http://schemas.microsoft.com/office/drawing/2014/main" id="{FB6AD075-6129-440B-3D26-0DAFAA597930}"/>
              </a:ext>
            </a:extLst>
          </p:cNvPr>
          <p:cNvSpPr>
            <a:spLocks noGrp="1"/>
          </p:cNvSpPr>
          <p:nvPr>
            <p:ph type="ftr" sz="quarter" idx="15"/>
          </p:nvPr>
        </p:nvSpPr>
        <p:spPr/>
        <p:txBody>
          <a:bodyPr/>
          <a:lstStyle/>
          <a:p>
            <a:r>
              <a:rPr lang="en-US" dirty="0"/>
              <a:t>MIDAS</a:t>
            </a:r>
          </a:p>
        </p:txBody>
      </p:sp>
      <p:sp>
        <p:nvSpPr>
          <p:cNvPr id="5" name="Slide Number Placeholder 4">
            <a:extLst>
              <a:ext uri="{FF2B5EF4-FFF2-40B4-BE49-F238E27FC236}">
                <a16:creationId xmlns:a16="http://schemas.microsoft.com/office/drawing/2014/main" id="{E5636DE3-745C-5C83-811B-DFE31AE8F4E0}"/>
              </a:ext>
            </a:extLst>
          </p:cNvPr>
          <p:cNvSpPr>
            <a:spLocks noGrp="1"/>
          </p:cNvSpPr>
          <p:nvPr>
            <p:ph type="sldNum" sz="quarter" idx="16"/>
          </p:nvPr>
        </p:nvSpPr>
        <p:spPr/>
        <p:txBody>
          <a:bodyPr/>
          <a:lstStyle/>
          <a:p>
            <a:fld id="{1876332E-97D2-CC49-9E46-E6E0DDE407EB}" type="slidenum">
              <a:rPr lang="en-US" smtClean="0"/>
              <a:pPr/>
              <a:t>2</a:t>
            </a:fld>
            <a:endParaRPr lang="en-US"/>
          </a:p>
        </p:txBody>
      </p:sp>
      <p:sp>
        <p:nvSpPr>
          <p:cNvPr id="6" name="Title 5">
            <a:extLst>
              <a:ext uri="{FF2B5EF4-FFF2-40B4-BE49-F238E27FC236}">
                <a16:creationId xmlns:a16="http://schemas.microsoft.com/office/drawing/2014/main" id="{3684A3F4-6A99-E8C4-275C-F3439ADF78D2}"/>
              </a:ext>
            </a:extLst>
          </p:cNvPr>
          <p:cNvSpPr>
            <a:spLocks noGrp="1"/>
          </p:cNvSpPr>
          <p:nvPr>
            <p:ph type="title"/>
          </p:nvPr>
        </p:nvSpPr>
        <p:spPr>
          <a:xfrm>
            <a:off x="838200" y="1"/>
            <a:ext cx="10515600" cy="1620981"/>
          </a:xfrm>
        </p:spPr>
        <p:txBody>
          <a:bodyPr>
            <a:normAutofit/>
          </a:bodyPr>
          <a:lstStyle/>
          <a:p>
            <a:r>
              <a:rPr lang="en-US" sz="3600" dirty="0"/>
              <a:t>GeoPops</a:t>
            </a:r>
          </a:p>
        </p:txBody>
      </p:sp>
      <p:sp>
        <p:nvSpPr>
          <p:cNvPr id="7" name="TextBox 6">
            <a:extLst>
              <a:ext uri="{FF2B5EF4-FFF2-40B4-BE49-F238E27FC236}">
                <a16:creationId xmlns:a16="http://schemas.microsoft.com/office/drawing/2014/main" id="{E0FC991E-1B5A-6C7D-4BF7-BFC0D02F98F3}"/>
              </a:ext>
            </a:extLst>
          </p:cNvPr>
          <p:cNvSpPr txBox="1"/>
          <p:nvPr/>
        </p:nvSpPr>
        <p:spPr>
          <a:xfrm>
            <a:off x="449026" y="2276914"/>
            <a:ext cx="10245436" cy="2646878"/>
          </a:xfrm>
          <a:prstGeom prst="rect">
            <a:avLst/>
          </a:prstGeom>
          <a:noFill/>
        </p:spPr>
        <p:txBody>
          <a:bodyPr wrap="square" rtlCol="0">
            <a:spAutoFit/>
          </a:bodyPr>
          <a:lstStyle/>
          <a:p>
            <a:pPr marL="285750" indent="-285750">
              <a:spcAft>
                <a:spcPts val="1200"/>
              </a:spcAft>
              <a:buFont typeface="Arial" panose="020B0604020202020204" pitchFamily="34" charset="0"/>
              <a:buChar char="•"/>
            </a:pPr>
            <a:r>
              <a:rPr lang="en-US" dirty="0"/>
              <a:t>Open-source package for generating geographically and demographically realistic synthetic populations for any US Census location using publicly available data</a:t>
            </a:r>
          </a:p>
          <a:p>
            <a:pPr marL="285750" indent="-285750">
              <a:spcAft>
                <a:spcPts val="1200"/>
              </a:spcAft>
              <a:buFont typeface="Arial" panose="020B0604020202020204" pitchFamily="34" charset="0"/>
              <a:buChar char="•"/>
            </a:pPr>
            <a:r>
              <a:rPr lang="en-US" dirty="0"/>
              <a:t>Same methodology as </a:t>
            </a:r>
            <a:r>
              <a:rPr lang="en-US" dirty="0">
                <a:hlinkClick r:id="rId3"/>
              </a:rPr>
              <a:t>GREASYPOP-CO</a:t>
            </a:r>
            <a:r>
              <a:rPr lang="en-US" dirty="0"/>
              <a:t> (One Health Trust) but wrapped in convenient Python package that can be pip installed</a:t>
            </a:r>
          </a:p>
          <a:p>
            <a:pPr marL="285750" indent="-285750">
              <a:spcAft>
                <a:spcPts val="1200"/>
              </a:spcAft>
              <a:buFont typeface="Arial" panose="020B0604020202020204" pitchFamily="34" charset="0"/>
              <a:buChar char="•"/>
            </a:pPr>
            <a:r>
              <a:rPr lang="en-US" dirty="0"/>
              <a:t>Automatic data downloading</a:t>
            </a:r>
          </a:p>
          <a:p>
            <a:pPr marL="285750" indent="-285750">
              <a:spcAft>
                <a:spcPts val="1200"/>
              </a:spcAft>
              <a:buFont typeface="Arial" panose="020B0604020202020204" pitchFamily="34" charset="0"/>
              <a:buChar char="•"/>
            </a:pPr>
            <a:r>
              <a:rPr lang="en-US" dirty="0"/>
              <a:t>Compatibility with Census data beyond 2019 (in development)</a:t>
            </a:r>
          </a:p>
          <a:p>
            <a:pPr marL="285750" indent="-285750">
              <a:spcAft>
                <a:spcPts val="1200"/>
              </a:spcAft>
              <a:buFont typeface="Arial" panose="020B0604020202020204" pitchFamily="34" charset="0"/>
              <a:buChar char="•"/>
            </a:pPr>
            <a:r>
              <a:rPr lang="en-US" dirty="0"/>
              <a:t>Compatibility with agent-based modeling software </a:t>
            </a:r>
            <a:r>
              <a:rPr lang="en-US" dirty="0">
                <a:hlinkClick r:id="rId4"/>
              </a:rPr>
              <a:t>Starsim</a:t>
            </a:r>
            <a:r>
              <a:rPr lang="en-US" dirty="0"/>
              <a:t> (IDM)</a:t>
            </a:r>
          </a:p>
        </p:txBody>
      </p:sp>
      <p:sp>
        <p:nvSpPr>
          <p:cNvPr id="8" name="Rounded Rectangle 7">
            <a:extLst>
              <a:ext uri="{FF2B5EF4-FFF2-40B4-BE49-F238E27FC236}">
                <a16:creationId xmlns:a16="http://schemas.microsoft.com/office/drawing/2014/main" id="{A41FA5E5-6BC3-3D13-9FE0-DBD908888097}"/>
              </a:ext>
            </a:extLst>
          </p:cNvPr>
          <p:cNvSpPr/>
          <p:nvPr/>
        </p:nvSpPr>
        <p:spPr>
          <a:xfrm>
            <a:off x="7628291" y="4108653"/>
            <a:ext cx="3725508" cy="828608"/>
          </a:xfrm>
          <a:prstGeom prst="roundRect">
            <a:avLst/>
          </a:prstGeom>
          <a:solidFill>
            <a:schemeClr val="tx2">
              <a:lumMod val="20000"/>
              <a:lumOff val="80000"/>
            </a:schemeClr>
          </a:solidFill>
          <a:ln w="635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github.com/ACCIDDA/GeoPops</a:t>
            </a:r>
          </a:p>
        </p:txBody>
      </p:sp>
      <p:sp>
        <p:nvSpPr>
          <p:cNvPr id="9" name="Rounded Rectangle 8">
            <a:extLst>
              <a:ext uri="{FF2B5EF4-FFF2-40B4-BE49-F238E27FC236}">
                <a16:creationId xmlns:a16="http://schemas.microsoft.com/office/drawing/2014/main" id="{96749392-BEF2-AB99-0590-A8E6801CBF20}"/>
              </a:ext>
            </a:extLst>
          </p:cNvPr>
          <p:cNvSpPr/>
          <p:nvPr/>
        </p:nvSpPr>
        <p:spPr>
          <a:xfrm>
            <a:off x="7628292" y="5165420"/>
            <a:ext cx="3725508" cy="828608"/>
          </a:xfrm>
          <a:prstGeom prst="roundRect">
            <a:avLst/>
          </a:prstGeom>
          <a:solidFill>
            <a:schemeClr val="tx2">
              <a:lumMod val="20000"/>
              <a:lumOff val="80000"/>
            </a:schemeClr>
          </a:solidFill>
          <a:ln w="635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pypi.org/project/geopops</a:t>
            </a:r>
          </a:p>
        </p:txBody>
      </p:sp>
    </p:spTree>
    <p:extLst>
      <p:ext uri="{BB962C8B-B14F-4D97-AF65-F5344CB8AC3E}">
        <p14:creationId xmlns:p14="http://schemas.microsoft.com/office/powerpoint/2010/main" val="18765132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D30000-9593-EE45-E30D-5A30A27FDFAC}"/>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09813B96-A417-25C4-18C2-83794501B9A0}"/>
              </a:ext>
            </a:extLst>
          </p:cNvPr>
          <p:cNvSpPr>
            <a:spLocks noGrp="1"/>
          </p:cNvSpPr>
          <p:nvPr>
            <p:ph type="dt" sz="half" idx="14"/>
          </p:nvPr>
        </p:nvSpPr>
        <p:spPr/>
        <p:txBody>
          <a:bodyPr/>
          <a:lstStyle/>
          <a:p>
            <a:fld id="{2FD8AFF2-9042-B841-A3E7-F7EA0CBF7244}" type="datetime3">
              <a:rPr lang="en-US" smtClean="0"/>
              <a:pPr/>
              <a:t>28 October 2025</a:t>
            </a:fld>
            <a:endParaRPr lang="en-US"/>
          </a:p>
        </p:txBody>
      </p:sp>
      <p:sp>
        <p:nvSpPr>
          <p:cNvPr id="4" name="Footer Placeholder 3">
            <a:extLst>
              <a:ext uri="{FF2B5EF4-FFF2-40B4-BE49-F238E27FC236}">
                <a16:creationId xmlns:a16="http://schemas.microsoft.com/office/drawing/2014/main" id="{0BC82C91-3FF0-6AA5-846A-72CDC20FF953}"/>
              </a:ext>
            </a:extLst>
          </p:cNvPr>
          <p:cNvSpPr>
            <a:spLocks noGrp="1"/>
          </p:cNvSpPr>
          <p:nvPr>
            <p:ph type="ftr" sz="quarter" idx="15"/>
          </p:nvPr>
        </p:nvSpPr>
        <p:spPr/>
        <p:txBody>
          <a:bodyPr/>
          <a:lstStyle/>
          <a:p>
            <a:r>
              <a:rPr lang="en-US" dirty="0"/>
              <a:t>MIDAS</a:t>
            </a:r>
          </a:p>
        </p:txBody>
      </p:sp>
      <p:sp>
        <p:nvSpPr>
          <p:cNvPr id="5" name="Slide Number Placeholder 4">
            <a:extLst>
              <a:ext uri="{FF2B5EF4-FFF2-40B4-BE49-F238E27FC236}">
                <a16:creationId xmlns:a16="http://schemas.microsoft.com/office/drawing/2014/main" id="{F668F99B-9746-1360-321B-7C95A88F914B}"/>
              </a:ext>
            </a:extLst>
          </p:cNvPr>
          <p:cNvSpPr>
            <a:spLocks noGrp="1"/>
          </p:cNvSpPr>
          <p:nvPr>
            <p:ph type="sldNum" sz="quarter" idx="16"/>
          </p:nvPr>
        </p:nvSpPr>
        <p:spPr/>
        <p:txBody>
          <a:bodyPr/>
          <a:lstStyle/>
          <a:p>
            <a:fld id="{1876332E-97D2-CC49-9E46-E6E0DDE407EB}" type="slidenum">
              <a:rPr lang="en-US" smtClean="0"/>
              <a:pPr/>
              <a:t>3</a:t>
            </a:fld>
            <a:endParaRPr lang="en-US"/>
          </a:p>
        </p:txBody>
      </p:sp>
      <p:sp>
        <p:nvSpPr>
          <p:cNvPr id="6" name="Title 5">
            <a:extLst>
              <a:ext uri="{FF2B5EF4-FFF2-40B4-BE49-F238E27FC236}">
                <a16:creationId xmlns:a16="http://schemas.microsoft.com/office/drawing/2014/main" id="{C3DF1930-5005-24DD-9B5B-1E373464A9B1}"/>
              </a:ext>
            </a:extLst>
          </p:cNvPr>
          <p:cNvSpPr>
            <a:spLocks noGrp="1"/>
          </p:cNvSpPr>
          <p:nvPr>
            <p:ph type="title"/>
          </p:nvPr>
        </p:nvSpPr>
        <p:spPr>
          <a:xfrm>
            <a:off x="838200" y="1"/>
            <a:ext cx="10515600" cy="1620981"/>
          </a:xfrm>
        </p:spPr>
        <p:txBody>
          <a:bodyPr>
            <a:normAutofit/>
          </a:bodyPr>
          <a:lstStyle/>
          <a:p>
            <a:r>
              <a:rPr lang="en-US" sz="3600" dirty="0"/>
              <a:t>MIDAS Notebook Tutorial </a:t>
            </a:r>
          </a:p>
        </p:txBody>
      </p:sp>
      <p:sp>
        <p:nvSpPr>
          <p:cNvPr id="7" name="TextBox 6">
            <a:extLst>
              <a:ext uri="{FF2B5EF4-FFF2-40B4-BE49-F238E27FC236}">
                <a16:creationId xmlns:a16="http://schemas.microsoft.com/office/drawing/2014/main" id="{8E0BBBDE-0494-8768-484C-161705418C0D}"/>
              </a:ext>
            </a:extLst>
          </p:cNvPr>
          <p:cNvSpPr txBox="1"/>
          <p:nvPr/>
        </p:nvSpPr>
        <p:spPr>
          <a:xfrm>
            <a:off x="838200" y="2167116"/>
            <a:ext cx="8025384" cy="2523768"/>
          </a:xfrm>
          <a:prstGeom prst="rect">
            <a:avLst/>
          </a:prstGeom>
          <a:noFill/>
        </p:spPr>
        <p:txBody>
          <a:bodyPr wrap="square" rtlCol="0">
            <a:spAutoFit/>
          </a:bodyPr>
          <a:lstStyle/>
          <a:p>
            <a:pPr>
              <a:spcAft>
                <a:spcPts val="1200"/>
              </a:spcAft>
            </a:pPr>
            <a:r>
              <a:rPr lang="en-US" b="1" dirty="0"/>
              <a:t>Demonstration of framework. Not a realistic application!</a:t>
            </a:r>
          </a:p>
          <a:p>
            <a:pPr lvl="1">
              <a:spcAft>
                <a:spcPts val="1200"/>
              </a:spcAft>
            </a:pPr>
            <a:r>
              <a:rPr lang="en-US" dirty="0"/>
              <a:t>1. Make a population of Howard County, MD</a:t>
            </a:r>
          </a:p>
          <a:p>
            <a:pPr lvl="1">
              <a:spcAft>
                <a:spcPts val="1200"/>
              </a:spcAft>
            </a:pPr>
            <a:r>
              <a:rPr lang="en-US" dirty="0"/>
              <a:t>2. Run a COVID-like SIR Starsim model on the population</a:t>
            </a:r>
          </a:p>
          <a:p>
            <a:pPr lvl="1">
              <a:spcAft>
                <a:spcPts val="1200"/>
              </a:spcAft>
            </a:pPr>
            <a:r>
              <a:rPr lang="en-US" dirty="0"/>
              <a:t>3. Incorporate prevalence-dependent "school closures"</a:t>
            </a:r>
          </a:p>
          <a:p>
            <a:pPr lvl="1">
              <a:spcAft>
                <a:spcPts val="1200"/>
              </a:spcAft>
            </a:pPr>
            <a:r>
              <a:rPr lang="en-US" dirty="0"/>
              <a:t>4. Track outcomes by age and Census Block Group (CBG)</a:t>
            </a:r>
          </a:p>
          <a:p>
            <a:pPr marL="342900" indent="-342900">
              <a:spcAft>
                <a:spcPts val="1200"/>
              </a:spcAft>
              <a:buFont typeface="+mj-lt"/>
              <a:buAutoNum type="arabicPeriod"/>
            </a:pPr>
            <a:endParaRPr lang="en-US" dirty="0"/>
          </a:p>
        </p:txBody>
      </p:sp>
      <p:sp>
        <p:nvSpPr>
          <p:cNvPr id="8" name="Rounded Rectangle 7">
            <a:extLst>
              <a:ext uri="{FF2B5EF4-FFF2-40B4-BE49-F238E27FC236}">
                <a16:creationId xmlns:a16="http://schemas.microsoft.com/office/drawing/2014/main" id="{545C99A6-BE39-9D8F-0BC7-976F179846E9}"/>
              </a:ext>
            </a:extLst>
          </p:cNvPr>
          <p:cNvSpPr/>
          <p:nvPr/>
        </p:nvSpPr>
        <p:spPr>
          <a:xfrm>
            <a:off x="2607137" y="4922292"/>
            <a:ext cx="6977725" cy="828608"/>
          </a:xfrm>
          <a:prstGeom prst="roundRect">
            <a:avLst/>
          </a:prstGeom>
          <a:solidFill>
            <a:schemeClr val="tx2">
              <a:lumMod val="20000"/>
              <a:lumOff val="80000"/>
            </a:schemeClr>
          </a:solidFill>
          <a:ln w="635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github.com/ACCIDDA/GeoPops/tutorials/MIDAS</a:t>
            </a:r>
          </a:p>
        </p:txBody>
      </p:sp>
    </p:spTree>
    <p:extLst>
      <p:ext uri="{BB962C8B-B14F-4D97-AF65-F5344CB8AC3E}">
        <p14:creationId xmlns:p14="http://schemas.microsoft.com/office/powerpoint/2010/main" val="26112827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1BE83-C3EA-255D-65BC-7ADB652630C3}"/>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16B43E46-F735-6CDB-0E1F-F486CB5822D4}"/>
              </a:ext>
            </a:extLst>
          </p:cNvPr>
          <p:cNvSpPr>
            <a:spLocks noGrp="1"/>
          </p:cNvSpPr>
          <p:nvPr>
            <p:ph type="dt" sz="half" idx="14"/>
          </p:nvPr>
        </p:nvSpPr>
        <p:spPr/>
        <p:txBody>
          <a:bodyPr/>
          <a:lstStyle/>
          <a:p>
            <a:fld id="{2FD8AFF2-9042-B841-A3E7-F7EA0CBF7244}" type="datetime3">
              <a:rPr lang="en-US" smtClean="0"/>
              <a:pPr/>
              <a:t>28 October 2025</a:t>
            </a:fld>
            <a:endParaRPr lang="en-US"/>
          </a:p>
        </p:txBody>
      </p:sp>
      <p:sp>
        <p:nvSpPr>
          <p:cNvPr id="4" name="Footer Placeholder 3">
            <a:extLst>
              <a:ext uri="{FF2B5EF4-FFF2-40B4-BE49-F238E27FC236}">
                <a16:creationId xmlns:a16="http://schemas.microsoft.com/office/drawing/2014/main" id="{6B6C3319-01B1-1619-4756-6B62B1F30A4C}"/>
              </a:ext>
            </a:extLst>
          </p:cNvPr>
          <p:cNvSpPr>
            <a:spLocks noGrp="1"/>
          </p:cNvSpPr>
          <p:nvPr>
            <p:ph type="ftr" sz="quarter" idx="15"/>
          </p:nvPr>
        </p:nvSpPr>
        <p:spPr/>
        <p:txBody>
          <a:bodyPr/>
          <a:lstStyle/>
          <a:p>
            <a:r>
              <a:rPr lang="en-US" dirty="0"/>
              <a:t>MIDAS</a:t>
            </a:r>
          </a:p>
        </p:txBody>
      </p:sp>
      <p:sp>
        <p:nvSpPr>
          <p:cNvPr id="5" name="Slide Number Placeholder 4">
            <a:extLst>
              <a:ext uri="{FF2B5EF4-FFF2-40B4-BE49-F238E27FC236}">
                <a16:creationId xmlns:a16="http://schemas.microsoft.com/office/drawing/2014/main" id="{AAB896B7-4E60-FFB6-EDC4-FE465FDB0407}"/>
              </a:ext>
            </a:extLst>
          </p:cNvPr>
          <p:cNvSpPr>
            <a:spLocks noGrp="1"/>
          </p:cNvSpPr>
          <p:nvPr>
            <p:ph type="sldNum" sz="quarter" idx="16"/>
          </p:nvPr>
        </p:nvSpPr>
        <p:spPr/>
        <p:txBody>
          <a:bodyPr/>
          <a:lstStyle/>
          <a:p>
            <a:fld id="{1876332E-97D2-CC49-9E46-E6E0DDE407EB}" type="slidenum">
              <a:rPr lang="en-US" smtClean="0"/>
              <a:pPr/>
              <a:t>4</a:t>
            </a:fld>
            <a:endParaRPr lang="en-US"/>
          </a:p>
        </p:txBody>
      </p:sp>
      <p:sp>
        <p:nvSpPr>
          <p:cNvPr id="6" name="Title 5">
            <a:extLst>
              <a:ext uri="{FF2B5EF4-FFF2-40B4-BE49-F238E27FC236}">
                <a16:creationId xmlns:a16="http://schemas.microsoft.com/office/drawing/2014/main" id="{1D5F6884-9E6C-9400-F1BC-096F44A488C7}"/>
              </a:ext>
            </a:extLst>
          </p:cNvPr>
          <p:cNvSpPr>
            <a:spLocks noGrp="1"/>
          </p:cNvSpPr>
          <p:nvPr>
            <p:ph type="title"/>
          </p:nvPr>
        </p:nvSpPr>
        <p:spPr>
          <a:xfrm>
            <a:off x="838200" y="1"/>
            <a:ext cx="10515600" cy="1634936"/>
          </a:xfrm>
        </p:spPr>
        <p:txBody>
          <a:bodyPr>
            <a:normAutofit/>
          </a:bodyPr>
          <a:lstStyle/>
          <a:p>
            <a:r>
              <a:rPr lang="en-US" sz="3600" dirty="0"/>
              <a:t>Output: Agents and networks</a:t>
            </a:r>
          </a:p>
        </p:txBody>
      </p:sp>
      <p:sp>
        <p:nvSpPr>
          <p:cNvPr id="31" name="TextBox 30">
            <a:extLst>
              <a:ext uri="{FF2B5EF4-FFF2-40B4-BE49-F238E27FC236}">
                <a16:creationId xmlns:a16="http://schemas.microsoft.com/office/drawing/2014/main" id="{AB873F44-2AF2-F2A6-F913-B8EED1D2C6AF}"/>
              </a:ext>
            </a:extLst>
          </p:cNvPr>
          <p:cNvSpPr txBox="1"/>
          <p:nvPr/>
        </p:nvSpPr>
        <p:spPr>
          <a:xfrm>
            <a:off x="967563" y="2038360"/>
            <a:ext cx="3934046" cy="3970318"/>
          </a:xfrm>
          <a:prstGeom prst="rect">
            <a:avLst/>
          </a:prstGeom>
          <a:noFill/>
        </p:spPr>
        <p:txBody>
          <a:bodyPr wrap="square">
            <a:spAutoFit/>
          </a:bodyPr>
          <a:lstStyle/>
          <a:p>
            <a:r>
              <a:rPr lang="en-US" b="1" dirty="0"/>
              <a:t>Agents</a:t>
            </a:r>
          </a:p>
          <a:p>
            <a:pPr marL="285750" indent="-285750">
              <a:buFont typeface="Arial" panose="020B0604020202020204" pitchFamily="34" charset="0"/>
              <a:buChar char="•"/>
            </a:pPr>
            <a:r>
              <a:rPr lang="en-US" dirty="0"/>
              <a:t>Age</a:t>
            </a:r>
          </a:p>
          <a:p>
            <a:pPr marL="285750" indent="-285750">
              <a:buFont typeface="Arial" panose="020B0604020202020204" pitchFamily="34" charset="0"/>
              <a:buChar char="•"/>
            </a:pPr>
            <a:r>
              <a:rPr lang="en-US" dirty="0"/>
              <a:t>Gender</a:t>
            </a:r>
          </a:p>
          <a:p>
            <a:pPr marL="285750" indent="-285750">
              <a:buFont typeface="Arial" panose="020B0604020202020204" pitchFamily="34" charset="0"/>
              <a:buChar char="•"/>
            </a:pPr>
            <a:r>
              <a:rPr lang="en-US" dirty="0"/>
              <a:t>Race/ethnicity</a:t>
            </a:r>
          </a:p>
          <a:p>
            <a:pPr marL="285750" indent="-285750">
              <a:buFont typeface="Arial" panose="020B0604020202020204" pitchFamily="34" charset="0"/>
              <a:buChar char="•"/>
            </a:pPr>
            <a:r>
              <a:rPr lang="en-US" dirty="0"/>
              <a:t>Worker status</a:t>
            </a:r>
          </a:p>
          <a:p>
            <a:pPr marL="285750" indent="-285750">
              <a:buFont typeface="Arial" panose="020B0604020202020204" pitchFamily="34" charset="0"/>
              <a:buChar char="•"/>
            </a:pPr>
            <a:r>
              <a:rPr lang="en-US" dirty="0"/>
              <a:t>Student status</a:t>
            </a:r>
          </a:p>
          <a:p>
            <a:pPr marL="285750" indent="-285750">
              <a:buFont typeface="Arial" panose="020B0604020202020204" pitchFamily="34" charset="0"/>
              <a:buChar char="•"/>
            </a:pPr>
            <a:r>
              <a:rPr lang="en-US" dirty="0"/>
              <a:t>School grade</a:t>
            </a:r>
          </a:p>
          <a:p>
            <a:pPr marL="285750" indent="-285750">
              <a:buFont typeface="Arial" panose="020B0604020202020204" pitchFamily="34" charset="0"/>
              <a:buChar char="•"/>
            </a:pPr>
            <a:r>
              <a:rPr lang="en-US" dirty="0"/>
              <a:t>Commuter status</a:t>
            </a:r>
          </a:p>
          <a:p>
            <a:pPr marL="285750" indent="-285750">
              <a:buFont typeface="Arial" panose="020B0604020202020204" pitchFamily="34" charset="0"/>
              <a:buChar char="•"/>
            </a:pPr>
            <a:r>
              <a:rPr lang="en-US" dirty="0"/>
              <a:t>Income category</a:t>
            </a:r>
          </a:p>
          <a:p>
            <a:pPr marL="285750" indent="-285750">
              <a:buFont typeface="Arial" panose="020B0604020202020204" pitchFamily="34" charset="0"/>
              <a:buChar char="•"/>
            </a:pPr>
            <a:r>
              <a:rPr lang="en-US" dirty="0"/>
              <a:t>Workplace category</a:t>
            </a:r>
          </a:p>
          <a:p>
            <a:pPr marL="285750" indent="-285750">
              <a:buFont typeface="Arial" panose="020B0604020202020204" pitchFamily="34" charset="0"/>
              <a:buChar char="•"/>
            </a:pPr>
            <a:r>
              <a:rPr lang="en-US" dirty="0"/>
              <a:t>Home CBG</a:t>
            </a:r>
          </a:p>
          <a:p>
            <a:pPr marL="285750" indent="-285750">
              <a:buFont typeface="Arial" panose="020B0604020202020204" pitchFamily="34" charset="0"/>
              <a:buChar char="•"/>
            </a:pPr>
            <a:r>
              <a:rPr lang="en-US" dirty="0"/>
              <a:t>School CBG if applicable</a:t>
            </a:r>
          </a:p>
          <a:p>
            <a:pPr marL="285750" indent="-285750">
              <a:buFont typeface="Arial" panose="020B0604020202020204" pitchFamily="34" charset="0"/>
              <a:buChar char="•"/>
            </a:pPr>
            <a:r>
              <a:rPr lang="en-US" dirty="0"/>
              <a:t>Work CBG if applicable</a:t>
            </a:r>
          </a:p>
          <a:p>
            <a:pPr marL="285750" indent="-285750">
              <a:buFont typeface="Arial" panose="020B0604020202020204" pitchFamily="34" charset="0"/>
              <a:buChar char="•"/>
            </a:pPr>
            <a:r>
              <a:rPr lang="en-US" dirty="0"/>
              <a:t>GQ CBG if applicable</a:t>
            </a:r>
          </a:p>
        </p:txBody>
      </p:sp>
      <p:sp>
        <p:nvSpPr>
          <p:cNvPr id="2" name="TextBox 1">
            <a:extLst>
              <a:ext uri="{FF2B5EF4-FFF2-40B4-BE49-F238E27FC236}">
                <a16:creationId xmlns:a16="http://schemas.microsoft.com/office/drawing/2014/main" id="{17C9B78C-EBDC-4804-54F8-45B61ABE297C}"/>
              </a:ext>
            </a:extLst>
          </p:cNvPr>
          <p:cNvSpPr txBox="1"/>
          <p:nvPr/>
        </p:nvSpPr>
        <p:spPr>
          <a:xfrm>
            <a:off x="5040628" y="2596455"/>
            <a:ext cx="3220870" cy="1477328"/>
          </a:xfrm>
          <a:prstGeom prst="rect">
            <a:avLst/>
          </a:prstGeom>
          <a:noFill/>
        </p:spPr>
        <p:txBody>
          <a:bodyPr wrap="square">
            <a:spAutoFit/>
          </a:bodyPr>
          <a:lstStyle/>
          <a:p>
            <a:r>
              <a:rPr lang="en-US" b="1" dirty="0"/>
              <a:t>School</a:t>
            </a:r>
          </a:p>
          <a:p>
            <a:pPr marL="285750" indent="-285750">
              <a:buFont typeface="Arial" panose="020B0604020202020204" pitchFamily="34" charset="0"/>
              <a:buChar char="•"/>
            </a:pPr>
            <a:r>
              <a:rPr lang="en-US" dirty="0"/>
              <a:t>List of students for each</a:t>
            </a:r>
          </a:p>
          <a:p>
            <a:pPr marL="285750" indent="-285750">
              <a:buFont typeface="Arial" panose="020B0604020202020204" pitchFamily="34" charset="0"/>
              <a:buChar char="•"/>
            </a:pPr>
            <a:r>
              <a:rPr lang="en-US" dirty="0"/>
              <a:t>Size of grade levels</a:t>
            </a:r>
          </a:p>
          <a:p>
            <a:pPr marL="285750" indent="-285750">
              <a:buFont typeface="Arial" panose="020B0604020202020204" pitchFamily="34" charset="0"/>
              <a:buChar char="•"/>
            </a:pPr>
            <a:r>
              <a:rPr lang="en-US" dirty="0"/>
              <a:t>Number of teachers</a:t>
            </a:r>
          </a:p>
          <a:p>
            <a:pPr marL="285750" indent="-285750">
              <a:buFont typeface="Arial" panose="020B0604020202020204" pitchFamily="34" charset="0"/>
              <a:buChar char="•"/>
            </a:pPr>
            <a:r>
              <a:rPr lang="en-US" dirty="0"/>
              <a:t>CBG location</a:t>
            </a:r>
          </a:p>
        </p:txBody>
      </p:sp>
      <p:sp>
        <p:nvSpPr>
          <p:cNvPr id="7" name="TextBox 6">
            <a:extLst>
              <a:ext uri="{FF2B5EF4-FFF2-40B4-BE49-F238E27FC236}">
                <a16:creationId xmlns:a16="http://schemas.microsoft.com/office/drawing/2014/main" id="{4B7C3C14-751E-9010-EC49-ADE5DA1094F9}"/>
              </a:ext>
            </a:extLst>
          </p:cNvPr>
          <p:cNvSpPr txBox="1"/>
          <p:nvPr/>
        </p:nvSpPr>
        <p:spPr>
          <a:xfrm>
            <a:off x="8808720" y="2600841"/>
            <a:ext cx="2545080" cy="1200329"/>
          </a:xfrm>
          <a:prstGeom prst="rect">
            <a:avLst/>
          </a:prstGeom>
          <a:noFill/>
        </p:spPr>
        <p:txBody>
          <a:bodyPr wrap="square">
            <a:spAutoFit/>
          </a:bodyPr>
          <a:lstStyle/>
          <a:p>
            <a:r>
              <a:rPr lang="en-US" b="1" dirty="0"/>
              <a:t>Workplace</a:t>
            </a:r>
          </a:p>
          <a:p>
            <a:pPr marL="285750" indent="-285750">
              <a:buFont typeface="Arial" panose="020B0604020202020204" pitchFamily="34" charset="0"/>
              <a:buChar char="•"/>
            </a:pPr>
            <a:r>
              <a:rPr lang="en-US" dirty="0"/>
              <a:t>Number of workers</a:t>
            </a:r>
          </a:p>
          <a:p>
            <a:pPr marL="285750" indent="-285750">
              <a:buFont typeface="Arial" panose="020B0604020202020204" pitchFamily="34" charset="0"/>
              <a:buChar char="•"/>
            </a:pPr>
            <a:r>
              <a:rPr lang="en-US" dirty="0"/>
              <a:t>CBG if inside population area</a:t>
            </a:r>
          </a:p>
        </p:txBody>
      </p:sp>
      <p:sp>
        <p:nvSpPr>
          <p:cNvPr id="8" name="TextBox 7">
            <a:extLst>
              <a:ext uri="{FF2B5EF4-FFF2-40B4-BE49-F238E27FC236}">
                <a16:creationId xmlns:a16="http://schemas.microsoft.com/office/drawing/2014/main" id="{1887D462-858C-5A8E-2FA0-89F4A9E656D4}"/>
              </a:ext>
            </a:extLst>
          </p:cNvPr>
          <p:cNvSpPr txBox="1"/>
          <p:nvPr/>
        </p:nvSpPr>
        <p:spPr>
          <a:xfrm>
            <a:off x="8808720" y="5029597"/>
            <a:ext cx="3002280" cy="1200329"/>
          </a:xfrm>
          <a:prstGeom prst="rect">
            <a:avLst/>
          </a:prstGeom>
          <a:noFill/>
        </p:spPr>
        <p:txBody>
          <a:bodyPr wrap="square">
            <a:spAutoFit/>
          </a:bodyPr>
          <a:lstStyle/>
          <a:p>
            <a:r>
              <a:rPr lang="en-US" b="1" dirty="0"/>
              <a:t>Group quarters (GQ)</a:t>
            </a:r>
          </a:p>
          <a:p>
            <a:pPr marL="285750" indent="-285750">
              <a:buFont typeface="Arial" panose="020B0604020202020204" pitchFamily="34" charset="0"/>
              <a:buChar char="•"/>
            </a:pPr>
            <a:r>
              <a:rPr lang="en-US" dirty="0"/>
              <a:t>Number of residents</a:t>
            </a:r>
          </a:p>
          <a:p>
            <a:pPr marL="285750" indent="-285750">
              <a:buFont typeface="Arial" panose="020B0604020202020204" pitchFamily="34" charset="0"/>
              <a:buChar char="•"/>
            </a:pPr>
            <a:r>
              <a:rPr lang="en-US" dirty="0"/>
              <a:t>Number of staff</a:t>
            </a:r>
          </a:p>
          <a:p>
            <a:pPr marL="285750" indent="-285750">
              <a:buFont typeface="Arial" panose="020B0604020202020204" pitchFamily="34" charset="0"/>
              <a:buChar char="•"/>
            </a:pPr>
            <a:r>
              <a:rPr lang="en-US" dirty="0"/>
              <a:t>CBG location</a:t>
            </a:r>
          </a:p>
        </p:txBody>
      </p:sp>
      <p:sp>
        <p:nvSpPr>
          <p:cNvPr id="9" name="TextBox 8">
            <a:extLst>
              <a:ext uri="{FF2B5EF4-FFF2-40B4-BE49-F238E27FC236}">
                <a16:creationId xmlns:a16="http://schemas.microsoft.com/office/drawing/2014/main" id="{370F20BA-FDBA-CF30-4357-EA40D3F88BB7}"/>
              </a:ext>
            </a:extLst>
          </p:cNvPr>
          <p:cNvSpPr txBox="1"/>
          <p:nvPr/>
        </p:nvSpPr>
        <p:spPr>
          <a:xfrm>
            <a:off x="5040628" y="5029597"/>
            <a:ext cx="2690208" cy="923330"/>
          </a:xfrm>
          <a:prstGeom prst="rect">
            <a:avLst/>
          </a:prstGeom>
          <a:noFill/>
        </p:spPr>
        <p:txBody>
          <a:bodyPr wrap="square">
            <a:spAutoFit/>
          </a:bodyPr>
          <a:lstStyle/>
          <a:p>
            <a:r>
              <a:rPr lang="en-US" b="1" dirty="0"/>
              <a:t>Household</a:t>
            </a:r>
          </a:p>
          <a:p>
            <a:pPr marL="285750" indent="-285750">
              <a:buFont typeface="Arial" panose="020B0604020202020204" pitchFamily="34" charset="0"/>
              <a:buChar char="•"/>
            </a:pPr>
            <a:r>
              <a:rPr lang="en-US" dirty="0"/>
              <a:t>List of agents for each</a:t>
            </a:r>
          </a:p>
          <a:p>
            <a:pPr marL="285750" indent="-285750">
              <a:buFont typeface="Arial" panose="020B0604020202020204" pitchFamily="34" charset="0"/>
              <a:buChar char="•"/>
            </a:pPr>
            <a:r>
              <a:rPr lang="en-US" dirty="0"/>
              <a:t>CBG location</a:t>
            </a:r>
          </a:p>
        </p:txBody>
      </p:sp>
      <p:pic>
        <p:nvPicPr>
          <p:cNvPr id="10" name="Picture 9" descr="A blue outline of a book&#10;&#10;Description automatically generated">
            <a:extLst>
              <a:ext uri="{FF2B5EF4-FFF2-40B4-BE49-F238E27FC236}">
                <a16:creationId xmlns:a16="http://schemas.microsoft.com/office/drawing/2014/main" id="{1DFC34EE-54A5-EC7E-4B1E-43D15FCA117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5040628" y="1866941"/>
            <a:ext cx="889000" cy="889000"/>
          </a:xfrm>
          <a:prstGeom prst="rect">
            <a:avLst/>
          </a:prstGeom>
        </p:spPr>
      </p:pic>
      <p:pic>
        <p:nvPicPr>
          <p:cNvPr id="11" name="Picture 10" descr="A blue line art of a briefcase&#10;&#10;Description automatically generated">
            <a:extLst>
              <a:ext uri="{FF2B5EF4-FFF2-40B4-BE49-F238E27FC236}">
                <a16:creationId xmlns:a16="http://schemas.microsoft.com/office/drawing/2014/main" id="{4CD4A0C7-44B3-770E-0934-263660FB991C}"/>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8808720" y="1817111"/>
            <a:ext cx="889000" cy="889000"/>
          </a:xfrm>
          <a:prstGeom prst="rect">
            <a:avLst/>
          </a:prstGeom>
        </p:spPr>
      </p:pic>
      <p:pic>
        <p:nvPicPr>
          <p:cNvPr id="12" name="Picture 11" descr="A grey house with a door&#10;&#10;Description automatically generated">
            <a:extLst>
              <a:ext uri="{FF2B5EF4-FFF2-40B4-BE49-F238E27FC236}">
                <a16:creationId xmlns:a16="http://schemas.microsoft.com/office/drawing/2014/main" id="{552699F8-18C8-8D7A-0B09-CF21CE685D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107940" y="4302759"/>
            <a:ext cx="708660" cy="708660"/>
          </a:xfrm>
          <a:prstGeom prst="rect">
            <a:avLst/>
          </a:prstGeom>
        </p:spPr>
      </p:pic>
      <p:pic>
        <p:nvPicPr>
          <p:cNvPr id="14" name="Picture 13">
            <a:extLst>
              <a:ext uri="{FF2B5EF4-FFF2-40B4-BE49-F238E27FC236}">
                <a16:creationId xmlns:a16="http://schemas.microsoft.com/office/drawing/2014/main" id="{03B05296-A4C3-2A25-6998-0966FF72F3C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812531" y="4241783"/>
            <a:ext cx="1051556" cy="1051556"/>
          </a:xfrm>
          <a:prstGeom prst="rect">
            <a:avLst/>
          </a:prstGeom>
        </p:spPr>
      </p:pic>
    </p:spTree>
    <p:extLst>
      <p:ext uri="{BB962C8B-B14F-4D97-AF65-F5344CB8AC3E}">
        <p14:creationId xmlns:p14="http://schemas.microsoft.com/office/powerpoint/2010/main" val="10236232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A68C930E-78F7-57FB-E8BD-A961F806C102}"/>
              </a:ext>
            </a:extLst>
          </p:cNvPr>
          <p:cNvSpPr>
            <a:spLocks noGrp="1"/>
          </p:cNvSpPr>
          <p:nvPr>
            <p:ph type="dt" sz="half" idx="14"/>
          </p:nvPr>
        </p:nvSpPr>
        <p:spPr/>
        <p:txBody>
          <a:bodyPr/>
          <a:lstStyle/>
          <a:p>
            <a:fld id="{2FD8AFF2-9042-B841-A3E7-F7EA0CBF7244}" type="datetime3">
              <a:rPr lang="en-US" smtClean="0"/>
              <a:pPr/>
              <a:t>28 October 2025</a:t>
            </a:fld>
            <a:endParaRPr lang="en-US"/>
          </a:p>
        </p:txBody>
      </p:sp>
      <p:sp>
        <p:nvSpPr>
          <p:cNvPr id="4" name="Footer Placeholder 3">
            <a:extLst>
              <a:ext uri="{FF2B5EF4-FFF2-40B4-BE49-F238E27FC236}">
                <a16:creationId xmlns:a16="http://schemas.microsoft.com/office/drawing/2014/main" id="{FB6AD075-6129-440B-3D26-0DAFAA597930}"/>
              </a:ext>
            </a:extLst>
          </p:cNvPr>
          <p:cNvSpPr>
            <a:spLocks noGrp="1"/>
          </p:cNvSpPr>
          <p:nvPr>
            <p:ph type="ftr" sz="quarter" idx="15"/>
          </p:nvPr>
        </p:nvSpPr>
        <p:spPr/>
        <p:txBody>
          <a:bodyPr/>
          <a:lstStyle/>
          <a:p>
            <a:r>
              <a:rPr lang="en-US" dirty="0"/>
              <a:t>MIDAS</a:t>
            </a:r>
          </a:p>
        </p:txBody>
      </p:sp>
      <p:sp>
        <p:nvSpPr>
          <p:cNvPr id="5" name="Slide Number Placeholder 4">
            <a:extLst>
              <a:ext uri="{FF2B5EF4-FFF2-40B4-BE49-F238E27FC236}">
                <a16:creationId xmlns:a16="http://schemas.microsoft.com/office/drawing/2014/main" id="{E5636DE3-745C-5C83-811B-DFE31AE8F4E0}"/>
              </a:ext>
            </a:extLst>
          </p:cNvPr>
          <p:cNvSpPr>
            <a:spLocks noGrp="1"/>
          </p:cNvSpPr>
          <p:nvPr>
            <p:ph type="sldNum" sz="quarter" idx="16"/>
          </p:nvPr>
        </p:nvSpPr>
        <p:spPr/>
        <p:txBody>
          <a:bodyPr/>
          <a:lstStyle/>
          <a:p>
            <a:fld id="{1876332E-97D2-CC49-9E46-E6E0DDE407EB}" type="slidenum">
              <a:rPr lang="en-US" smtClean="0"/>
              <a:pPr/>
              <a:t>5</a:t>
            </a:fld>
            <a:endParaRPr lang="en-US"/>
          </a:p>
        </p:txBody>
      </p:sp>
      <p:sp>
        <p:nvSpPr>
          <p:cNvPr id="6" name="Title 5">
            <a:extLst>
              <a:ext uri="{FF2B5EF4-FFF2-40B4-BE49-F238E27FC236}">
                <a16:creationId xmlns:a16="http://schemas.microsoft.com/office/drawing/2014/main" id="{3684A3F4-6A99-E8C4-275C-F3439ADF78D2}"/>
              </a:ext>
            </a:extLst>
          </p:cNvPr>
          <p:cNvSpPr>
            <a:spLocks noGrp="1"/>
          </p:cNvSpPr>
          <p:nvPr>
            <p:ph type="title"/>
          </p:nvPr>
        </p:nvSpPr>
        <p:spPr>
          <a:xfrm>
            <a:off x="507683" y="0"/>
            <a:ext cx="10515600" cy="1631876"/>
          </a:xfrm>
        </p:spPr>
        <p:txBody>
          <a:bodyPr>
            <a:normAutofit/>
          </a:bodyPr>
          <a:lstStyle/>
          <a:p>
            <a:r>
              <a:rPr lang="en-US" sz="3600" dirty="0"/>
              <a:t>Methods: Generating agents and households</a:t>
            </a:r>
          </a:p>
        </p:txBody>
      </p:sp>
      <p:pic>
        <p:nvPicPr>
          <p:cNvPr id="17" name="Picture 16" descr="A grey house with a door&#10;&#10;Description automatically generated">
            <a:extLst>
              <a:ext uri="{FF2B5EF4-FFF2-40B4-BE49-F238E27FC236}">
                <a16:creationId xmlns:a16="http://schemas.microsoft.com/office/drawing/2014/main" id="{10BA71BB-2364-E252-58FF-CD6E0E15DE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12106" y="3269519"/>
            <a:ext cx="708660" cy="708660"/>
          </a:xfrm>
          <a:prstGeom prst="rect">
            <a:avLst/>
          </a:prstGeom>
        </p:spPr>
      </p:pic>
      <p:pic>
        <p:nvPicPr>
          <p:cNvPr id="19" name="Picture 18" descr="A grey house with a door&#10;&#10;Description automatically generated">
            <a:extLst>
              <a:ext uri="{FF2B5EF4-FFF2-40B4-BE49-F238E27FC236}">
                <a16:creationId xmlns:a16="http://schemas.microsoft.com/office/drawing/2014/main" id="{3CDC3A94-85BD-02D9-0092-9EBEBB31AB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20766" y="2858237"/>
            <a:ext cx="708660" cy="708660"/>
          </a:xfrm>
          <a:prstGeom prst="rect">
            <a:avLst/>
          </a:prstGeom>
        </p:spPr>
      </p:pic>
      <p:pic>
        <p:nvPicPr>
          <p:cNvPr id="21" name="Picture 20" descr="A grey house with a door&#10;&#10;Description automatically generated">
            <a:extLst>
              <a:ext uri="{FF2B5EF4-FFF2-40B4-BE49-F238E27FC236}">
                <a16:creationId xmlns:a16="http://schemas.microsoft.com/office/drawing/2014/main" id="{86F754CF-81BD-85D6-8F94-A26EAC29CD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02744" y="3319247"/>
            <a:ext cx="708660" cy="708660"/>
          </a:xfrm>
          <a:prstGeom prst="rect">
            <a:avLst/>
          </a:prstGeom>
        </p:spPr>
      </p:pic>
      <p:pic>
        <p:nvPicPr>
          <p:cNvPr id="25" name="Picture 24" descr="A blue line drawing of a graph&#10;&#10;Description automatically generated">
            <a:extLst>
              <a:ext uri="{FF2B5EF4-FFF2-40B4-BE49-F238E27FC236}">
                <a16:creationId xmlns:a16="http://schemas.microsoft.com/office/drawing/2014/main" id="{E35FD3A9-EFA4-07E7-216D-7E90B772EC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119970" y="2761216"/>
            <a:ext cx="1680210" cy="1680210"/>
          </a:xfrm>
          <a:prstGeom prst="rect">
            <a:avLst/>
          </a:prstGeom>
        </p:spPr>
      </p:pic>
      <p:sp>
        <p:nvSpPr>
          <p:cNvPr id="28" name="TextBox 27">
            <a:extLst>
              <a:ext uri="{FF2B5EF4-FFF2-40B4-BE49-F238E27FC236}">
                <a16:creationId xmlns:a16="http://schemas.microsoft.com/office/drawing/2014/main" id="{FDFA8AA6-CE27-2151-882B-D116FC4FB516}"/>
              </a:ext>
            </a:extLst>
          </p:cNvPr>
          <p:cNvSpPr txBox="1"/>
          <p:nvPr/>
        </p:nvSpPr>
        <p:spPr>
          <a:xfrm>
            <a:off x="838200" y="2296183"/>
            <a:ext cx="4259580" cy="369332"/>
          </a:xfrm>
          <a:prstGeom prst="rect">
            <a:avLst/>
          </a:prstGeom>
          <a:noFill/>
        </p:spPr>
        <p:txBody>
          <a:bodyPr wrap="square">
            <a:spAutoFit/>
          </a:bodyPr>
          <a:lstStyle/>
          <a:p>
            <a:pPr algn="ctr"/>
            <a:r>
              <a:rPr lang="en-US" sz="1800" b="1" dirty="0"/>
              <a:t>Public Use Microdata Samples (PUMS)</a:t>
            </a:r>
            <a:endParaRPr lang="en-US" b="1" dirty="0"/>
          </a:p>
        </p:txBody>
      </p:sp>
      <p:sp>
        <p:nvSpPr>
          <p:cNvPr id="29" name="TextBox 28">
            <a:extLst>
              <a:ext uri="{FF2B5EF4-FFF2-40B4-BE49-F238E27FC236}">
                <a16:creationId xmlns:a16="http://schemas.microsoft.com/office/drawing/2014/main" id="{22D841D5-EEC5-BD32-DA9C-736164D44BC7}"/>
              </a:ext>
            </a:extLst>
          </p:cNvPr>
          <p:cNvSpPr txBox="1"/>
          <p:nvPr/>
        </p:nvSpPr>
        <p:spPr>
          <a:xfrm>
            <a:off x="6959303" y="2296183"/>
            <a:ext cx="4001544" cy="369332"/>
          </a:xfrm>
          <a:prstGeom prst="rect">
            <a:avLst/>
          </a:prstGeom>
          <a:noFill/>
        </p:spPr>
        <p:txBody>
          <a:bodyPr wrap="square">
            <a:spAutoFit/>
          </a:bodyPr>
          <a:lstStyle/>
          <a:p>
            <a:pPr algn="ctr"/>
            <a:r>
              <a:rPr lang="en-US" sz="1800" b="1" dirty="0"/>
              <a:t>American Community Survey (ACS)</a:t>
            </a:r>
            <a:endParaRPr lang="en-US" b="1" dirty="0"/>
          </a:p>
        </p:txBody>
      </p:sp>
      <p:cxnSp>
        <p:nvCxnSpPr>
          <p:cNvPr id="34" name="Straight Arrow Connector 33">
            <a:extLst>
              <a:ext uri="{FF2B5EF4-FFF2-40B4-BE49-F238E27FC236}">
                <a16:creationId xmlns:a16="http://schemas.microsoft.com/office/drawing/2014/main" id="{C6D01084-E389-C668-603D-742CF5D1D821}"/>
              </a:ext>
            </a:extLst>
          </p:cNvPr>
          <p:cNvCxnSpPr/>
          <p:nvPr/>
        </p:nvCxnSpPr>
        <p:spPr>
          <a:xfrm flipH="1">
            <a:off x="4274820" y="3560984"/>
            <a:ext cx="291465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19B76C1F-F7B8-58CC-26EC-5D0227F92741}"/>
              </a:ext>
            </a:extLst>
          </p:cNvPr>
          <p:cNvSpPr txBox="1"/>
          <p:nvPr/>
        </p:nvSpPr>
        <p:spPr>
          <a:xfrm>
            <a:off x="4791506" y="3211912"/>
            <a:ext cx="1833468" cy="923330"/>
          </a:xfrm>
          <a:prstGeom prst="rect">
            <a:avLst/>
          </a:prstGeom>
          <a:solidFill>
            <a:schemeClr val="bg1"/>
          </a:solidFill>
        </p:spPr>
        <p:txBody>
          <a:bodyPr wrap="square">
            <a:spAutoFit/>
          </a:bodyPr>
          <a:lstStyle/>
          <a:p>
            <a:pPr algn="ctr"/>
            <a:r>
              <a:rPr lang="en-US" b="1" dirty="0"/>
              <a:t>Combinatorial optimization (CO)</a:t>
            </a:r>
          </a:p>
        </p:txBody>
      </p:sp>
      <p:sp>
        <p:nvSpPr>
          <p:cNvPr id="2" name="TextBox 1">
            <a:extLst>
              <a:ext uri="{FF2B5EF4-FFF2-40B4-BE49-F238E27FC236}">
                <a16:creationId xmlns:a16="http://schemas.microsoft.com/office/drawing/2014/main" id="{23FDDAB0-4CC7-BE0D-FA53-1E9EC9756679}"/>
              </a:ext>
            </a:extLst>
          </p:cNvPr>
          <p:cNvSpPr txBox="1"/>
          <p:nvPr/>
        </p:nvSpPr>
        <p:spPr>
          <a:xfrm>
            <a:off x="445770" y="5761650"/>
            <a:ext cx="6452051" cy="507831"/>
          </a:xfrm>
          <a:prstGeom prst="rect">
            <a:avLst/>
          </a:prstGeom>
          <a:noFill/>
        </p:spPr>
        <p:txBody>
          <a:bodyPr wrap="square" rtlCol="0">
            <a:spAutoFit/>
          </a:bodyPr>
          <a:lstStyle/>
          <a:p>
            <a:pPr marL="274320" indent="-457200"/>
            <a:r>
              <a:rPr lang="en-US" sz="900" b="0" i="1" dirty="0">
                <a:solidFill>
                  <a:schemeClr val="tx1">
                    <a:lumMod val="50000"/>
                    <a:lumOff val="50000"/>
                  </a:schemeClr>
                </a:solidFill>
                <a:effectLst/>
                <a:latin typeface="Poppins-Regular"/>
              </a:rPr>
              <a:t>Alexander Y. Tulchinsky, Fardad Haghpanah, Alisa Hamilton, Nodar Kipshidze, and Eili Y. Klein. (2024). Generating geographically and economically realistic large-scale synthetic contact networks: A general method using publicly available data. https://</a:t>
            </a:r>
            <a:r>
              <a:rPr lang="en-US" sz="900" b="0" i="1" dirty="0" err="1">
                <a:solidFill>
                  <a:schemeClr val="tx1">
                    <a:lumMod val="50000"/>
                    <a:lumOff val="50000"/>
                  </a:schemeClr>
                </a:solidFill>
                <a:effectLst/>
                <a:latin typeface="Poppins-Regular"/>
              </a:rPr>
              <a:t>arxiv.org</a:t>
            </a:r>
            <a:r>
              <a:rPr lang="en-US" sz="900" b="0" i="1" dirty="0">
                <a:solidFill>
                  <a:schemeClr val="tx1">
                    <a:lumMod val="50000"/>
                    <a:lumOff val="50000"/>
                  </a:schemeClr>
                </a:solidFill>
                <a:effectLst/>
                <a:latin typeface="Poppins-Regular"/>
              </a:rPr>
              <a:t>/abs/2406.14698</a:t>
            </a:r>
            <a:endParaRPr lang="en-US" sz="900" i="1" dirty="0">
              <a:solidFill>
                <a:schemeClr val="tx1">
                  <a:lumMod val="50000"/>
                  <a:lumOff val="50000"/>
                </a:schemeClr>
              </a:solidFill>
            </a:endParaRPr>
          </a:p>
        </p:txBody>
      </p:sp>
      <p:sp>
        <p:nvSpPr>
          <p:cNvPr id="7" name="TextBox 6">
            <a:extLst>
              <a:ext uri="{FF2B5EF4-FFF2-40B4-BE49-F238E27FC236}">
                <a16:creationId xmlns:a16="http://schemas.microsoft.com/office/drawing/2014/main" id="{C97C4A15-27AD-A1A2-8082-4A1481CB362C}"/>
              </a:ext>
            </a:extLst>
          </p:cNvPr>
          <p:cNvSpPr txBox="1"/>
          <p:nvPr/>
        </p:nvSpPr>
        <p:spPr>
          <a:xfrm>
            <a:off x="617696" y="4225290"/>
            <a:ext cx="4114800" cy="1477328"/>
          </a:xfrm>
          <a:prstGeom prst="rect">
            <a:avLst/>
          </a:prstGeom>
          <a:noFill/>
        </p:spPr>
        <p:txBody>
          <a:bodyPr wrap="square">
            <a:spAutoFit/>
          </a:bodyPr>
          <a:lstStyle/>
          <a:p>
            <a:pPr marL="285750" indent="-285750">
              <a:buFont typeface="Arial" panose="020B0604020202020204" pitchFamily="34" charset="0"/>
              <a:buChar char="•"/>
            </a:pPr>
            <a:r>
              <a:rPr lang="en-US" dirty="0"/>
              <a:t>Subset of census survey responses</a:t>
            </a:r>
          </a:p>
          <a:p>
            <a:pPr marL="285750" indent="-285750">
              <a:buFont typeface="Arial" panose="020B0604020202020204" pitchFamily="34" charset="0"/>
              <a:buChar char="•"/>
            </a:pPr>
            <a:r>
              <a:rPr lang="en-US" dirty="0"/>
              <a:t>Compositional details, e.g., the number of 5-member households in a CBG with school-aged children</a:t>
            </a:r>
          </a:p>
          <a:p>
            <a:pPr marL="285750" indent="-285750">
              <a:buFont typeface="Arial" panose="020B0604020202020204" pitchFamily="34" charset="0"/>
              <a:buChar char="•"/>
            </a:pPr>
            <a:endParaRPr lang="en-US" dirty="0"/>
          </a:p>
        </p:txBody>
      </p:sp>
      <p:sp>
        <p:nvSpPr>
          <p:cNvPr id="8" name="TextBox 7">
            <a:extLst>
              <a:ext uri="{FF2B5EF4-FFF2-40B4-BE49-F238E27FC236}">
                <a16:creationId xmlns:a16="http://schemas.microsoft.com/office/drawing/2014/main" id="{52C7C8BC-6210-D4C1-C91D-DCEC163E20EB}"/>
              </a:ext>
            </a:extLst>
          </p:cNvPr>
          <p:cNvSpPr txBox="1"/>
          <p:nvPr/>
        </p:nvSpPr>
        <p:spPr>
          <a:xfrm>
            <a:off x="6696935" y="4225290"/>
            <a:ext cx="5017770" cy="1477328"/>
          </a:xfrm>
          <a:prstGeom prst="rect">
            <a:avLst/>
          </a:prstGeom>
          <a:noFill/>
        </p:spPr>
        <p:txBody>
          <a:bodyPr wrap="square">
            <a:spAutoFit/>
          </a:bodyPr>
          <a:lstStyle/>
          <a:p>
            <a:pPr marL="285750" indent="-285750">
              <a:buFont typeface="Arial" panose="020B0604020202020204" pitchFamily="34" charset="0"/>
              <a:buChar char="•"/>
            </a:pPr>
            <a:r>
              <a:rPr lang="en-US" dirty="0"/>
              <a:t>Demographic data at fine geographic scale</a:t>
            </a:r>
          </a:p>
          <a:p>
            <a:pPr marL="285750" indent="-285750">
              <a:buFont typeface="Arial" panose="020B0604020202020204" pitchFamily="34" charset="0"/>
              <a:buChar char="•"/>
            </a:pPr>
            <a:r>
              <a:rPr lang="en-US" dirty="0"/>
              <a:t>Limited to marginal counts, e.g., the number of households in a CBG with 5 members and the number of households in a CBG with school-aged children</a:t>
            </a:r>
          </a:p>
        </p:txBody>
      </p:sp>
    </p:spTree>
    <p:extLst>
      <p:ext uri="{BB962C8B-B14F-4D97-AF65-F5344CB8AC3E}">
        <p14:creationId xmlns:p14="http://schemas.microsoft.com/office/powerpoint/2010/main" val="12859677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C2C61-2AB9-4F3C-44D4-528B56B6F3C8}"/>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D50C040C-FE2A-DDCD-AFCA-3BDAE4031F85}"/>
              </a:ext>
            </a:extLst>
          </p:cNvPr>
          <p:cNvSpPr>
            <a:spLocks noGrp="1"/>
          </p:cNvSpPr>
          <p:nvPr>
            <p:ph type="dt" sz="half" idx="14"/>
          </p:nvPr>
        </p:nvSpPr>
        <p:spPr/>
        <p:txBody>
          <a:bodyPr/>
          <a:lstStyle/>
          <a:p>
            <a:fld id="{2FD8AFF2-9042-B841-A3E7-F7EA0CBF7244}" type="datetime3">
              <a:rPr lang="en-US" smtClean="0"/>
              <a:pPr/>
              <a:t>28 October 2025</a:t>
            </a:fld>
            <a:endParaRPr lang="en-US"/>
          </a:p>
        </p:txBody>
      </p:sp>
      <p:sp>
        <p:nvSpPr>
          <p:cNvPr id="4" name="Footer Placeholder 3">
            <a:extLst>
              <a:ext uri="{FF2B5EF4-FFF2-40B4-BE49-F238E27FC236}">
                <a16:creationId xmlns:a16="http://schemas.microsoft.com/office/drawing/2014/main" id="{1C2C4CD5-FD83-E95E-B3E0-DB8557646899}"/>
              </a:ext>
            </a:extLst>
          </p:cNvPr>
          <p:cNvSpPr>
            <a:spLocks noGrp="1"/>
          </p:cNvSpPr>
          <p:nvPr>
            <p:ph type="ftr" sz="quarter" idx="15"/>
          </p:nvPr>
        </p:nvSpPr>
        <p:spPr/>
        <p:txBody>
          <a:bodyPr/>
          <a:lstStyle/>
          <a:p>
            <a:r>
              <a:rPr lang="en-US" dirty="0"/>
              <a:t>MIDAS</a:t>
            </a:r>
          </a:p>
        </p:txBody>
      </p:sp>
      <p:sp>
        <p:nvSpPr>
          <p:cNvPr id="5" name="Slide Number Placeholder 4">
            <a:extLst>
              <a:ext uri="{FF2B5EF4-FFF2-40B4-BE49-F238E27FC236}">
                <a16:creationId xmlns:a16="http://schemas.microsoft.com/office/drawing/2014/main" id="{C22DB79E-1C78-E570-5A61-A3FBF47A1965}"/>
              </a:ext>
            </a:extLst>
          </p:cNvPr>
          <p:cNvSpPr>
            <a:spLocks noGrp="1"/>
          </p:cNvSpPr>
          <p:nvPr>
            <p:ph type="sldNum" sz="quarter" idx="16"/>
          </p:nvPr>
        </p:nvSpPr>
        <p:spPr/>
        <p:txBody>
          <a:bodyPr/>
          <a:lstStyle/>
          <a:p>
            <a:fld id="{1876332E-97D2-CC49-9E46-E6E0DDE407EB}" type="slidenum">
              <a:rPr lang="en-US" smtClean="0"/>
              <a:pPr/>
              <a:t>6</a:t>
            </a:fld>
            <a:endParaRPr lang="en-US"/>
          </a:p>
        </p:txBody>
      </p:sp>
      <p:sp>
        <p:nvSpPr>
          <p:cNvPr id="6" name="Title 5">
            <a:extLst>
              <a:ext uri="{FF2B5EF4-FFF2-40B4-BE49-F238E27FC236}">
                <a16:creationId xmlns:a16="http://schemas.microsoft.com/office/drawing/2014/main" id="{116967FE-60E3-403D-8E09-CEB4B33C8355}"/>
              </a:ext>
            </a:extLst>
          </p:cNvPr>
          <p:cNvSpPr>
            <a:spLocks noGrp="1"/>
          </p:cNvSpPr>
          <p:nvPr>
            <p:ph type="title"/>
          </p:nvPr>
        </p:nvSpPr>
        <p:spPr>
          <a:xfrm>
            <a:off x="838200" y="1"/>
            <a:ext cx="10515600" cy="1645919"/>
          </a:xfrm>
        </p:spPr>
        <p:txBody>
          <a:bodyPr>
            <a:normAutofit/>
          </a:bodyPr>
          <a:lstStyle/>
          <a:p>
            <a:r>
              <a:rPr lang="en-US" sz="3600" dirty="0"/>
              <a:t>Methods: Assigning agents to schools and workplaces</a:t>
            </a:r>
          </a:p>
        </p:txBody>
      </p:sp>
      <p:graphicFrame>
        <p:nvGraphicFramePr>
          <p:cNvPr id="13" name="Table 12">
            <a:extLst>
              <a:ext uri="{FF2B5EF4-FFF2-40B4-BE49-F238E27FC236}">
                <a16:creationId xmlns:a16="http://schemas.microsoft.com/office/drawing/2014/main" id="{ABA76861-1E15-96A6-81F0-10B1D2CE94CB}"/>
              </a:ext>
            </a:extLst>
          </p:cNvPr>
          <p:cNvGraphicFramePr>
            <a:graphicFrameLocks noGrp="1"/>
          </p:cNvGraphicFramePr>
          <p:nvPr>
            <p:extLst>
              <p:ext uri="{D42A27DB-BD31-4B8C-83A1-F6EECF244321}">
                <p14:modId xmlns:p14="http://schemas.microsoft.com/office/powerpoint/2010/main" val="2869868939"/>
              </p:ext>
            </p:extLst>
          </p:nvPr>
        </p:nvGraphicFramePr>
        <p:xfrm>
          <a:off x="1061561" y="2137505"/>
          <a:ext cx="10068877" cy="2582989"/>
        </p:xfrm>
        <a:graphic>
          <a:graphicData uri="http://schemas.openxmlformats.org/drawingml/2006/table">
            <a:tbl>
              <a:tblPr firstRow="1" firstCol="1" bandRow="1">
                <a:tableStyleId>{2D5ABB26-0587-4C30-8999-92F81FD0307C}</a:tableStyleId>
              </a:tblPr>
              <a:tblGrid>
                <a:gridCol w="1514117">
                  <a:extLst>
                    <a:ext uri="{9D8B030D-6E8A-4147-A177-3AD203B41FA5}">
                      <a16:colId xmlns:a16="http://schemas.microsoft.com/office/drawing/2014/main" val="3798875613"/>
                    </a:ext>
                  </a:extLst>
                </a:gridCol>
                <a:gridCol w="2195470">
                  <a:extLst>
                    <a:ext uri="{9D8B030D-6E8A-4147-A177-3AD203B41FA5}">
                      <a16:colId xmlns:a16="http://schemas.microsoft.com/office/drawing/2014/main" val="2391291249"/>
                    </a:ext>
                  </a:extLst>
                </a:gridCol>
                <a:gridCol w="2415941">
                  <a:extLst>
                    <a:ext uri="{9D8B030D-6E8A-4147-A177-3AD203B41FA5}">
                      <a16:colId xmlns:a16="http://schemas.microsoft.com/office/drawing/2014/main" val="4218018759"/>
                    </a:ext>
                  </a:extLst>
                </a:gridCol>
                <a:gridCol w="3943349">
                  <a:extLst>
                    <a:ext uri="{9D8B030D-6E8A-4147-A177-3AD203B41FA5}">
                      <a16:colId xmlns:a16="http://schemas.microsoft.com/office/drawing/2014/main" val="3774818006"/>
                    </a:ext>
                  </a:extLst>
                </a:gridCol>
              </a:tblGrid>
              <a:tr h="469996">
                <a:tc>
                  <a:txBody>
                    <a:bodyPr/>
                    <a:lstStyle/>
                    <a:p>
                      <a:pPr marL="0" marR="0"/>
                      <a:endParaRPr lang="en-US" sz="1400" b="1"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90000"/>
                      </a:schemeClr>
                    </a:solidFill>
                  </a:tcPr>
                </a:tc>
                <a:tc>
                  <a:txBody>
                    <a:bodyPr/>
                    <a:lstStyle/>
                    <a:p>
                      <a:pPr marL="0" marR="0" algn="l"/>
                      <a:r>
                        <a:rPr lang="en-US" sz="1400" b="1" kern="0">
                          <a:effectLst/>
                          <a:latin typeface="Aptos" panose="020B0004020202020204" pitchFamily="34" charset="0"/>
                          <a:ea typeface="Aptos" panose="020B0004020202020204" pitchFamily="34" charset="0"/>
                          <a:cs typeface="Times New Roman" panose="02020603050405020304" pitchFamily="18" charset="0"/>
                        </a:rPr>
                        <a:t>Data source</a:t>
                      </a:r>
                      <a:endParaRPr lang="en-US" sz="1400" b="1"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90000"/>
                      </a:schemeClr>
                    </a:solidFill>
                  </a:tcPr>
                </a:tc>
                <a:tc>
                  <a:txBody>
                    <a:bodyPr/>
                    <a:lstStyle/>
                    <a:p>
                      <a:pPr marL="0" marR="0" algn="l"/>
                      <a:r>
                        <a:rPr lang="en-US" sz="1400" b="1" kern="0">
                          <a:effectLst/>
                        </a:rPr>
                        <a:t>Data</a:t>
                      </a:r>
                      <a:endParaRPr lang="en-US" sz="1400" b="1"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90000"/>
                      </a:schemeClr>
                    </a:solidFill>
                  </a:tcPr>
                </a:tc>
                <a:tc>
                  <a:txBody>
                    <a:bodyPr/>
                    <a:lstStyle/>
                    <a:p>
                      <a:pPr marL="0" marR="0" algn="l"/>
                      <a:r>
                        <a:rPr lang="en-US" sz="1400" b="1" kern="100">
                          <a:effectLst/>
                          <a:latin typeface="Aptos" panose="020B0004020202020204" pitchFamily="34" charset="0"/>
                          <a:ea typeface="Aptos" panose="020B0004020202020204" pitchFamily="34" charset="0"/>
                          <a:cs typeface="Times New Roman" panose="02020603050405020304" pitchFamily="18" charset="0"/>
                        </a:rPr>
                        <a:t>Methods</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90000"/>
                      </a:schemeClr>
                    </a:solidFill>
                  </a:tcPr>
                </a:tc>
                <a:extLst>
                  <a:ext uri="{0D108BD9-81ED-4DB2-BD59-A6C34878D82A}">
                    <a16:rowId xmlns:a16="http://schemas.microsoft.com/office/drawing/2014/main" val="1898541057"/>
                  </a:ext>
                </a:extLst>
              </a:tr>
              <a:tr h="995284">
                <a:tc>
                  <a:txBody>
                    <a:bodyPr/>
                    <a:lstStyle/>
                    <a:p>
                      <a:pPr marL="0" marR="0" algn="ctr"/>
                      <a:r>
                        <a:rPr lang="en-US" sz="1400" b="1" kern="0">
                          <a:effectLst/>
                        </a:rPr>
                        <a:t>Schools</a:t>
                      </a:r>
                      <a:endParaRPr lang="en-US" sz="1400" b="1"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r>
                        <a:rPr lang="en-US" sz="1400" kern="100">
                          <a:effectLst/>
                          <a:latin typeface="Aptos" panose="020B0004020202020204" pitchFamily="34" charset="0"/>
                          <a:ea typeface="Aptos" panose="020B0004020202020204" pitchFamily="34" charset="0"/>
                          <a:cs typeface="Times New Roman" panose="02020603050405020304" pitchFamily="18" charset="0"/>
                        </a:rPr>
                        <a:t>National Center for Education Statistics (NCES)</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r>
                        <a:rPr lang="en-US" sz="1400" kern="0">
                          <a:effectLst/>
                        </a:rPr>
                        <a:t>Student and staff counts for each grade level in public schools</a:t>
                      </a:r>
                      <a:endParaRPr lang="en-US" sz="1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285750" marR="0" indent="-285750">
                        <a:buFont typeface="Arial" panose="020B0604020202020204" pitchFamily="34" charset="0"/>
                        <a:buChar char="•"/>
                      </a:pPr>
                      <a:r>
                        <a:rPr lang="en-US" sz="1400" kern="100">
                          <a:effectLst/>
                          <a:latin typeface="Aptos" panose="020B0004020202020204" pitchFamily="34" charset="0"/>
                          <a:ea typeface="Aptos" panose="020B0004020202020204" pitchFamily="34" charset="0"/>
                          <a:cs typeface="Times New Roman" panose="02020603050405020304" pitchFamily="18" charset="0"/>
                        </a:rPr>
                        <a:t>Students assigned to closest school that offered required grade</a:t>
                      </a:r>
                    </a:p>
                    <a:p>
                      <a:pPr marL="285750" marR="0" indent="-285750">
                        <a:buFont typeface="Arial" panose="020B0604020202020204" pitchFamily="34" charset="0"/>
                        <a:buChar char="•"/>
                      </a:pPr>
                      <a:r>
                        <a:rPr lang="en-US" sz="1400" kern="100">
                          <a:effectLst/>
                          <a:latin typeface="Aptos" panose="020B0004020202020204" pitchFamily="34" charset="0"/>
                          <a:ea typeface="Aptos" panose="020B0004020202020204" pitchFamily="34" charset="0"/>
                          <a:cs typeface="Times New Roman" panose="02020603050405020304" pitchFamily="18" charset="0"/>
                        </a:rPr>
                        <a:t>Teachers assigned to school by selecting teachers from nearby CBGs</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57715874"/>
                  </a:ext>
                </a:extLst>
              </a:tr>
              <a:tr h="1117709">
                <a:tc>
                  <a:txBody>
                    <a:bodyPr/>
                    <a:lstStyle/>
                    <a:p>
                      <a:pPr marL="0" marR="0" algn="ctr"/>
                      <a:r>
                        <a:rPr lang="en-US" sz="1400" b="1" kern="0">
                          <a:effectLst/>
                        </a:rPr>
                        <a:t>Workplaces</a:t>
                      </a:r>
                      <a:endParaRPr lang="en-US" sz="1400" b="1"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r>
                        <a:rPr lang="en-US" sz="1400" kern="0" dirty="0">
                          <a:effectLst/>
                        </a:rPr>
                        <a:t>Longitudinal Employer-Household Dynamics (LEHD)</a:t>
                      </a:r>
                      <a:endParaRPr lang="en-US"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r>
                        <a:rPr lang="en-US" sz="1400" kern="0">
                          <a:effectLst/>
                        </a:rPr>
                        <a:t>Origin-destination and workplace characteristics</a:t>
                      </a:r>
                      <a:endParaRPr lang="en-US" sz="1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285750" marR="0" indent="-285750">
                        <a:buFont typeface="Arial" panose="020B0604020202020204" pitchFamily="34" charset="0"/>
                        <a:buChar char="•"/>
                      </a:pPr>
                      <a:r>
                        <a:rPr lang="en-US" sz="1400" kern="100" dirty="0">
                          <a:effectLst/>
                          <a:latin typeface="Aptos" panose="020B0004020202020204" pitchFamily="34" charset="0"/>
                          <a:ea typeface="Aptos" panose="020B0004020202020204" pitchFamily="34" charset="0"/>
                          <a:cs typeface="Times New Roman" panose="02020603050405020304" pitchFamily="18" charset="0"/>
                        </a:rPr>
                        <a:t>Iterative proportional fitting (IPF) to make origin-destination commute matrix</a:t>
                      </a:r>
                    </a:p>
                    <a:p>
                      <a:pPr marL="285750" marR="0" indent="-285750">
                        <a:buFont typeface="Arial" panose="020B0604020202020204" pitchFamily="34" charset="0"/>
                        <a:buChar char="•"/>
                      </a:pPr>
                      <a:r>
                        <a:rPr lang="en-US" sz="1400" kern="100" dirty="0">
                          <a:effectLst/>
                          <a:latin typeface="Aptos" panose="020B0004020202020204" pitchFamily="34" charset="0"/>
                          <a:ea typeface="Aptos" panose="020B0004020202020204" pitchFamily="34" charset="0"/>
                          <a:cs typeface="Times New Roman" panose="02020603050405020304" pitchFamily="18" charset="0"/>
                        </a:rPr>
                        <a:t>IPF to make industry by destination commute matrix for each origin CBG </a:t>
                      </a:r>
                    </a:p>
                    <a:p>
                      <a:pPr marL="285750" marR="0" indent="-285750">
                        <a:buFont typeface="Arial" panose="020B0604020202020204" pitchFamily="34" charset="0"/>
                        <a:buChar char="•"/>
                      </a:pPr>
                      <a:r>
                        <a:rPr lang="en-US" sz="1400" kern="100" dirty="0">
                          <a:effectLst/>
                          <a:latin typeface="Aptos" panose="020B0004020202020204" pitchFamily="34" charset="0"/>
                          <a:ea typeface="Aptos" panose="020B0004020202020204" pitchFamily="34" charset="0"/>
                          <a:cs typeface="Times New Roman" panose="02020603050405020304" pitchFamily="18" charset="0"/>
                        </a:rPr>
                        <a:t>Includes outside workers</a:t>
                      </a: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69571378"/>
                  </a:ext>
                </a:extLst>
              </a:tr>
            </a:tbl>
          </a:graphicData>
        </a:graphic>
      </p:graphicFrame>
      <p:sp>
        <p:nvSpPr>
          <p:cNvPr id="7" name="TextBox 6">
            <a:extLst>
              <a:ext uri="{FF2B5EF4-FFF2-40B4-BE49-F238E27FC236}">
                <a16:creationId xmlns:a16="http://schemas.microsoft.com/office/drawing/2014/main" id="{43F13D97-5455-32E9-F1EE-951ED7B35698}"/>
              </a:ext>
            </a:extLst>
          </p:cNvPr>
          <p:cNvSpPr txBox="1"/>
          <p:nvPr/>
        </p:nvSpPr>
        <p:spPr>
          <a:xfrm>
            <a:off x="445770" y="5761650"/>
            <a:ext cx="6452051" cy="507831"/>
          </a:xfrm>
          <a:prstGeom prst="rect">
            <a:avLst/>
          </a:prstGeom>
          <a:noFill/>
        </p:spPr>
        <p:txBody>
          <a:bodyPr wrap="square" rtlCol="0">
            <a:spAutoFit/>
          </a:bodyPr>
          <a:lstStyle/>
          <a:p>
            <a:pPr marL="274320" indent="-457200"/>
            <a:r>
              <a:rPr lang="en-US" sz="900" b="0" i="1" dirty="0">
                <a:solidFill>
                  <a:schemeClr val="tx1">
                    <a:lumMod val="50000"/>
                    <a:lumOff val="50000"/>
                  </a:schemeClr>
                </a:solidFill>
                <a:effectLst/>
                <a:latin typeface="Poppins-Regular"/>
              </a:rPr>
              <a:t>Alexander Y. Tulchinsky, Fardad Haghpanah, Alisa Hamilton, Nodar Kipshidze, and Eili Y. Klein. (2024). Generating geographically and economically realistic large-scale synthetic contact networks: A general method using publicly available data. https://</a:t>
            </a:r>
            <a:r>
              <a:rPr lang="en-US" sz="900" b="0" i="1" dirty="0" err="1">
                <a:solidFill>
                  <a:schemeClr val="tx1">
                    <a:lumMod val="50000"/>
                    <a:lumOff val="50000"/>
                  </a:schemeClr>
                </a:solidFill>
                <a:effectLst/>
                <a:latin typeface="Poppins-Regular"/>
              </a:rPr>
              <a:t>arxiv.org</a:t>
            </a:r>
            <a:r>
              <a:rPr lang="en-US" sz="900" b="0" i="1" dirty="0">
                <a:solidFill>
                  <a:schemeClr val="tx1">
                    <a:lumMod val="50000"/>
                    <a:lumOff val="50000"/>
                  </a:schemeClr>
                </a:solidFill>
                <a:effectLst/>
                <a:latin typeface="Poppins-Regular"/>
              </a:rPr>
              <a:t>/abs/2406.14698</a:t>
            </a:r>
            <a:endParaRPr lang="en-US" sz="900" i="1" dirty="0">
              <a:solidFill>
                <a:schemeClr val="tx1">
                  <a:lumMod val="50000"/>
                  <a:lumOff val="50000"/>
                </a:schemeClr>
              </a:solidFill>
            </a:endParaRPr>
          </a:p>
        </p:txBody>
      </p:sp>
    </p:spTree>
    <p:extLst>
      <p:ext uri="{BB962C8B-B14F-4D97-AF65-F5344CB8AC3E}">
        <p14:creationId xmlns:p14="http://schemas.microsoft.com/office/powerpoint/2010/main" val="8407444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8E5C5-8188-BF79-79D4-43BCDF002881}"/>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E303BDD8-4C61-98A3-26EB-1FD70377989C}"/>
              </a:ext>
            </a:extLst>
          </p:cNvPr>
          <p:cNvSpPr>
            <a:spLocks noGrp="1"/>
          </p:cNvSpPr>
          <p:nvPr>
            <p:ph type="dt" sz="half" idx="14"/>
          </p:nvPr>
        </p:nvSpPr>
        <p:spPr/>
        <p:txBody>
          <a:bodyPr/>
          <a:lstStyle/>
          <a:p>
            <a:fld id="{2FD8AFF2-9042-B841-A3E7-F7EA0CBF7244}" type="datetime3">
              <a:rPr lang="en-US" smtClean="0"/>
              <a:pPr/>
              <a:t>28 October 2025</a:t>
            </a:fld>
            <a:endParaRPr lang="en-US"/>
          </a:p>
        </p:txBody>
      </p:sp>
      <p:sp>
        <p:nvSpPr>
          <p:cNvPr id="4" name="Footer Placeholder 3">
            <a:extLst>
              <a:ext uri="{FF2B5EF4-FFF2-40B4-BE49-F238E27FC236}">
                <a16:creationId xmlns:a16="http://schemas.microsoft.com/office/drawing/2014/main" id="{DB3910DB-84B2-4251-8242-99775937AE1D}"/>
              </a:ext>
            </a:extLst>
          </p:cNvPr>
          <p:cNvSpPr>
            <a:spLocks noGrp="1"/>
          </p:cNvSpPr>
          <p:nvPr>
            <p:ph type="ftr" sz="quarter" idx="15"/>
          </p:nvPr>
        </p:nvSpPr>
        <p:spPr/>
        <p:txBody>
          <a:bodyPr/>
          <a:lstStyle/>
          <a:p>
            <a:r>
              <a:rPr lang="en-US" dirty="0"/>
              <a:t>MIDAS</a:t>
            </a:r>
          </a:p>
        </p:txBody>
      </p:sp>
      <p:sp>
        <p:nvSpPr>
          <p:cNvPr id="5" name="Slide Number Placeholder 4">
            <a:extLst>
              <a:ext uri="{FF2B5EF4-FFF2-40B4-BE49-F238E27FC236}">
                <a16:creationId xmlns:a16="http://schemas.microsoft.com/office/drawing/2014/main" id="{E52C5D2D-F79F-0F96-CB9A-2A75CFED3670}"/>
              </a:ext>
            </a:extLst>
          </p:cNvPr>
          <p:cNvSpPr>
            <a:spLocks noGrp="1"/>
          </p:cNvSpPr>
          <p:nvPr>
            <p:ph type="sldNum" sz="quarter" idx="16"/>
          </p:nvPr>
        </p:nvSpPr>
        <p:spPr/>
        <p:txBody>
          <a:bodyPr/>
          <a:lstStyle/>
          <a:p>
            <a:fld id="{1876332E-97D2-CC49-9E46-E6E0DDE407EB}" type="slidenum">
              <a:rPr lang="en-US" smtClean="0"/>
              <a:pPr/>
              <a:t>7</a:t>
            </a:fld>
            <a:endParaRPr lang="en-US"/>
          </a:p>
        </p:txBody>
      </p:sp>
      <p:graphicFrame>
        <p:nvGraphicFramePr>
          <p:cNvPr id="15" name="Table 14">
            <a:extLst>
              <a:ext uri="{FF2B5EF4-FFF2-40B4-BE49-F238E27FC236}">
                <a16:creationId xmlns:a16="http://schemas.microsoft.com/office/drawing/2014/main" id="{C4184994-3CA2-EBE7-2B9D-F6F62D1E0203}"/>
              </a:ext>
            </a:extLst>
          </p:cNvPr>
          <p:cNvGraphicFramePr>
            <a:graphicFrameLocks noGrp="1"/>
          </p:cNvGraphicFramePr>
          <p:nvPr>
            <p:extLst>
              <p:ext uri="{D42A27DB-BD31-4B8C-83A1-F6EECF244321}">
                <p14:modId xmlns:p14="http://schemas.microsoft.com/office/powerpoint/2010/main" val="2193130644"/>
              </p:ext>
            </p:extLst>
          </p:nvPr>
        </p:nvGraphicFramePr>
        <p:xfrm>
          <a:off x="1898322" y="1957760"/>
          <a:ext cx="8395356" cy="3492049"/>
        </p:xfrm>
        <a:graphic>
          <a:graphicData uri="http://schemas.openxmlformats.org/drawingml/2006/table">
            <a:tbl>
              <a:tblPr firstRow="1" firstCol="1" bandRow="1">
                <a:tableStyleId>{9D7B26C5-4107-4FEC-AEDC-1716B250A1EF}</a:tableStyleId>
              </a:tblPr>
              <a:tblGrid>
                <a:gridCol w="1667631">
                  <a:extLst>
                    <a:ext uri="{9D8B030D-6E8A-4147-A177-3AD203B41FA5}">
                      <a16:colId xmlns:a16="http://schemas.microsoft.com/office/drawing/2014/main" val="3798875613"/>
                    </a:ext>
                  </a:extLst>
                </a:gridCol>
                <a:gridCol w="2775157">
                  <a:extLst>
                    <a:ext uri="{9D8B030D-6E8A-4147-A177-3AD203B41FA5}">
                      <a16:colId xmlns:a16="http://schemas.microsoft.com/office/drawing/2014/main" val="2391291249"/>
                    </a:ext>
                  </a:extLst>
                </a:gridCol>
                <a:gridCol w="3952568">
                  <a:extLst>
                    <a:ext uri="{9D8B030D-6E8A-4147-A177-3AD203B41FA5}">
                      <a16:colId xmlns:a16="http://schemas.microsoft.com/office/drawing/2014/main" val="4218018759"/>
                    </a:ext>
                  </a:extLst>
                </a:gridCol>
              </a:tblGrid>
              <a:tr h="444634">
                <a:tc>
                  <a:txBody>
                    <a:bodyPr/>
                    <a:lstStyle/>
                    <a:p>
                      <a:pPr marL="0" marR="0" algn="l"/>
                      <a:r>
                        <a:rPr lang="en-US" sz="1400" b="1" kern="0">
                          <a:effectLst/>
                        </a:rPr>
                        <a:t>Layer</a:t>
                      </a:r>
                      <a:endParaRPr lang="en-US" sz="1400" b="1"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solidFill>
                      <a:schemeClr val="bg2">
                        <a:lumMod val="90000"/>
                      </a:schemeClr>
                    </a:solidFill>
                  </a:tcPr>
                </a:tc>
                <a:tc>
                  <a:txBody>
                    <a:bodyPr/>
                    <a:lstStyle/>
                    <a:p>
                      <a:pPr marL="0" marR="0" algn="l"/>
                      <a:r>
                        <a:rPr lang="en-US" sz="1400" b="1" kern="0">
                          <a:effectLst/>
                        </a:rPr>
                        <a:t>Algorithm</a:t>
                      </a:r>
                      <a:endParaRPr lang="en-US" sz="1400" b="1"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solidFill>
                      <a:schemeClr val="bg2">
                        <a:lumMod val="90000"/>
                      </a:schemeClr>
                    </a:solidFill>
                  </a:tcPr>
                </a:tc>
                <a:tc>
                  <a:txBody>
                    <a:bodyPr/>
                    <a:lstStyle/>
                    <a:p>
                      <a:pPr marL="0" marR="0" algn="l"/>
                      <a:r>
                        <a:rPr lang="en-US" sz="1400" b="1" kern="0">
                          <a:effectLst/>
                        </a:rPr>
                        <a:t>Parameters</a:t>
                      </a:r>
                      <a:endParaRPr lang="en-US" sz="1400" b="1"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solidFill>
                      <a:schemeClr val="bg2">
                        <a:lumMod val="90000"/>
                      </a:schemeClr>
                    </a:solidFill>
                  </a:tcPr>
                </a:tc>
                <a:extLst>
                  <a:ext uri="{0D108BD9-81ED-4DB2-BD59-A6C34878D82A}">
                    <a16:rowId xmlns:a16="http://schemas.microsoft.com/office/drawing/2014/main" val="1898541057"/>
                  </a:ext>
                </a:extLst>
              </a:tr>
              <a:tr h="645175">
                <a:tc>
                  <a:txBody>
                    <a:bodyPr/>
                    <a:lstStyle/>
                    <a:p>
                      <a:pPr marL="0" marR="0" algn="l"/>
                      <a:r>
                        <a:rPr lang="en-US" sz="1400" b="1" kern="0">
                          <a:effectLst/>
                        </a:rPr>
                        <a:t>Household</a:t>
                      </a:r>
                      <a:endParaRPr lang="en-US" sz="1400" b="1"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lnB w="12700" cap="flat" cmpd="sng" algn="ctr">
                      <a:solidFill>
                        <a:schemeClr val="tx1"/>
                      </a:solidFill>
                      <a:prstDash val="solid"/>
                      <a:round/>
                      <a:headEnd type="none" w="med" len="med"/>
                      <a:tailEnd type="none" w="med" len="med"/>
                    </a:lnB>
                    <a:noFill/>
                  </a:tcPr>
                </a:tc>
                <a:tc>
                  <a:txBody>
                    <a:bodyPr/>
                    <a:lstStyle/>
                    <a:p>
                      <a:pPr marL="0" marR="0"/>
                      <a:r>
                        <a:rPr lang="en-US" sz="1400" kern="0">
                          <a:effectLst/>
                        </a:rPr>
                        <a:t>All agents within a household are fully connected </a:t>
                      </a:r>
                      <a:endParaRPr lang="en-US" sz="1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lnB w="12700" cap="flat" cmpd="sng" algn="ctr">
                      <a:solidFill>
                        <a:schemeClr val="tx1"/>
                      </a:solidFill>
                      <a:prstDash val="solid"/>
                      <a:round/>
                      <a:headEnd type="none" w="med" len="med"/>
                      <a:tailEnd type="none" w="med" len="med"/>
                    </a:lnB>
                    <a:noFill/>
                  </a:tcPr>
                </a:tc>
                <a:tc>
                  <a:txBody>
                    <a:bodyPr/>
                    <a:lstStyle/>
                    <a:p>
                      <a:pPr marL="285750" marR="0" indent="-285750">
                        <a:buFont typeface="Arial" panose="020B0604020202020204" pitchFamily="34" charset="0"/>
                        <a:buChar char="•"/>
                      </a:pPr>
                      <a:r>
                        <a:rPr lang="en-US" sz="1400" kern="0">
                          <a:effectLst/>
                        </a:rPr>
                        <a:t>N/A         </a:t>
                      </a:r>
                      <a:endParaRPr lang="en-US" sz="1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57715874"/>
                  </a:ext>
                </a:extLst>
              </a:tr>
              <a:tr h="781342">
                <a:tc>
                  <a:txBody>
                    <a:bodyPr/>
                    <a:lstStyle/>
                    <a:p>
                      <a:pPr marL="0" marR="0" algn="l"/>
                      <a:r>
                        <a:rPr lang="en-US" sz="1400" b="1" kern="0">
                          <a:effectLst/>
                        </a:rPr>
                        <a:t>School</a:t>
                      </a:r>
                      <a:endParaRPr lang="en-US" sz="1400" b="1"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r>
                        <a:rPr lang="en-US" sz="1400" kern="0">
                          <a:effectLst/>
                        </a:rPr>
                        <a:t>Stochastic Block Model within each school</a:t>
                      </a:r>
                      <a:endParaRPr lang="en-US" sz="1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285750" marR="0" indent="-285750">
                        <a:buFont typeface="Arial" panose="020B0604020202020204" pitchFamily="34" charset="0"/>
                        <a:buChar char="•"/>
                      </a:pPr>
                      <a:r>
                        <a:rPr lang="en-US" sz="1400" kern="0" dirty="0">
                          <a:effectLst/>
                        </a:rPr>
                        <a:t>Assortativity: ⍺=0.9</a:t>
                      </a:r>
                      <a:endParaRPr lang="en-US" sz="1400" kern="100" dirty="0">
                        <a:effectLst/>
                      </a:endParaRPr>
                    </a:p>
                    <a:p>
                      <a:pPr marL="285750" marR="0" indent="-285750">
                        <a:buFont typeface="Arial" panose="020B0604020202020204" pitchFamily="34" charset="0"/>
                        <a:buChar char="•"/>
                      </a:pPr>
                      <a:r>
                        <a:rPr lang="en-US" sz="1400" kern="0" dirty="0">
                          <a:effectLst/>
                        </a:rPr>
                        <a:t>Mean degree: K=12</a:t>
                      </a:r>
                      <a:endParaRPr lang="en-US" sz="1400" kern="100" dirty="0">
                        <a:effectLst/>
                      </a:endParaRPr>
                    </a:p>
                    <a:p>
                      <a:pPr marL="285750" marR="0" indent="-285750">
                        <a:buFont typeface="Arial" panose="020B0604020202020204" pitchFamily="34" charset="0"/>
                        <a:buChar char="•"/>
                      </a:pPr>
                      <a:r>
                        <a:rPr lang="en-US" sz="1400" kern="0" dirty="0">
                          <a:effectLst/>
                        </a:rPr>
                        <a:t>Blocks are grade levels (Pre-k – 12)</a:t>
                      </a:r>
                      <a:endParaRPr lang="en-US"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69571378"/>
                  </a:ext>
                </a:extLst>
              </a:tr>
              <a:tr h="827851">
                <a:tc>
                  <a:txBody>
                    <a:bodyPr/>
                    <a:lstStyle/>
                    <a:p>
                      <a:pPr marL="0" marR="0" algn="l"/>
                      <a:r>
                        <a:rPr lang="en-US" sz="1400" b="1" kern="0">
                          <a:effectLst/>
                        </a:rPr>
                        <a:t>Workplace</a:t>
                      </a:r>
                      <a:endParaRPr lang="en-US" sz="1400" b="1"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r>
                        <a:rPr lang="en-US" sz="1400" kern="0">
                          <a:effectLst/>
                        </a:rPr>
                        <a:t>Stochastic Block Model within each workplace</a:t>
                      </a:r>
                      <a:endParaRPr lang="en-US" sz="14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285750" marR="0" indent="-285750">
                        <a:buFont typeface="Arial" panose="020B0604020202020204" pitchFamily="34" charset="0"/>
                        <a:buChar char="•"/>
                      </a:pPr>
                      <a:r>
                        <a:rPr lang="en-US" sz="1400" kern="0" dirty="0">
                          <a:effectLst/>
                        </a:rPr>
                        <a:t>Assortativity: ⍺=0.9</a:t>
                      </a:r>
                      <a:endParaRPr lang="en-US" sz="1400" kern="100" dirty="0">
                        <a:effectLst/>
                      </a:endParaRPr>
                    </a:p>
                    <a:p>
                      <a:pPr marL="285750" marR="0" indent="-285750">
                        <a:buFont typeface="Arial" panose="020B0604020202020204" pitchFamily="34" charset="0"/>
                        <a:buChar char="•"/>
                      </a:pPr>
                      <a:r>
                        <a:rPr lang="en-US" sz="1400" kern="0" dirty="0">
                          <a:effectLst/>
                        </a:rPr>
                        <a:t>Mean degree: K=8</a:t>
                      </a:r>
                      <a:endParaRPr lang="en-US" sz="1400" kern="100" dirty="0">
                        <a:effectLst/>
                      </a:endParaRPr>
                    </a:p>
                    <a:p>
                      <a:pPr marL="285750" marR="0" indent="-285750">
                        <a:buFont typeface="Arial" panose="020B0604020202020204" pitchFamily="34" charset="0"/>
                        <a:buChar char="•"/>
                      </a:pPr>
                      <a:r>
                        <a:rPr lang="en-US" sz="1400" kern="0" dirty="0">
                          <a:effectLst/>
                        </a:rPr>
                        <a:t>Blocks are income levels (&lt;40k or ≥ 40k)</a:t>
                      </a:r>
                      <a:endParaRPr lang="en-US"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48157227"/>
                  </a:ext>
                </a:extLst>
              </a:tr>
              <a:tr h="793047">
                <a:tc>
                  <a:txBody>
                    <a:bodyPr/>
                    <a:lstStyle/>
                    <a:p>
                      <a:pPr marL="0" marR="0" algn="l"/>
                      <a:r>
                        <a:rPr lang="en-US" sz="1400" b="1" kern="0">
                          <a:effectLst/>
                        </a:rPr>
                        <a:t>Group quarters</a:t>
                      </a:r>
                      <a:endParaRPr lang="en-US" sz="1400" b="1"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r>
                        <a:rPr lang="en-US" sz="1400" kern="0" dirty="0">
                          <a:effectLst/>
                        </a:rPr>
                        <a:t>Watts-</a:t>
                      </a:r>
                      <a:r>
                        <a:rPr lang="en-US" sz="1400" kern="0" err="1">
                          <a:effectLst/>
                        </a:rPr>
                        <a:t>Strogatz</a:t>
                      </a:r>
                      <a:r>
                        <a:rPr lang="en-US" sz="1400" kern="0" dirty="0">
                          <a:effectLst/>
                        </a:rPr>
                        <a:t> Model</a:t>
                      </a:r>
                    </a:p>
                    <a:p>
                      <a:pPr marL="0" marR="0"/>
                      <a:r>
                        <a:rPr lang="en-US" sz="1400" kern="0" dirty="0">
                          <a:effectLst/>
                        </a:rPr>
                        <a:t>within each GQ facility</a:t>
                      </a:r>
                      <a:endParaRPr lang="en-US"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285750" marR="0" indent="-285750">
                        <a:buFont typeface="Arial" panose="020B0604020202020204" pitchFamily="34" charset="0"/>
                        <a:buChar char="•"/>
                      </a:pPr>
                      <a:r>
                        <a:rPr lang="en-US" sz="1400" kern="0" dirty="0">
                          <a:effectLst/>
                        </a:rPr>
                        <a:t>Mean degree: K=12</a:t>
                      </a:r>
                      <a:endParaRPr lang="en-US" sz="1400" kern="100" dirty="0">
                        <a:effectLst/>
                      </a:endParaRPr>
                    </a:p>
                    <a:p>
                      <a:pPr marL="285750" marR="0" indent="-285750">
                        <a:buFont typeface="Arial" panose="020B0604020202020204" pitchFamily="34" charset="0"/>
                        <a:buChar char="•"/>
                      </a:pPr>
                      <a:r>
                        <a:rPr lang="en-US" sz="1400" kern="0" dirty="0">
                          <a:effectLst/>
                        </a:rPr>
                        <a:t>Rewiring probability: β=0.25</a:t>
                      </a:r>
                      <a:endParaRPr lang="en-US" sz="14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34466537"/>
                  </a:ext>
                </a:extLst>
              </a:tr>
            </a:tbl>
          </a:graphicData>
        </a:graphic>
      </p:graphicFrame>
      <p:sp>
        <p:nvSpPr>
          <p:cNvPr id="9" name="Title 5">
            <a:extLst>
              <a:ext uri="{FF2B5EF4-FFF2-40B4-BE49-F238E27FC236}">
                <a16:creationId xmlns:a16="http://schemas.microsoft.com/office/drawing/2014/main" id="{1C84C428-F031-75DB-0552-256FC8941B74}"/>
              </a:ext>
            </a:extLst>
          </p:cNvPr>
          <p:cNvSpPr txBox="1">
            <a:spLocks/>
          </p:cNvSpPr>
          <p:nvPr/>
        </p:nvSpPr>
        <p:spPr>
          <a:xfrm>
            <a:off x="838200" y="0"/>
            <a:ext cx="10515600" cy="164591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bg1"/>
                </a:solidFill>
                <a:latin typeface="+mj-lt"/>
                <a:ea typeface="+mj-ea"/>
                <a:cs typeface="+mj-cs"/>
              </a:defRPr>
            </a:lvl1pPr>
          </a:lstStyle>
          <a:p>
            <a:r>
              <a:rPr lang="en-US" sz="3600" dirty="0"/>
              <a:t>Methods: Generating Contacts</a:t>
            </a:r>
          </a:p>
        </p:txBody>
      </p:sp>
      <p:sp>
        <p:nvSpPr>
          <p:cNvPr id="10" name="TextBox 9">
            <a:extLst>
              <a:ext uri="{FF2B5EF4-FFF2-40B4-BE49-F238E27FC236}">
                <a16:creationId xmlns:a16="http://schemas.microsoft.com/office/drawing/2014/main" id="{4BF73DF5-1F4A-082E-0AF7-C5411E8D90AA}"/>
              </a:ext>
            </a:extLst>
          </p:cNvPr>
          <p:cNvSpPr txBox="1"/>
          <p:nvPr/>
        </p:nvSpPr>
        <p:spPr>
          <a:xfrm>
            <a:off x="445770" y="5761650"/>
            <a:ext cx="6452051" cy="507831"/>
          </a:xfrm>
          <a:prstGeom prst="rect">
            <a:avLst/>
          </a:prstGeom>
          <a:noFill/>
        </p:spPr>
        <p:txBody>
          <a:bodyPr wrap="square" rtlCol="0">
            <a:spAutoFit/>
          </a:bodyPr>
          <a:lstStyle/>
          <a:p>
            <a:pPr marL="274320" indent="-457200"/>
            <a:r>
              <a:rPr lang="en-US" sz="900" b="0" i="1" dirty="0">
                <a:solidFill>
                  <a:schemeClr val="tx1">
                    <a:lumMod val="50000"/>
                    <a:lumOff val="50000"/>
                  </a:schemeClr>
                </a:solidFill>
                <a:effectLst/>
                <a:latin typeface="Poppins-Regular"/>
              </a:rPr>
              <a:t>Alexander Y. Tulchinsky, Fardad Haghpanah, Alisa Hamilton, Nodar Kipshidze, and Eili Y. Klein. (2024). Generating geographically and economically realistic large-scale synthetic contact networks: A general method using publicly available data. https://</a:t>
            </a:r>
            <a:r>
              <a:rPr lang="en-US" sz="900" b="0" i="1" dirty="0" err="1">
                <a:solidFill>
                  <a:schemeClr val="tx1">
                    <a:lumMod val="50000"/>
                    <a:lumOff val="50000"/>
                  </a:schemeClr>
                </a:solidFill>
                <a:effectLst/>
                <a:latin typeface="Poppins-Regular"/>
              </a:rPr>
              <a:t>arxiv.org</a:t>
            </a:r>
            <a:r>
              <a:rPr lang="en-US" sz="900" b="0" i="1" dirty="0">
                <a:solidFill>
                  <a:schemeClr val="tx1">
                    <a:lumMod val="50000"/>
                    <a:lumOff val="50000"/>
                  </a:schemeClr>
                </a:solidFill>
                <a:effectLst/>
                <a:latin typeface="Poppins-Regular"/>
              </a:rPr>
              <a:t>/abs/2406.14698</a:t>
            </a:r>
            <a:endParaRPr lang="en-US" sz="900" i="1" dirty="0">
              <a:solidFill>
                <a:schemeClr val="tx1">
                  <a:lumMod val="50000"/>
                  <a:lumOff val="50000"/>
                </a:schemeClr>
              </a:solidFill>
            </a:endParaRPr>
          </a:p>
        </p:txBody>
      </p:sp>
    </p:spTree>
    <p:extLst>
      <p:ext uri="{BB962C8B-B14F-4D97-AF65-F5344CB8AC3E}">
        <p14:creationId xmlns:p14="http://schemas.microsoft.com/office/powerpoint/2010/main" val="18900303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A68C930E-78F7-57FB-E8BD-A961F806C102}"/>
              </a:ext>
            </a:extLst>
          </p:cNvPr>
          <p:cNvSpPr>
            <a:spLocks noGrp="1"/>
          </p:cNvSpPr>
          <p:nvPr>
            <p:ph type="dt" sz="half" idx="14"/>
          </p:nvPr>
        </p:nvSpPr>
        <p:spPr/>
        <p:txBody>
          <a:bodyPr/>
          <a:lstStyle/>
          <a:p>
            <a:fld id="{2FD8AFF2-9042-B841-A3E7-F7EA0CBF7244}" type="datetime3">
              <a:rPr lang="en-US" smtClean="0"/>
              <a:pPr/>
              <a:t>28 October 2025</a:t>
            </a:fld>
            <a:endParaRPr lang="en-US"/>
          </a:p>
        </p:txBody>
      </p:sp>
      <p:sp>
        <p:nvSpPr>
          <p:cNvPr id="4" name="Footer Placeholder 3">
            <a:extLst>
              <a:ext uri="{FF2B5EF4-FFF2-40B4-BE49-F238E27FC236}">
                <a16:creationId xmlns:a16="http://schemas.microsoft.com/office/drawing/2014/main" id="{FB6AD075-6129-440B-3D26-0DAFAA597930}"/>
              </a:ext>
            </a:extLst>
          </p:cNvPr>
          <p:cNvSpPr>
            <a:spLocks noGrp="1"/>
          </p:cNvSpPr>
          <p:nvPr>
            <p:ph type="ftr" sz="quarter" idx="15"/>
          </p:nvPr>
        </p:nvSpPr>
        <p:spPr/>
        <p:txBody>
          <a:bodyPr/>
          <a:lstStyle/>
          <a:p>
            <a:r>
              <a:rPr lang="en-US" dirty="0"/>
              <a:t>MIDAS</a:t>
            </a:r>
          </a:p>
        </p:txBody>
      </p:sp>
      <p:sp>
        <p:nvSpPr>
          <p:cNvPr id="5" name="Slide Number Placeholder 4">
            <a:extLst>
              <a:ext uri="{FF2B5EF4-FFF2-40B4-BE49-F238E27FC236}">
                <a16:creationId xmlns:a16="http://schemas.microsoft.com/office/drawing/2014/main" id="{E5636DE3-745C-5C83-811B-DFE31AE8F4E0}"/>
              </a:ext>
            </a:extLst>
          </p:cNvPr>
          <p:cNvSpPr>
            <a:spLocks noGrp="1"/>
          </p:cNvSpPr>
          <p:nvPr>
            <p:ph type="sldNum" sz="quarter" idx="16"/>
          </p:nvPr>
        </p:nvSpPr>
        <p:spPr/>
        <p:txBody>
          <a:bodyPr/>
          <a:lstStyle/>
          <a:p>
            <a:fld id="{1876332E-97D2-CC49-9E46-E6E0DDE407EB}" type="slidenum">
              <a:rPr lang="en-US" smtClean="0"/>
              <a:pPr/>
              <a:t>8</a:t>
            </a:fld>
            <a:endParaRPr lang="en-US"/>
          </a:p>
        </p:txBody>
      </p:sp>
      <p:sp>
        <p:nvSpPr>
          <p:cNvPr id="6" name="Title 5">
            <a:extLst>
              <a:ext uri="{FF2B5EF4-FFF2-40B4-BE49-F238E27FC236}">
                <a16:creationId xmlns:a16="http://schemas.microsoft.com/office/drawing/2014/main" id="{3684A3F4-6A99-E8C4-275C-F3439ADF78D2}"/>
              </a:ext>
            </a:extLst>
          </p:cNvPr>
          <p:cNvSpPr>
            <a:spLocks noGrp="1"/>
          </p:cNvSpPr>
          <p:nvPr>
            <p:ph type="title"/>
          </p:nvPr>
        </p:nvSpPr>
        <p:spPr>
          <a:xfrm>
            <a:off x="838200" y="1"/>
            <a:ext cx="10515600" cy="1640806"/>
          </a:xfrm>
        </p:spPr>
        <p:txBody>
          <a:bodyPr>
            <a:normAutofit/>
          </a:bodyPr>
          <a:lstStyle/>
          <a:p>
            <a:r>
              <a:rPr lang="en-US" sz="3600" dirty="0"/>
              <a:t>Network visualizations for Howard County, MD</a:t>
            </a:r>
          </a:p>
        </p:txBody>
      </p:sp>
      <p:pic>
        <p:nvPicPr>
          <p:cNvPr id="9" name="Picture 8" descr="A clock with black lines&#10;&#10;Description automatically generated with medium confidence">
            <a:extLst>
              <a:ext uri="{FF2B5EF4-FFF2-40B4-BE49-F238E27FC236}">
                <a16:creationId xmlns:a16="http://schemas.microsoft.com/office/drawing/2014/main" id="{AF1DE48C-170E-8E8C-ED74-7D9430338A27}"/>
              </a:ext>
            </a:extLst>
          </p:cNvPr>
          <p:cNvPicPr>
            <a:picLocks noChangeAspect="1"/>
          </p:cNvPicPr>
          <p:nvPr/>
        </p:nvPicPr>
        <p:blipFill>
          <a:blip r:embed="rId3"/>
          <a:stretch>
            <a:fillRect/>
          </a:stretch>
        </p:blipFill>
        <p:spPr>
          <a:xfrm>
            <a:off x="1197902" y="2193238"/>
            <a:ext cx="2998328" cy="3023955"/>
          </a:xfrm>
          <a:prstGeom prst="rect">
            <a:avLst/>
          </a:prstGeom>
          <a:ln>
            <a:noFill/>
          </a:ln>
        </p:spPr>
      </p:pic>
      <p:pic>
        <p:nvPicPr>
          <p:cNvPr id="7" name="Picture 6" descr="A black specks in a circle&#10;&#10;Description automatically generated">
            <a:extLst>
              <a:ext uri="{FF2B5EF4-FFF2-40B4-BE49-F238E27FC236}">
                <a16:creationId xmlns:a16="http://schemas.microsoft.com/office/drawing/2014/main" id="{48F8FC01-3C20-F680-3BBD-F15A1A509453}"/>
              </a:ext>
            </a:extLst>
          </p:cNvPr>
          <p:cNvPicPr>
            <a:picLocks noChangeAspect="1"/>
          </p:cNvPicPr>
          <p:nvPr/>
        </p:nvPicPr>
        <p:blipFill>
          <a:blip r:embed="rId4"/>
          <a:stretch>
            <a:fillRect/>
          </a:stretch>
        </p:blipFill>
        <p:spPr>
          <a:xfrm>
            <a:off x="7177812" y="1970360"/>
            <a:ext cx="3234690" cy="3246833"/>
          </a:xfrm>
          <a:prstGeom prst="rect">
            <a:avLst/>
          </a:prstGeom>
          <a:ln>
            <a:noFill/>
          </a:ln>
        </p:spPr>
      </p:pic>
      <p:sp>
        <p:nvSpPr>
          <p:cNvPr id="10" name="TextBox 9">
            <a:extLst>
              <a:ext uri="{FF2B5EF4-FFF2-40B4-BE49-F238E27FC236}">
                <a16:creationId xmlns:a16="http://schemas.microsoft.com/office/drawing/2014/main" id="{0D1395B0-8C30-4A10-76AF-31789462CCF8}"/>
              </a:ext>
            </a:extLst>
          </p:cNvPr>
          <p:cNvSpPr txBox="1"/>
          <p:nvPr/>
        </p:nvSpPr>
        <p:spPr>
          <a:xfrm>
            <a:off x="3084036" y="5446014"/>
            <a:ext cx="183467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b="1" dirty="0"/>
              <a:t>School</a:t>
            </a:r>
          </a:p>
        </p:txBody>
      </p:sp>
      <p:sp>
        <p:nvSpPr>
          <p:cNvPr id="11" name="TextBox 10">
            <a:extLst>
              <a:ext uri="{FF2B5EF4-FFF2-40B4-BE49-F238E27FC236}">
                <a16:creationId xmlns:a16="http://schemas.microsoft.com/office/drawing/2014/main" id="{9548D590-9C14-243E-84A1-520392D2CEEA}"/>
              </a:ext>
            </a:extLst>
          </p:cNvPr>
          <p:cNvSpPr txBox="1"/>
          <p:nvPr/>
        </p:nvSpPr>
        <p:spPr>
          <a:xfrm>
            <a:off x="7336542" y="5446014"/>
            <a:ext cx="2960142"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b="1" dirty="0"/>
              <a:t>Group Quarters</a:t>
            </a:r>
          </a:p>
        </p:txBody>
      </p:sp>
      <p:pic>
        <p:nvPicPr>
          <p:cNvPr id="8" name="Picture 7" descr="A group of black dots&#10;&#10;Description automatically generated">
            <a:extLst>
              <a:ext uri="{FF2B5EF4-FFF2-40B4-BE49-F238E27FC236}">
                <a16:creationId xmlns:a16="http://schemas.microsoft.com/office/drawing/2014/main" id="{DAA06387-1332-E681-2B13-0A9A6F96B80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93737" y="3639747"/>
            <a:ext cx="1834674" cy="1497436"/>
          </a:xfrm>
          <a:prstGeom prst="rect">
            <a:avLst/>
          </a:prstGeom>
          <a:ln>
            <a:solidFill>
              <a:schemeClr val="tx1">
                <a:lumMod val="50000"/>
                <a:lumOff val="50000"/>
              </a:schemeClr>
            </a:solidFill>
          </a:ln>
        </p:spPr>
      </p:pic>
    </p:spTree>
    <p:extLst>
      <p:ext uri="{BB962C8B-B14F-4D97-AF65-F5344CB8AC3E}">
        <p14:creationId xmlns:p14="http://schemas.microsoft.com/office/powerpoint/2010/main" val="12220786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ounded Rectangle 20">
            <a:extLst>
              <a:ext uri="{FF2B5EF4-FFF2-40B4-BE49-F238E27FC236}">
                <a16:creationId xmlns:a16="http://schemas.microsoft.com/office/drawing/2014/main" id="{B827D61F-870B-ECD8-75C9-91D41B55EB49}"/>
              </a:ext>
            </a:extLst>
          </p:cNvPr>
          <p:cNvSpPr/>
          <p:nvPr/>
        </p:nvSpPr>
        <p:spPr>
          <a:xfrm>
            <a:off x="2849880" y="1967293"/>
            <a:ext cx="6740653" cy="4283523"/>
          </a:xfrm>
          <a:prstGeom prst="roundRect">
            <a:avLst/>
          </a:prstGeom>
          <a:solidFill>
            <a:schemeClr val="bg2"/>
          </a:solidFill>
          <a:ln w="635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endParaRPr lang="en-US" b="1" dirty="0">
              <a:solidFill>
                <a:schemeClr val="tx1"/>
              </a:solidFill>
            </a:endParaRPr>
          </a:p>
          <a:p>
            <a:endParaRPr lang="en-US" b="1" dirty="0">
              <a:solidFill>
                <a:schemeClr val="tx1"/>
              </a:solidFill>
            </a:endParaRPr>
          </a:p>
        </p:txBody>
      </p:sp>
      <p:sp>
        <p:nvSpPr>
          <p:cNvPr id="3" name="Date Placeholder 2">
            <a:extLst>
              <a:ext uri="{FF2B5EF4-FFF2-40B4-BE49-F238E27FC236}">
                <a16:creationId xmlns:a16="http://schemas.microsoft.com/office/drawing/2014/main" id="{A68C930E-78F7-57FB-E8BD-A961F806C102}"/>
              </a:ext>
            </a:extLst>
          </p:cNvPr>
          <p:cNvSpPr>
            <a:spLocks noGrp="1"/>
          </p:cNvSpPr>
          <p:nvPr>
            <p:ph type="dt" sz="half" idx="14"/>
          </p:nvPr>
        </p:nvSpPr>
        <p:spPr/>
        <p:txBody>
          <a:bodyPr/>
          <a:lstStyle/>
          <a:p>
            <a:fld id="{2FD8AFF2-9042-B841-A3E7-F7EA0CBF7244}" type="datetime3">
              <a:rPr lang="en-US" smtClean="0"/>
              <a:pPr/>
              <a:t>28 October 2025</a:t>
            </a:fld>
            <a:endParaRPr lang="en-US"/>
          </a:p>
        </p:txBody>
      </p:sp>
      <p:sp>
        <p:nvSpPr>
          <p:cNvPr id="4" name="Footer Placeholder 3">
            <a:extLst>
              <a:ext uri="{FF2B5EF4-FFF2-40B4-BE49-F238E27FC236}">
                <a16:creationId xmlns:a16="http://schemas.microsoft.com/office/drawing/2014/main" id="{FB6AD075-6129-440B-3D26-0DAFAA597930}"/>
              </a:ext>
            </a:extLst>
          </p:cNvPr>
          <p:cNvSpPr>
            <a:spLocks noGrp="1"/>
          </p:cNvSpPr>
          <p:nvPr>
            <p:ph type="ftr" sz="quarter" idx="15"/>
          </p:nvPr>
        </p:nvSpPr>
        <p:spPr/>
        <p:txBody>
          <a:bodyPr/>
          <a:lstStyle/>
          <a:p>
            <a:r>
              <a:rPr lang="en-US" dirty="0"/>
              <a:t>MIDAS</a:t>
            </a:r>
          </a:p>
        </p:txBody>
      </p:sp>
      <p:sp>
        <p:nvSpPr>
          <p:cNvPr id="5" name="Slide Number Placeholder 4">
            <a:extLst>
              <a:ext uri="{FF2B5EF4-FFF2-40B4-BE49-F238E27FC236}">
                <a16:creationId xmlns:a16="http://schemas.microsoft.com/office/drawing/2014/main" id="{E5636DE3-745C-5C83-811B-DFE31AE8F4E0}"/>
              </a:ext>
            </a:extLst>
          </p:cNvPr>
          <p:cNvSpPr>
            <a:spLocks noGrp="1"/>
          </p:cNvSpPr>
          <p:nvPr>
            <p:ph type="sldNum" sz="quarter" idx="16"/>
          </p:nvPr>
        </p:nvSpPr>
        <p:spPr/>
        <p:txBody>
          <a:bodyPr/>
          <a:lstStyle/>
          <a:p>
            <a:fld id="{1876332E-97D2-CC49-9E46-E6E0DDE407EB}" type="slidenum">
              <a:rPr lang="en-US" smtClean="0"/>
              <a:pPr/>
              <a:t>9</a:t>
            </a:fld>
            <a:endParaRPr lang="en-US"/>
          </a:p>
        </p:txBody>
      </p:sp>
      <p:sp>
        <p:nvSpPr>
          <p:cNvPr id="6" name="Title 5">
            <a:extLst>
              <a:ext uri="{FF2B5EF4-FFF2-40B4-BE49-F238E27FC236}">
                <a16:creationId xmlns:a16="http://schemas.microsoft.com/office/drawing/2014/main" id="{3684A3F4-6A99-E8C4-275C-F3439ADF78D2}"/>
              </a:ext>
            </a:extLst>
          </p:cNvPr>
          <p:cNvSpPr>
            <a:spLocks noGrp="1"/>
          </p:cNvSpPr>
          <p:nvPr>
            <p:ph type="title"/>
          </p:nvPr>
        </p:nvSpPr>
        <p:spPr>
          <a:xfrm>
            <a:off x="838200" y="1"/>
            <a:ext cx="10515600" cy="1617919"/>
          </a:xfrm>
        </p:spPr>
        <p:txBody>
          <a:bodyPr>
            <a:normAutofit/>
          </a:bodyPr>
          <a:lstStyle/>
          <a:p>
            <a:r>
              <a:rPr lang="en-US" sz="3600" dirty="0"/>
              <a:t>GeoPops with Starsim</a:t>
            </a:r>
          </a:p>
        </p:txBody>
      </p:sp>
      <p:sp>
        <p:nvSpPr>
          <p:cNvPr id="2" name="Rounded Rectangle 1">
            <a:extLst>
              <a:ext uri="{FF2B5EF4-FFF2-40B4-BE49-F238E27FC236}">
                <a16:creationId xmlns:a16="http://schemas.microsoft.com/office/drawing/2014/main" id="{F8E3AE1A-416A-4016-B1A5-00BF28E26B2E}"/>
              </a:ext>
            </a:extLst>
          </p:cNvPr>
          <p:cNvSpPr/>
          <p:nvPr/>
        </p:nvSpPr>
        <p:spPr>
          <a:xfrm>
            <a:off x="5945125" y="2336039"/>
            <a:ext cx="3075432" cy="1214881"/>
          </a:xfrm>
          <a:prstGeom prst="roundRect">
            <a:avLst/>
          </a:prstGeom>
          <a:solidFill>
            <a:schemeClr val="tx2">
              <a:lumMod val="20000"/>
              <a:lumOff val="80000"/>
            </a:schemeClr>
          </a:solidFill>
          <a:ln w="635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b="1" dirty="0">
                <a:solidFill>
                  <a:schemeClr val="tx1"/>
                </a:solidFill>
              </a:rPr>
              <a:t>SIR model</a:t>
            </a:r>
          </a:p>
          <a:p>
            <a:pPr marL="285750" indent="-285750">
              <a:buFont typeface="Arial" panose="020B0604020202020204" pitchFamily="34" charset="0"/>
              <a:buChar char="•"/>
            </a:pPr>
            <a:r>
              <a:rPr lang="en-US" sz="1400" dirty="0">
                <a:solidFill>
                  <a:schemeClr val="tx1"/>
                </a:solidFill>
              </a:rPr>
              <a:t>Respiratory disease</a:t>
            </a:r>
          </a:p>
          <a:p>
            <a:pPr marL="285750" indent="-285750">
              <a:buFont typeface="Arial" panose="020B0604020202020204" pitchFamily="34" charset="0"/>
              <a:buChar char="•"/>
            </a:pPr>
            <a:r>
              <a:rPr lang="en-US" sz="1400" dirty="0">
                <a:solidFill>
                  <a:schemeClr val="tx1"/>
                </a:solidFill>
              </a:rPr>
              <a:t>Infection duration ~7 days</a:t>
            </a:r>
          </a:p>
          <a:p>
            <a:pPr marL="285750" indent="-285750">
              <a:buFont typeface="Arial" panose="020B0604020202020204" pitchFamily="34" charset="0"/>
              <a:buChar char="•"/>
            </a:pPr>
            <a:r>
              <a:rPr lang="en-US" sz="1400" dirty="0">
                <a:solidFill>
                  <a:schemeClr val="tx1"/>
                </a:solidFill>
              </a:rPr>
              <a:t>Transmission coefficient ~0.1</a:t>
            </a:r>
          </a:p>
          <a:p>
            <a:pPr marL="285750" indent="-285750">
              <a:buFont typeface="Arial" panose="020B0604020202020204" pitchFamily="34" charset="0"/>
              <a:buChar char="•"/>
            </a:pPr>
            <a:r>
              <a:rPr lang="en-US" sz="1400" dirty="0">
                <a:solidFill>
                  <a:schemeClr val="tx1"/>
                </a:solidFill>
              </a:rPr>
              <a:t>50-day simulation</a:t>
            </a:r>
          </a:p>
        </p:txBody>
      </p:sp>
      <p:sp>
        <p:nvSpPr>
          <p:cNvPr id="14" name="Rounded Rectangle 13">
            <a:extLst>
              <a:ext uri="{FF2B5EF4-FFF2-40B4-BE49-F238E27FC236}">
                <a16:creationId xmlns:a16="http://schemas.microsoft.com/office/drawing/2014/main" id="{3EB85167-36C9-128B-1947-7A8AD2E64DAD}"/>
              </a:ext>
            </a:extLst>
          </p:cNvPr>
          <p:cNvSpPr/>
          <p:nvPr/>
        </p:nvSpPr>
        <p:spPr>
          <a:xfrm>
            <a:off x="5945126" y="3757749"/>
            <a:ext cx="3075431" cy="899522"/>
          </a:xfrm>
          <a:prstGeom prst="roundRect">
            <a:avLst/>
          </a:prstGeom>
          <a:solidFill>
            <a:schemeClr val="tx2">
              <a:lumMod val="20000"/>
              <a:lumOff val="80000"/>
            </a:schemeClr>
          </a:solidFill>
          <a:ln w="635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400" b="1" dirty="0">
                <a:solidFill>
                  <a:schemeClr val="tx1"/>
                </a:solidFill>
              </a:rPr>
              <a:t>Feedback module</a:t>
            </a:r>
          </a:p>
          <a:p>
            <a:pPr marL="285750" indent="-285750">
              <a:buFont typeface="Arial" panose="020B0604020202020204" pitchFamily="34" charset="0"/>
              <a:buChar char="•"/>
            </a:pPr>
            <a:r>
              <a:rPr lang="en-US" sz="1400" dirty="0">
                <a:solidFill>
                  <a:schemeClr val="tx1"/>
                </a:solidFill>
              </a:rPr>
              <a:t>Removes edges of school network when prevalence &gt; 0.1</a:t>
            </a:r>
          </a:p>
        </p:txBody>
      </p:sp>
      <p:sp>
        <p:nvSpPr>
          <p:cNvPr id="18" name="Rounded Rectangle 17">
            <a:extLst>
              <a:ext uri="{FF2B5EF4-FFF2-40B4-BE49-F238E27FC236}">
                <a16:creationId xmlns:a16="http://schemas.microsoft.com/office/drawing/2014/main" id="{D23E3503-73AE-ACE0-5E1C-DBE5A18CBF6B}"/>
              </a:ext>
            </a:extLst>
          </p:cNvPr>
          <p:cNvSpPr/>
          <p:nvPr/>
        </p:nvSpPr>
        <p:spPr>
          <a:xfrm>
            <a:off x="5945125" y="4872938"/>
            <a:ext cx="3075431" cy="901857"/>
          </a:xfrm>
          <a:prstGeom prst="roundRect">
            <a:avLst/>
          </a:prstGeom>
          <a:solidFill>
            <a:schemeClr val="tx2">
              <a:lumMod val="20000"/>
              <a:lumOff val="80000"/>
            </a:schemeClr>
          </a:solidFill>
          <a:ln w="635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Subgroup Tracking</a:t>
            </a:r>
          </a:p>
          <a:p>
            <a:pPr marL="285750" indent="-285750">
              <a:buFont typeface="Arial" panose="020B0604020202020204" pitchFamily="34" charset="0"/>
              <a:buChar char="•"/>
            </a:pPr>
            <a:r>
              <a:rPr lang="en-US" sz="1400" dirty="0">
                <a:solidFill>
                  <a:schemeClr val="tx1"/>
                </a:solidFill>
              </a:rPr>
              <a:t>Infections by age and CBG</a:t>
            </a:r>
          </a:p>
        </p:txBody>
      </p:sp>
      <p:sp>
        <p:nvSpPr>
          <p:cNvPr id="19" name="Rounded Rectangle 18">
            <a:extLst>
              <a:ext uri="{FF2B5EF4-FFF2-40B4-BE49-F238E27FC236}">
                <a16:creationId xmlns:a16="http://schemas.microsoft.com/office/drawing/2014/main" id="{46EB8DCC-1409-8128-5AEC-F2A4AF79D1C8}"/>
              </a:ext>
            </a:extLst>
          </p:cNvPr>
          <p:cNvSpPr/>
          <p:nvPr/>
        </p:nvSpPr>
        <p:spPr>
          <a:xfrm>
            <a:off x="3581401" y="3755414"/>
            <a:ext cx="1906524" cy="901857"/>
          </a:xfrm>
          <a:prstGeom prst="roundRect">
            <a:avLst/>
          </a:prstGeom>
          <a:solidFill>
            <a:schemeClr val="tx2">
              <a:lumMod val="20000"/>
              <a:lumOff val="80000"/>
            </a:schemeClr>
          </a:solidFill>
          <a:ln w="635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GeoPops agents</a:t>
            </a:r>
          </a:p>
        </p:txBody>
      </p:sp>
      <p:sp>
        <p:nvSpPr>
          <p:cNvPr id="20" name="Rounded Rectangle 19">
            <a:extLst>
              <a:ext uri="{FF2B5EF4-FFF2-40B4-BE49-F238E27FC236}">
                <a16:creationId xmlns:a16="http://schemas.microsoft.com/office/drawing/2014/main" id="{FFC301E9-8EEC-8861-5161-D86CC7CBCE0B}"/>
              </a:ext>
            </a:extLst>
          </p:cNvPr>
          <p:cNvSpPr/>
          <p:nvPr/>
        </p:nvSpPr>
        <p:spPr>
          <a:xfrm>
            <a:off x="3581400" y="4872938"/>
            <a:ext cx="1906524" cy="901857"/>
          </a:xfrm>
          <a:prstGeom prst="roundRect">
            <a:avLst/>
          </a:prstGeom>
          <a:solidFill>
            <a:schemeClr val="tx2">
              <a:lumMod val="20000"/>
              <a:lumOff val="80000"/>
            </a:schemeClr>
          </a:solidFill>
          <a:ln w="635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GeoPops networks</a:t>
            </a:r>
          </a:p>
        </p:txBody>
      </p:sp>
      <p:sp>
        <p:nvSpPr>
          <p:cNvPr id="22" name="TextBox 21">
            <a:extLst>
              <a:ext uri="{FF2B5EF4-FFF2-40B4-BE49-F238E27FC236}">
                <a16:creationId xmlns:a16="http://schemas.microsoft.com/office/drawing/2014/main" id="{18927399-FB76-C730-CDC3-1EBF6D43CB9B}"/>
              </a:ext>
            </a:extLst>
          </p:cNvPr>
          <p:cNvSpPr txBox="1"/>
          <p:nvPr/>
        </p:nvSpPr>
        <p:spPr>
          <a:xfrm>
            <a:off x="3821430" y="2633062"/>
            <a:ext cx="1426464" cy="646331"/>
          </a:xfrm>
          <a:prstGeom prst="rect">
            <a:avLst/>
          </a:prstGeom>
          <a:noFill/>
        </p:spPr>
        <p:txBody>
          <a:bodyPr wrap="square" rtlCol="0">
            <a:spAutoFit/>
          </a:bodyPr>
          <a:lstStyle/>
          <a:p>
            <a:pPr algn="ctr"/>
            <a:r>
              <a:rPr lang="en-US" b="1" dirty="0"/>
              <a:t>Starsim</a:t>
            </a:r>
          </a:p>
          <a:p>
            <a:r>
              <a:rPr lang="en-US" b="1" dirty="0"/>
              <a:t>Simulation</a:t>
            </a:r>
            <a:endParaRPr lang="en-US" dirty="0"/>
          </a:p>
        </p:txBody>
      </p:sp>
    </p:spTree>
    <p:extLst>
      <p:ext uri="{BB962C8B-B14F-4D97-AF65-F5344CB8AC3E}">
        <p14:creationId xmlns:p14="http://schemas.microsoft.com/office/powerpoint/2010/main" val="31101832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167303-43EE-C2CD-D3F9-FFB8FE88A99D}"/>
              </a:ext>
            </a:extLst>
          </p:cNvPr>
          <p:cNvSpPr>
            <a:spLocks noGrp="1"/>
          </p:cNvSpPr>
          <p:nvPr>
            <p:ph sz="quarter" idx="13"/>
          </p:nvPr>
        </p:nvSpPr>
        <p:spPr/>
        <p:txBody>
          <a:bodyPr vert="horz" lIns="91440" tIns="45720" rIns="91440" bIns="45720" rtlCol="0" anchor="t">
            <a:normAutofit/>
          </a:bodyPr>
          <a:lstStyle/>
          <a:p>
            <a:pPr marL="0" indent="0">
              <a:buNone/>
            </a:pPr>
            <a:endParaRPr lang="en-US" sz="2400"/>
          </a:p>
          <a:p>
            <a:endParaRPr lang="en-US"/>
          </a:p>
        </p:txBody>
      </p:sp>
      <p:sp>
        <p:nvSpPr>
          <p:cNvPr id="3" name="Date Placeholder 2">
            <a:extLst>
              <a:ext uri="{FF2B5EF4-FFF2-40B4-BE49-F238E27FC236}">
                <a16:creationId xmlns:a16="http://schemas.microsoft.com/office/drawing/2014/main" id="{A68C930E-78F7-57FB-E8BD-A961F806C102}"/>
              </a:ext>
            </a:extLst>
          </p:cNvPr>
          <p:cNvSpPr>
            <a:spLocks noGrp="1"/>
          </p:cNvSpPr>
          <p:nvPr>
            <p:ph type="dt" sz="half" idx="14"/>
          </p:nvPr>
        </p:nvSpPr>
        <p:spPr/>
        <p:txBody>
          <a:bodyPr/>
          <a:lstStyle/>
          <a:p>
            <a:fld id="{2FD8AFF2-9042-B841-A3E7-F7EA0CBF7244}" type="datetime3">
              <a:rPr lang="en-US" smtClean="0"/>
              <a:pPr/>
              <a:t>28 October 2025</a:t>
            </a:fld>
            <a:endParaRPr lang="en-US"/>
          </a:p>
        </p:txBody>
      </p:sp>
      <p:sp>
        <p:nvSpPr>
          <p:cNvPr id="4" name="Footer Placeholder 3">
            <a:extLst>
              <a:ext uri="{FF2B5EF4-FFF2-40B4-BE49-F238E27FC236}">
                <a16:creationId xmlns:a16="http://schemas.microsoft.com/office/drawing/2014/main" id="{FB6AD075-6129-440B-3D26-0DAFAA597930}"/>
              </a:ext>
            </a:extLst>
          </p:cNvPr>
          <p:cNvSpPr>
            <a:spLocks noGrp="1"/>
          </p:cNvSpPr>
          <p:nvPr>
            <p:ph type="ftr" sz="quarter" idx="15"/>
          </p:nvPr>
        </p:nvSpPr>
        <p:spPr/>
        <p:txBody>
          <a:bodyPr/>
          <a:lstStyle/>
          <a:p>
            <a:r>
              <a:rPr lang="en-US" dirty="0"/>
              <a:t>MIDAS</a:t>
            </a:r>
          </a:p>
        </p:txBody>
      </p:sp>
      <p:sp>
        <p:nvSpPr>
          <p:cNvPr id="5" name="Slide Number Placeholder 4">
            <a:extLst>
              <a:ext uri="{FF2B5EF4-FFF2-40B4-BE49-F238E27FC236}">
                <a16:creationId xmlns:a16="http://schemas.microsoft.com/office/drawing/2014/main" id="{E5636DE3-745C-5C83-811B-DFE31AE8F4E0}"/>
              </a:ext>
            </a:extLst>
          </p:cNvPr>
          <p:cNvSpPr>
            <a:spLocks noGrp="1"/>
          </p:cNvSpPr>
          <p:nvPr>
            <p:ph type="sldNum" sz="quarter" idx="16"/>
          </p:nvPr>
        </p:nvSpPr>
        <p:spPr/>
        <p:txBody>
          <a:bodyPr/>
          <a:lstStyle/>
          <a:p>
            <a:fld id="{1876332E-97D2-CC49-9E46-E6E0DDE407EB}" type="slidenum">
              <a:rPr lang="en-US" smtClean="0"/>
              <a:pPr/>
              <a:t>10</a:t>
            </a:fld>
            <a:endParaRPr lang="en-US"/>
          </a:p>
        </p:txBody>
      </p:sp>
      <p:sp>
        <p:nvSpPr>
          <p:cNvPr id="6" name="Title 5">
            <a:extLst>
              <a:ext uri="{FF2B5EF4-FFF2-40B4-BE49-F238E27FC236}">
                <a16:creationId xmlns:a16="http://schemas.microsoft.com/office/drawing/2014/main" id="{3684A3F4-6A99-E8C4-275C-F3439ADF78D2}"/>
              </a:ext>
            </a:extLst>
          </p:cNvPr>
          <p:cNvSpPr>
            <a:spLocks noGrp="1"/>
          </p:cNvSpPr>
          <p:nvPr>
            <p:ph type="title"/>
          </p:nvPr>
        </p:nvSpPr>
        <p:spPr>
          <a:xfrm>
            <a:off x="838200" y="1"/>
            <a:ext cx="10515600" cy="1645919"/>
          </a:xfrm>
        </p:spPr>
        <p:txBody>
          <a:bodyPr>
            <a:normAutofit/>
          </a:bodyPr>
          <a:lstStyle/>
          <a:p>
            <a:r>
              <a:rPr lang="en-US" sz="3200" dirty="0"/>
              <a:t>Feedback vs No Feedback</a:t>
            </a:r>
          </a:p>
        </p:txBody>
      </p:sp>
      <p:pic>
        <p:nvPicPr>
          <p:cNvPr id="8" name="Picture 7" descr="A graph of static and dynamic school network&#10;&#10;AI-generated content may be incorrect.">
            <a:extLst>
              <a:ext uri="{FF2B5EF4-FFF2-40B4-BE49-F238E27FC236}">
                <a16:creationId xmlns:a16="http://schemas.microsoft.com/office/drawing/2014/main" id="{E06FCEC2-D39F-B721-D6E4-0E7A825B0C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09342" y="1805025"/>
            <a:ext cx="6973316" cy="4411028"/>
          </a:xfrm>
          <a:prstGeom prst="rect">
            <a:avLst/>
          </a:prstGeom>
        </p:spPr>
      </p:pic>
    </p:spTree>
    <p:extLst>
      <p:ext uri="{BB962C8B-B14F-4D97-AF65-F5344CB8AC3E}">
        <p14:creationId xmlns:p14="http://schemas.microsoft.com/office/powerpoint/2010/main" val="26198836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A107F8-D22A-E2DC-42FA-68B590321BCE}"/>
            </a:ext>
          </a:extLst>
        </p:cNvPr>
        <p:cNvGrpSpPr/>
        <p:nvPr/>
      </p:nvGrpSpPr>
      <p:grpSpPr>
        <a:xfrm>
          <a:off x="0" y="0"/>
          <a:ext cx="0" cy="0"/>
          <a:chOff x="0" y="0"/>
          <a:chExt cx="0" cy="0"/>
        </a:xfrm>
      </p:grpSpPr>
      <p:sp>
        <p:nvSpPr>
          <p:cNvPr id="3" name="Date Placeholder 2">
            <a:extLst>
              <a:ext uri="{FF2B5EF4-FFF2-40B4-BE49-F238E27FC236}">
                <a16:creationId xmlns:a16="http://schemas.microsoft.com/office/drawing/2014/main" id="{5F133E81-BBC3-62F1-A979-176C82E3A8FA}"/>
              </a:ext>
            </a:extLst>
          </p:cNvPr>
          <p:cNvSpPr>
            <a:spLocks noGrp="1"/>
          </p:cNvSpPr>
          <p:nvPr>
            <p:ph type="dt" sz="half" idx="14"/>
          </p:nvPr>
        </p:nvSpPr>
        <p:spPr/>
        <p:txBody>
          <a:bodyPr/>
          <a:lstStyle/>
          <a:p>
            <a:fld id="{2FD8AFF2-9042-B841-A3E7-F7EA0CBF7244}" type="datetime3">
              <a:rPr lang="en-US" smtClean="0"/>
              <a:pPr/>
              <a:t>28 October 2025</a:t>
            </a:fld>
            <a:endParaRPr lang="en-US"/>
          </a:p>
        </p:txBody>
      </p:sp>
      <p:sp>
        <p:nvSpPr>
          <p:cNvPr id="4" name="Footer Placeholder 3">
            <a:extLst>
              <a:ext uri="{FF2B5EF4-FFF2-40B4-BE49-F238E27FC236}">
                <a16:creationId xmlns:a16="http://schemas.microsoft.com/office/drawing/2014/main" id="{07E3F68A-2455-E568-8387-E40BBBF0B4C3}"/>
              </a:ext>
            </a:extLst>
          </p:cNvPr>
          <p:cNvSpPr>
            <a:spLocks noGrp="1"/>
          </p:cNvSpPr>
          <p:nvPr>
            <p:ph type="ftr" sz="quarter" idx="15"/>
          </p:nvPr>
        </p:nvSpPr>
        <p:spPr/>
        <p:txBody>
          <a:bodyPr/>
          <a:lstStyle/>
          <a:p>
            <a:r>
              <a:rPr lang="en-US" dirty="0"/>
              <a:t>MIDAS</a:t>
            </a:r>
          </a:p>
        </p:txBody>
      </p:sp>
      <p:sp>
        <p:nvSpPr>
          <p:cNvPr id="5" name="Slide Number Placeholder 4">
            <a:extLst>
              <a:ext uri="{FF2B5EF4-FFF2-40B4-BE49-F238E27FC236}">
                <a16:creationId xmlns:a16="http://schemas.microsoft.com/office/drawing/2014/main" id="{015A8B19-EEB3-0DD8-C332-0FB7E78988C4}"/>
              </a:ext>
            </a:extLst>
          </p:cNvPr>
          <p:cNvSpPr>
            <a:spLocks noGrp="1"/>
          </p:cNvSpPr>
          <p:nvPr>
            <p:ph type="sldNum" sz="quarter" idx="16"/>
          </p:nvPr>
        </p:nvSpPr>
        <p:spPr/>
        <p:txBody>
          <a:bodyPr/>
          <a:lstStyle/>
          <a:p>
            <a:fld id="{1876332E-97D2-CC49-9E46-E6E0DDE407EB}" type="slidenum">
              <a:rPr lang="en-US" smtClean="0"/>
              <a:pPr/>
              <a:t>11</a:t>
            </a:fld>
            <a:endParaRPr lang="en-US"/>
          </a:p>
        </p:txBody>
      </p:sp>
      <p:sp>
        <p:nvSpPr>
          <p:cNvPr id="6" name="Title 5">
            <a:extLst>
              <a:ext uri="{FF2B5EF4-FFF2-40B4-BE49-F238E27FC236}">
                <a16:creationId xmlns:a16="http://schemas.microsoft.com/office/drawing/2014/main" id="{861F6E71-B71C-B112-7023-E88A5EE1C496}"/>
              </a:ext>
            </a:extLst>
          </p:cNvPr>
          <p:cNvSpPr>
            <a:spLocks noGrp="1"/>
          </p:cNvSpPr>
          <p:nvPr>
            <p:ph type="title"/>
          </p:nvPr>
        </p:nvSpPr>
        <p:spPr>
          <a:xfrm>
            <a:off x="838200" y="1"/>
            <a:ext cx="10515600" cy="1690687"/>
          </a:xfrm>
        </p:spPr>
        <p:txBody>
          <a:bodyPr>
            <a:normAutofit/>
          </a:bodyPr>
          <a:lstStyle/>
          <a:p>
            <a:r>
              <a:rPr lang="en-US" sz="3200" dirty="0"/>
              <a:t>Outcome tracking by demographic subgroup</a:t>
            </a:r>
          </a:p>
        </p:txBody>
      </p:sp>
      <p:pic>
        <p:nvPicPr>
          <p:cNvPr id="11" name="Picture 10" descr="A graph of infection by age group&#10;&#10;AI-generated content may be incorrect.">
            <a:extLst>
              <a:ext uri="{FF2B5EF4-FFF2-40B4-BE49-F238E27FC236}">
                <a16:creationId xmlns:a16="http://schemas.microsoft.com/office/drawing/2014/main" id="{B6F65DEA-11D1-9513-CFAE-BB7E6BA46C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94772" y="1848358"/>
            <a:ext cx="7602455" cy="4406138"/>
          </a:xfrm>
          <a:prstGeom prst="rect">
            <a:avLst/>
          </a:prstGeom>
        </p:spPr>
      </p:pic>
    </p:spTree>
    <p:extLst>
      <p:ext uri="{BB962C8B-B14F-4D97-AF65-F5344CB8AC3E}">
        <p14:creationId xmlns:p14="http://schemas.microsoft.com/office/powerpoint/2010/main" val="41350711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532B2-7DA3-35FC-386B-B120B205A45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8C15DC3-15A3-E54B-BF95-D7F73D2B0580}"/>
              </a:ext>
            </a:extLst>
          </p:cNvPr>
          <p:cNvSpPr>
            <a:spLocks noGrp="1"/>
          </p:cNvSpPr>
          <p:nvPr>
            <p:ph sz="quarter" idx="13"/>
          </p:nvPr>
        </p:nvSpPr>
        <p:spPr/>
        <p:txBody>
          <a:bodyPr vert="horz" lIns="91440" tIns="45720" rIns="91440" bIns="45720" rtlCol="0" anchor="t">
            <a:normAutofit/>
          </a:bodyPr>
          <a:lstStyle/>
          <a:p>
            <a:pPr marL="0" indent="0">
              <a:buNone/>
            </a:pPr>
            <a:endParaRPr lang="en-US" sz="2400"/>
          </a:p>
          <a:p>
            <a:endParaRPr lang="en-US"/>
          </a:p>
        </p:txBody>
      </p:sp>
      <p:sp>
        <p:nvSpPr>
          <p:cNvPr id="3" name="Date Placeholder 2">
            <a:extLst>
              <a:ext uri="{FF2B5EF4-FFF2-40B4-BE49-F238E27FC236}">
                <a16:creationId xmlns:a16="http://schemas.microsoft.com/office/drawing/2014/main" id="{E7F0EB0E-1724-4BC9-598C-6BB4C38C2343}"/>
              </a:ext>
            </a:extLst>
          </p:cNvPr>
          <p:cNvSpPr>
            <a:spLocks noGrp="1"/>
          </p:cNvSpPr>
          <p:nvPr>
            <p:ph type="dt" sz="half" idx="14"/>
          </p:nvPr>
        </p:nvSpPr>
        <p:spPr/>
        <p:txBody>
          <a:bodyPr/>
          <a:lstStyle/>
          <a:p>
            <a:fld id="{2FD8AFF2-9042-B841-A3E7-F7EA0CBF7244}" type="datetime3">
              <a:rPr lang="en-US" smtClean="0"/>
              <a:pPr/>
              <a:t>28 October 2025</a:t>
            </a:fld>
            <a:endParaRPr lang="en-US"/>
          </a:p>
        </p:txBody>
      </p:sp>
      <p:sp>
        <p:nvSpPr>
          <p:cNvPr id="4" name="Footer Placeholder 3">
            <a:extLst>
              <a:ext uri="{FF2B5EF4-FFF2-40B4-BE49-F238E27FC236}">
                <a16:creationId xmlns:a16="http://schemas.microsoft.com/office/drawing/2014/main" id="{3BD0EE44-957A-DC10-FEE9-CD75A848FCD2}"/>
              </a:ext>
            </a:extLst>
          </p:cNvPr>
          <p:cNvSpPr>
            <a:spLocks noGrp="1"/>
          </p:cNvSpPr>
          <p:nvPr>
            <p:ph type="ftr" sz="quarter" idx="15"/>
          </p:nvPr>
        </p:nvSpPr>
        <p:spPr/>
        <p:txBody>
          <a:bodyPr/>
          <a:lstStyle/>
          <a:p>
            <a:r>
              <a:rPr lang="en-US" dirty="0"/>
              <a:t>MIDAS</a:t>
            </a:r>
          </a:p>
        </p:txBody>
      </p:sp>
      <p:sp>
        <p:nvSpPr>
          <p:cNvPr id="5" name="Slide Number Placeholder 4">
            <a:extLst>
              <a:ext uri="{FF2B5EF4-FFF2-40B4-BE49-F238E27FC236}">
                <a16:creationId xmlns:a16="http://schemas.microsoft.com/office/drawing/2014/main" id="{8591DCB0-280A-04E3-6A19-531C121FFC62}"/>
              </a:ext>
            </a:extLst>
          </p:cNvPr>
          <p:cNvSpPr>
            <a:spLocks noGrp="1"/>
          </p:cNvSpPr>
          <p:nvPr>
            <p:ph type="sldNum" sz="quarter" idx="16"/>
          </p:nvPr>
        </p:nvSpPr>
        <p:spPr/>
        <p:txBody>
          <a:bodyPr/>
          <a:lstStyle/>
          <a:p>
            <a:fld id="{1876332E-97D2-CC49-9E46-E6E0DDE407EB}" type="slidenum">
              <a:rPr lang="en-US" smtClean="0"/>
              <a:pPr/>
              <a:t>12</a:t>
            </a:fld>
            <a:endParaRPr lang="en-US"/>
          </a:p>
        </p:txBody>
      </p:sp>
      <p:sp>
        <p:nvSpPr>
          <p:cNvPr id="6" name="Title 5">
            <a:extLst>
              <a:ext uri="{FF2B5EF4-FFF2-40B4-BE49-F238E27FC236}">
                <a16:creationId xmlns:a16="http://schemas.microsoft.com/office/drawing/2014/main" id="{35225E75-B0DB-A962-100C-034BE1C6FA86}"/>
              </a:ext>
            </a:extLst>
          </p:cNvPr>
          <p:cNvSpPr>
            <a:spLocks noGrp="1"/>
          </p:cNvSpPr>
          <p:nvPr>
            <p:ph type="title"/>
          </p:nvPr>
        </p:nvSpPr>
        <p:spPr>
          <a:xfrm>
            <a:off x="838200" y="1"/>
            <a:ext cx="10515600" cy="1737999"/>
          </a:xfrm>
        </p:spPr>
        <p:txBody>
          <a:bodyPr>
            <a:normAutofit/>
          </a:bodyPr>
          <a:lstStyle/>
          <a:p>
            <a:r>
              <a:rPr lang="en-US" sz="3200" dirty="0"/>
              <a:t>Outcome tracking by geographic subgroup</a:t>
            </a:r>
          </a:p>
        </p:txBody>
      </p:sp>
      <p:pic>
        <p:nvPicPr>
          <p:cNvPr id="9" name="Picture 8" descr="A map of a country with red and orange areas&#10;&#10;AI-generated content may be incorrect.">
            <a:extLst>
              <a:ext uri="{FF2B5EF4-FFF2-40B4-BE49-F238E27FC236}">
                <a16:creationId xmlns:a16="http://schemas.microsoft.com/office/drawing/2014/main" id="{7BFFC8C8-E8F6-DE62-1AC1-DCB83BB984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87421" y="1805025"/>
            <a:ext cx="7217157" cy="4484300"/>
          </a:xfrm>
          <a:prstGeom prst="rect">
            <a:avLst/>
          </a:prstGeom>
        </p:spPr>
      </p:pic>
    </p:spTree>
    <p:extLst>
      <p:ext uri="{BB962C8B-B14F-4D97-AF65-F5344CB8AC3E}">
        <p14:creationId xmlns:p14="http://schemas.microsoft.com/office/powerpoint/2010/main" val="41195523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C96D76-A75D-F927-6DEE-7CA6D45689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84E95B-CEB6-4F12-4E72-258D03408248}"/>
              </a:ext>
            </a:extLst>
          </p:cNvPr>
          <p:cNvSpPr>
            <a:spLocks noGrp="1"/>
          </p:cNvSpPr>
          <p:nvPr>
            <p:ph sz="quarter" idx="13"/>
          </p:nvPr>
        </p:nvSpPr>
        <p:spPr/>
        <p:txBody>
          <a:bodyPr vert="horz" lIns="91440" tIns="45720" rIns="91440" bIns="45720" rtlCol="0" anchor="t">
            <a:normAutofit/>
          </a:bodyPr>
          <a:lstStyle/>
          <a:p>
            <a:pPr marL="0" indent="0">
              <a:buNone/>
            </a:pPr>
            <a:endParaRPr lang="en-US" sz="2400"/>
          </a:p>
          <a:p>
            <a:endParaRPr lang="en-US"/>
          </a:p>
        </p:txBody>
      </p:sp>
      <p:sp>
        <p:nvSpPr>
          <p:cNvPr id="3" name="Date Placeholder 2">
            <a:extLst>
              <a:ext uri="{FF2B5EF4-FFF2-40B4-BE49-F238E27FC236}">
                <a16:creationId xmlns:a16="http://schemas.microsoft.com/office/drawing/2014/main" id="{0AF82C53-4B90-B34D-F65F-9174AD85DC08}"/>
              </a:ext>
            </a:extLst>
          </p:cNvPr>
          <p:cNvSpPr>
            <a:spLocks noGrp="1"/>
          </p:cNvSpPr>
          <p:nvPr>
            <p:ph type="dt" sz="half" idx="14"/>
          </p:nvPr>
        </p:nvSpPr>
        <p:spPr/>
        <p:txBody>
          <a:bodyPr/>
          <a:lstStyle/>
          <a:p>
            <a:fld id="{2FD8AFF2-9042-B841-A3E7-F7EA0CBF7244}" type="datetime3">
              <a:rPr lang="en-US" smtClean="0"/>
              <a:pPr/>
              <a:t>28 October 2025</a:t>
            </a:fld>
            <a:endParaRPr lang="en-US"/>
          </a:p>
        </p:txBody>
      </p:sp>
      <p:sp>
        <p:nvSpPr>
          <p:cNvPr id="4" name="Footer Placeholder 3">
            <a:extLst>
              <a:ext uri="{FF2B5EF4-FFF2-40B4-BE49-F238E27FC236}">
                <a16:creationId xmlns:a16="http://schemas.microsoft.com/office/drawing/2014/main" id="{1FE60202-D861-4A55-1B6E-B192B4883686}"/>
              </a:ext>
            </a:extLst>
          </p:cNvPr>
          <p:cNvSpPr>
            <a:spLocks noGrp="1"/>
          </p:cNvSpPr>
          <p:nvPr>
            <p:ph type="ftr" sz="quarter" idx="15"/>
          </p:nvPr>
        </p:nvSpPr>
        <p:spPr/>
        <p:txBody>
          <a:bodyPr/>
          <a:lstStyle/>
          <a:p>
            <a:r>
              <a:rPr lang="en-US" dirty="0"/>
              <a:t>MIDAS</a:t>
            </a:r>
          </a:p>
        </p:txBody>
      </p:sp>
      <p:sp>
        <p:nvSpPr>
          <p:cNvPr id="5" name="Slide Number Placeholder 4">
            <a:extLst>
              <a:ext uri="{FF2B5EF4-FFF2-40B4-BE49-F238E27FC236}">
                <a16:creationId xmlns:a16="http://schemas.microsoft.com/office/drawing/2014/main" id="{770CC850-16A3-2A12-1115-F1C2362B77C5}"/>
              </a:ext>
            </a:extLst>
          </p:cNvPr>
          <p:cNvSpPr>
            <a:spLocks noGrp="1"/>
          </p:cNvSpPr>
          <p:nvPr>
            <p:ph type="sldNum" sz="quarter" idx="16"/>
          </p:nvPr>
        </p:nvSpPr>
        <p:spPr/>
        <p:txBody>
          <a:bodyPr/>
          <a:lstStyle/>
          <a:p>
            <a:fld id="{1876332E-97D2-CC49-9E46-E6E0DDE407EB}" type="slidenum">
              <a:rPr lang="en-US" smtClean="0"/>
              <a:pPr/>
              <a:t>13</a:t>
            </a:fld>
            <a:endParaRPr lang="en-US"/>
          </a:p>
        </p:txBody>
      </p:sp>
      <p:sp>
        <p:nvSpPr>
          <p:cNvPr id="6" name="Title 5">
            <a:extLst>
              <a:ext uri="{FF2B5EF4-FFF2-40B4-BE49-F238E27FC236}">
                <a16:creationId xmlns:a16="http://schemas.microsoft.com/office/drawing/2014/main" id="{A92D3678-0C6B-0B61-28A0-3DE62FA8932F}"/>
              </a:ext>
            </a:extLst>
          </p:cNvPr>
          <p:cNvSpPr>
            <a:spLocks noGrp="1"/>
          </p:cNvSpPr>
          <p:nvPr>
            <p:ph type="title"/>
          </p:nvPr>
        </p:nvSpPr>
        <p:spPr>
          <a:xfrm>
            <a:off x="838200" y="0"/>
            <a:ext cx="10515600" cy="1738000"/>
          </a:xfrm>
        </p:spPr>
        <p:txBody>
          <a:bodyPr>
            <a:normAutofit/>
          </a:bodyPr>
          <a:lstStyle/>
          <a:p>
            <a:r>
              <a:rPr lang="en-US" sz="3200" dirty="0"/>
              <a:t>Why is this cool?!</a:t>
            </a:r>
          </a:p>
        </p:txBody>
      </p:sp>
      <p:sp>
        <p:nvSpPr>
          <p:cNvPr id="7" name="TextBox 6">
            <a:extLst>
              <a:ext uri="{FF2B5EF4-FFF2-40B4-BE49-F238E27FC236}">
                <a16:creationId xmlns:a16="http://schemas.microsoft.com/office/drawing/2014/main" id="{2C2AF412-6E17-9B0C-A918-2DD35143F66A}"/>
              </a:ext>
            </a:extLst>
          </p:cNvPr>
          <p:cNvSpPr txBox="1"/>
          <p:nvPr/>
        </p:nvSpPr>
        <p:spPr>
          <a:xfrm>
            <a:off x="950976" y="2527339"/>
            <a:ext cx="10046208" cy="2800767"/>
          </a:xfrm>
          <a:prstGeom prst="rect">
            <a:avLst/>
          </a:prstGeom>
          <a:noFill/>
        </p:spPr>
        <p:txBody>
          <a:bodyPr wrap="square" rtlCol="0">
            <a:spAutoFit/>
          </a:bodyPr>
          <a:lstStyle/>
          <a:p>
            <a:pPr marL="285750" indent="-285750">
              <a:spcAft>
                <a:spcPts val="1200"/>
              </a:spcAft>
              <a:buFont typeface="Arial" panose="020B0604020202020204" pitchFamily="34" charset="0"/>
              <a:buChar char="•"/>
            </a:pPr>
            <a:r>
              <a:rPr lang="en-US" dirty="0"/>
              <a:t>Reasonably realistic geographic and demographic granularity for night and day-time activities </a:t>
            </a:r>
          </a:p>
          <a:p>
            <a:pPr marL="285750" indent="-285750">
              <a:spcAft>
                <a:spcPts val="1200"/>
              </a:spcAft>
              <a:buFont typeface="Arial" panose="020B0604020202020204" pitchFamily="34" charset="0"/>
              <a:buChar char="•"/>
            </a:pPr>
            <a:r>
              <a:rPr lang="en-US" dirty="0"/>
              <a:t>Don't have to build a model from scratch</a:t>
            </a:r>
          </a:p>
          <a:p>
            <a:pPr marL="285750" indent="-285750">
              <a:spcAft>
                <a:spcPts val="1200"/>
              </a:spcAft>
              <a:buFont typeface="Arial" panose="020B0604020202020204" pitchFamily="34" charset="0"/>
              <a:buChar char="•"/>
            </a:pPr>
            <a:r>
              <a:rPr lang="en-US" dirty="0"/>
              <a:t>Can be used by state and county health departments for context-specific scenario modeling</a:t>
            </a:r>
          </a:p>
          <a:p>
            <a:pPr marL="285750" indent="-285750">
              <a:spcAft>
                <a:spcPts val="1200"/>
              </a:spcAft>
              <a:buFont typeface="Arial" panose="020B0604020202020204" pitchFamily="34" charset="0"/>
              <a:buChar char="•"/>
            </a:pPr>
            <a:r>
              <a:rPr lang="en-US" dirty="0"/>
              <a:t>Seed infections to a specific geography</a:t>
            </a:r>
          </a:p>
          <a:p>
            <a:pPr marL="285750" indent="-285750">
              <a:spcAft>
                <a:spcPts val="1200"/>
              </a:spcAft>
              <a:buFont typeface="Arial" panose="020B0604020202020204" pitchFamily="34" charset="0"/>
              <a:buChar char="•"/>
            </a:pPr>
            <a:r>
              <a:rPr lang="en-US" dirty="0"/>
              <a:t>Target interventions to specific demographic or geographic groups</a:t>
            </a:r>
          </a:p>
          <a:p>
            <a:pPr marL="285750" indent="-285750">
              <a:spcAft>
                <a:spcPts val="1200"/>
              </a:spcAft>
              <a:buFont typeface="Arial" panose="020B0604020202020204" pitchFamily="34" charset="0"/>
              <a:buChar char="•"/>
            </a:pPr>
            <a:r>
              <a:rPr lang="en-US" dirty="0"/>
              <a:t>There are several research groups already using Starsim to model respiratory diseases that can now use GeoPops as well</a:t>
            </a:r>
          </a:p>
        </p:txBody>
      </p:sp>
    </p:spTree>
    <p:extLst>
      <p:ext uri="{BB962C8B-B14F-4D97-AF65-F5344CB8AC3E}">
        <p14:creationId xmlns:p14="http://schemas.microsoft.com/office/powerpoint/2010/main" val="15101554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FE5FF-8F22-DDEE-AA6B-99664EF417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6C0F4A8-2A0D-3CB8-4362-AC29D6976126}"/>
              </a:ext>
            </a:extLst>
          </p:cNvPr>
          <p:cNvSpPr>
            <a:spLocks noGrp="1"/>
          </p:cNvSpPr>
          <p:nvPr>
            <p:ph sz="quarter" idx="13"/>
          </p:nvPr>
        </p:nvSpPr>
        <p:spPr/>
        <p:txBody>
          <a:bodyPr vert="horz" lIns="91440" tIns="45720" rIns="91440" bIns="45720" rtlCol="0" anchor="t">
            <a:normAutofit/>
          </a:bodyPr>
          <a:lstStyle/>
          <a:p>
            <a:pPr marL="0" indent="0">
              <a:buNone/>
            </a:pPr>
            <a:endParaRPr lang="en-US" sz="2400"/>
          </a:p>
          <a:p>
            <a:endParaRPr lang="en-US"/>
          </a:p>
        </p:txBody>
      </p:sp>
      <p:sp>
        <p:nvSpPr>
          <p:cNvPr id="3" name="Date Placeholder 2">
            <a:extLst>
              <a:ext uri="{FF2B5EF4-FFF2-40B4-BE49-F238E27FC236}">
                <a16:creationId xmlns:a16="http://schemas.microsoft.com/office/drawing/2014/main" id="{9A0FB09E-A136-C24E-E8C4-37F2ACB4C4F5}"/>
              </a:ext>
            </a:extLst>
          </p:cNvPr>
          <p:cNvSpPr>
            <a:spLocks noGrp="1"/>
          </p:cNvSpPr>
          <p:nvPr>
            <p:ph type="dt" sz="half" idx="14"/>
          </p:nvPr>
        </p:nvSpPr>
        <p:spPr/>
        <p:txBody>
          <a:bodyPr/>
          <a:lstStyle/>
          <a:p>
            <a:fld id="{2FD8AFF2-9042-B841-A3E7-F7EA0CBF7244}" type="datetime3">
              <a:rPr lang="en-US" smtClean="0"/>
              <a:pPr/>
              <a:t>28 October 2025</a:t>
            </a:fld>
            <a:endParaRPr lang="en-US"/>
          </a:p>
        </p:txBody>
      </p:sp>
      <p:sp>
        <p:nvSpPr>
          <p:cNvPr id="4" name="Footer Placeholder 3">
            <a:extLst>
              <a:ext uri="{FF2B5EF4-FFF2-40B4-BE49-F238E27FC236}">
                <a16:creationId xmlns:a16="http://schemas.microsoft.com/office/drawing/2014/main" id="{85FE7638-0A8D-C550-4573-326287CFD4A7}"/>
              </a:ext>
            </a:extLst>
          </p:cNvPr>
          <p:cNvSpPr>
            <a:spLocks noGrp="1"/>
          </p:cNvSpPr>
          <p:nvPr>
            <p:ph type="ftr" sz="quarter" idx="15"/>
          </p:nvPr>
        </p:nvSpPr>
        <p:spPr/>
        <p:txBody>
          <a:bodyPr/>
          <a:lstStyle/>
          <a:p>
            <a:r>
              <a:rPr lang="en-US" dirty="0"/>
              <a:t>MIDAS</a:t>
            </a:r>
          </a:p>
        </p:txBody>
      </p:sp>
      <p:sp>
        <p:nvSpPr>
          <p:cNvPr id="5" name="Slide Number Placeholder 4">
            <a:extLst>
              <a:ext uri="{FF2B5EF4-FFF2-40B4-BE49-F238E27FC236}">
                <a16:creationId xmlns:a16="http://schemas.microsoft.com/office/drawing/2014/main" id="{48AA2A18-4B00-457E-B1F3-65087357D282}"/>
              </a:ext>
            </a:extLst>
          </p:cNvPr>
          <p:cNvSpPr>
            <a:spLocks noGrp="1"/>
          </p:cNvSpPr>
          <p:nvPr>
            <p:ph type="sldNum" sz="quarter" idx="16"/>
          </p:nvPr>
        </p:nvSpPr>
        <p:spPr/>
        <p:txBody>
          <a:bodyPr/>
          <a:lstStyle/>
          <a:p>
            <a:fld id="{1876332E-97D2-CC49-9E46-E6E0DDE407EB}" type="slidenum">
              <a:rPr lang="en-US" smtClean="0"/>
              <a:pPr/>
              <a:t>14</a:t>
            </a:fld>
            <a:endParaRPr lang="en-US"/>
          </a:p>
        </p:txBody>
      </p:sp>
      <p:sp>
        <p:nvSpPr>
          <p:cNvPr id="6" name="Title 5">
            <a:extLst>
              <a:ext uri="{FF2B5EF4-FFF2-40B4-BE49-F238E27FC236}">
                <a16:creationId xmlns:a16="http://schemas.microsoft.com/office/drawing/2014/main" id="{727A2091-6AEA-0F12-1E62-B2A2E65106A3}"/>
              </a:ext>
            </a:extLst>
          </p:cNvPr>
          <p:cNvSpPr>
            <a:spLocks noGrp="1"/>
          </p:cNvSpPr>
          <p:nvPr>
            <p:ph type="title"/>
          </p:nvPr>
        </p:nvSpPr>
        <p:spPr>
          <a:xfrm>
            <a:off x="838200" y="0"/>
            <a:ext cx="10515600" cy="1738000"/>
          </a:xfrm>
        </p:spPr>
        <p:txBody>
          <a:bodyPr>
            <a:normAutofit/>
          </a:bodyPr>
          <a:lstStyle/>
          <a:p>
            <a:r>
              <a:rPr lang="en-US" sz="3200" dirty="0"/>
              <a:t>Conferences</a:t>
            </a:r>
          </a:p>
        </p:txBody>
      </p:sp>
      <p:sp>
        <p:nvSpPr>
          <p:cNvPr id="8" name="Rounded Rectangle 7">
            <a:extLst>
              <a:ext uri="{FF2B5EF4-FFF2-40B4-BE49-F238E27FC236}">
                <a16:creationId xmlns:a16="http://schemas.microsoft.com/office/drawing/2014/main" id="{6AD1F57C-D2DB-B1CB-2A2B-190FC30DB1FA}"/>
              </a:ext>
            </a:extLst>
          </p:cNvPr>
          <p:cNvSpPr/>
          <p:nvPr/>
        </p:nvSpPr>
        <p:spPr>
          <a:xfrm>
            <a:off x="838200" y="1976784"/>
            <a:ext cx="4935393" cy="4379566"/>
          </a:xfrm>
          <a:prstGeom prst="roundRect">
            <a:avLst/>
          </a:prstGeom>
          <a:solidFill>
            <a:schemeClr val="tx2">
              <a:lumMod val="25000"/>
              <a:lumOff val="75000"/>
              <a:alpha val="36687"/>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Winter Simulation Conference 2025</a:t>
            </a:r>
          </a:p>
          <a:p>
            <a:pPr algn="ctr"/>
            <a:endParaRPr lang="en-US" sz="1400" b="1" dirty="0">
              <a:solidFill>
                <a:schemeClr val="tx1"/>
              </a:solidFill>
            </a:endParaRPr>
          </a:p>
          <a:p>
            <a:pPr algn="ctr"/>
            <a:r>
              <a:rPr lang="en-US" sz="1400" b="1" dirty="0">
                <a:solidFill>
                  <a:schemeClr val="tx1"/>
                </a:solidFill>
              </a:rPr>
              <a:t>GeoPops: An open-source package for generating geographically realistic synthetic populations</a:t>
            </a:r>
          </a:p>
          <a:p>
            <a:pPr lvl="1"/>
            <a:endParaRPr lang="en-US" sz="1400" dirty="0">
              <a:solidFill>
                <a:schemeClr val="tx1"/>
              </a:solidFill>
            </a:endParaRPr>
          </a:p>
          <a:p>
            <a:pPr marL="285750" indent="-285750">
              <a:buFont typeface="Arial" panose="020B0604020202020204" pitchFamily="34" charset="0"/>
              <a:buChar char="•"/>
            </a:pPr>
            <a:r>
              <a:rPr lang="en-US" sz="1400" dirty="0">
                <a:solidFill>
                  <a:schemeClr val="tx1"/>
                </a:solidFill>
              </a:rPr>
              <a:t>More detailed methodology and usage</a:t>
            </a:r>
          </a:p>
          <a:p>
            <a:pPr marL="285750" indent="-285750">
              <a:buFont typeface="Arial" panose="020B0604020202020204" pitchFamily="34" charset="0"/>
              <a:buChar char="•"/>
            </a:pPr>
            <a:r>
              <a:rPr lang="en-US" sz="1400" dirty="0">
                <a:solidFill>
                  <a:schemeClr val="tx1"/>
                </a:solidFill>
              </a:rPr>
              <a:t>Compare GeoPops to two other open-source synthetic population generators (UrbanPop and Geo-Synthetic-Pop)</a:t>
            </a:r>
          </a:p>
          <a:p>
            <a:pPr marL="285750" indent="-285750">
              <a:buFont typeface="Arial" panose="020B0604020202020204" pitchFamily="34" charset="0"/>
              <a:buChar char="•"/>
            </a:pPr>
            <a:r>
              <a:rPr lang="en-US" sz="1400" dirty="0">
                <a:solidFill>
                  <a:schemeClr val="tx1"/>
                </a:solidFill>
              </a:rPr>
              <a:t>Make three MD pops (one with each generator)</a:t>
            </a:r>
          </a:p>
          <a:p>
            <a:pPr marL="285750" indent="-285750">
              <a:buFont typeface="Arial" panose="020B0604020202020204" pitchFamily="34" charset="0"/>
              <a:buChar char="•"/>
            </a:pPr>
            <a:r>
              <a:rPr lang="en-US" sz="1400" dirty="0">
                <a:solidFill>
                  <a:schemeClr val="tx1"/>
                </a:solidFill>
              </a:rPr>
              <a:t>Compare individuals and homes to real Census data</a:t>
            </a:r>
          </a:p>
          <a:p>
            <a:pPr marL="285750" indent="-285750">
              <a:buFont typeface="Arial" panose="020B0604020202020204" pitchFamily="34" charset="0"/>
              <a:buChar char="•"/>
            </a:pPr>
            <a:r>
              <a:rPr lang="en-US" sz="1400" dirty="0">
                <a:solidFill>
                  <a:schemeClr val="tx1"/>
                </a:solidFill>
              </a:rPr>
              <a:t>Compare network stats of each home, school, and workplace network</a:t>
            </a:r>
          </a:p>
          <a:p>
            <a:pPr marL="285750" indent="-285750">
              <a:buFont typeface="Arial" panose="020B0604020202020204" pitchFamily="34" charset="0"/>
              <a:buChar char="•"/>
            </a:pPr>
            <a:r>
              <a:rPr lang="en-US" sz="1400" dirty="0">
                <a:solidFill>
                  <a:schemeClr val="tx1"/>
                </a:solidFill>
              </a:rPr>
              <a:t>Run Starsim COVID-19 model on each population</a:t>
            </a:r>
          </a:p>
          <a:p>
            <a:pPr marL="285750" indent="-285750">
              <a:buFont typeface="Arial" panose="020B0604020202020204" pitchFamily="34" charset="0"/>
              <a:buChar char="•"/>
            </a:pPr>
            <a:r>
              <a:rPr lang="en-US" sz="1400" dirty="0">
                <a:solidFill>
                  <a:schemeClr val="tx1"/>
                </a:solidFill>
              </a:rPr>
              <a:t>Compare simulation results to each other and observed data for first wave of pandemic</a:t>
            </a:r>
          </a:p>
          <a:p>
            <a:pPr marL="285750" indent="-285750">
              <a:buFont typeface="Arial" panose="020B0604020202020204" pitchFamily="34" charset="0"/>
              <a:buChar char="•"/>
            </a:pPr>
            <a:r>
              <a:rPr lang="en-US" sz="1400" dirty="0">
                <a:solidFill>
                  <a:schemeClr val="tx1"/>
                </a:solidFill>
              </a:rPr>
              <a:t>Discuss usability of each generator</a:t>
            </a:r>
          </a:p>
        </p:txBody>
      </p:sp>
      <p:sp>
        <p:nvSpPr>
          <p:cNvPr id="9" name="Rounded Rectangle 8">
            <a:extLst>
              <a:ext uri="{FF2B5EF4-FFF2-40B4-BE49-F238E27FC236}">
                <a16:creationId xmlns:a16="http://schemas.microsoft.com/office/drawing/2014/main" id="{5575B447-33F7-AA2A-7737-DE6A73F39A99}"/>
              </a:ext>
            </a:extLst>
          </p:cNvPr>
          <p:cNvSpPr/>
          <p:nvPr/>
        </p:nvSpPr>
        <p:spPr>
          <a:xfrm>
            <a:off x="6632431" y="1976783"/>
            <a:ext cx="4739733" cy="4379566"/>
          </a:xfrm>
          <a:prstGeom prst="roundRect">
            <a:avLst/>
          </a:prstGeom>
          <a:solidFill>
            <a:schemeClr val="tx2">
              <a:lumMod val="25000"/>
              <a:lumOff val="75000"/>
              <a:alpha val="36687"/>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Epidemics 2025</a:t>
            </a:r>
          </a:p>
          <a:p>
            <a:pPr algn="ctr"/>
            <a:endParaRPr lang="en-US" sz="1400" b="1" dirty="0">
              <a:solidFill>
                <a:schemeClr val="tx1"/>
              </a:solidFill>
            </a:endParaRPr>
          </a:p>
          <a:p>
            <a:pPr algn="ctr"/>
            <a:r>
              <a:rPr lang="en-US" sz="1400" b="1" dirty="0">
                <a:solidFill>
                  <a:schemeClr val="tx1"/>
                </a:solidFill>
              </a:rPr>
              <a:t>Modeling the impact of dynamic decision making on infectious disease outcomes by demographic and geographic subgroups: An open-source agent-based modeling framework</a:t>
            </a:r>
          </a:p>
          <a:p>
            <a:endParaRPr lang="en-US" sz="1400" dirty="0">
              <a:solidFill>
                <a:schemeClr val="tx1"/>
              </a:solidFill>
            </a:endParaRPr>
          </a:p>
          <a:p>
            <a:pPr marL="285750" indent="-285750">
              <a:buFont typeface="Arial" panose="020B0604020202020204" pitchFamily="34" charset="0"/>
              <a:buChar char="•"/>
            </a:pPr>
            <a:r>
              <a:rPr lang="en-US" sz="1400" dirty="0">
                <a:solidFill>
                  <a:schemeClr val="tx1"/>
                </a:solidFill>
              </a:rPr>
              <a:t>Run Starsim COVID-19 model with utility framework on GeoPops population of MD</a:t>
            </a:r>
          </a:p>
          <a:p>
            <a:pPr marL="285750" indent="-285750">
              <a:buFont typeface="Arial" panose="020B0604020202020204" pitchFamily="34" charset="0"/>
              <a:buChar char="•"/>
            </a:pPr>
            <a:r>
              <a:rPr lang="en-US" sz="1400" dirty="0">
                <a:solidFill>
                  <a:schemeClr val="tx1"/>
                </a:solidFill>
              </a:rPr>
              <a:t>Individuals weigh health-wealth trade-offs of staying home from work as a function of their income and age</a:t>
            </a:r>
          </a:p>
          <a:p>
            <a:pPr marL="285750" indent="-285750">
              <a:buFont typeface="Arial" panose="020B0604020202020204" pitchFamily="34" charset="0"/>
              <a:buChar char="•"/>
            </a:pPr>
            <a:r>
              <a:rPr lang="en-US" sz="1400" dirty="0">
                <a:solidFill>
                  <a:schemeClr val="tx1"/>
                </a:solidFill>
              </a:rPr>
              <a:t>Test different policy scenarios (e.g., paid sick leave, cash transfer) and compare to observed data from first wave of pandemic</a:t>
            </a:r>
          </a:p>
          <a:p>
            <a:pPr marL="285750" indent="-285750">
              <a:buFont typeface="Arial" panose="020B0604020202020204" pitchFamily="34" charset="0"/>
              <a:buChar char="•"/>
            </a:pPr>
            <a:r>
              <a:rPr lang="en-US" sz="1400" dirty="0">
                <a:solidFill>
                  <a:schemeClr val="tx1"/>
                </a:solidFill>
              </a:rPr>
              <a:t>Demographic and geographic subgroup outcome tracking </a:t>
            </a:r>
          </a:p>
          <a:p>
            <a:endParaRPr lang="en-US" sz="1400" dirty="0">
              <a:solidFill>
                <a:schemeClr val="tx1"/>
              </a:solidFill>
            </a:endParaRPr>
          </a:p>
          <a:p>
            <a:pPr marL="342900" indent="-342900">
              <a:buFont typeface="Arial" panose="020B0604020202020204" pitchFamily="34" charset="0"/>
              <a:buChar char="•"/>
            </a:pPr>
            <a:endParaRPr lang="en-US" sz="1400" dirty="0">
              <a:solidFill>
                <a:schemeClr val="tx1"/>
              </a:solidFill>
            </a:endParaRPr>
          </a:p>
        </p:txBody>
      </p:sp>
      <p:sp>
        <p:nvSpPr>
          <p:cNvPr id="7" name="TextBox 6">
            <a:extLst>
              <a:ext uri="{FF2B5EF4-FFF2-40B4-BE49-F238E27FC236}">
                <a16:creationId xmlns:a16="http://schemas.microsoft.com/office/drawing/2014/main" id="{14DE3F59-56F2-68AE-8E62-D8818630E738}"/>
              </a:ext>
            </a:extLst>
          </p:cNvPr>
          <p:cNvSpPr txBox="1"/>
          <p:nvPr/>
        </p:nvSpPr>
        <p:spPr>
          <a:xfrm>
            <a:off x="9201899" y="242454"/>
            <a:ext cx="2799601" cy="1200329"/>
          </a:xfrm>
          <a:prstGeom prst="rect">
            <a:avLst/>
          </a:prstGeom>
          <a:noFill/>
        </p:spPr>
        <p:txBody>
          <a:bodyPr wrap="square" rtlCol="0">
            <a:spAutoFit/>
          </a:bodyPr>
          <a:lstStyle/>
          <a:p>
            <a:r>
              <a:rPr lang="en-US" dirty="0">
                <a:solidFill>
                  <a:schemeClr val="bg1"/>
                </a:solidFill>
              </a:rPr>
              <a:t>Alisa Hamilton, PhD(c)</a:t>
            </a:r>
          </a:p>
          <a:p>
            <a:r>
              <a:rPr lang="en-US" dirty="0">
                <a:solidFill>
                  <a:schemeClr val="bg1"/>
                </a:solidFill>
              </a:rPr>
              <a:t>Systems Engineering</a:t>
            </a:r>
          </a:p>
          <a:p>
            <a:r>
              <a:rPr lang="en-US" dirty="0">
                <a:solidFill>
                  <a:schemeClr val="bg1"/>
                </a:solidFill>
              </a:rPr>
              <a:t>Johns Hopkins University</a:t>
            </a:r>
          </a:p>
          <a:p>
            <a:r>
              <a:rPr lang="en-US" dirty="0">
                <a:solidFill>
                  <a:schemeClr val="bg1"/>
                </a:solidFill>
              </a:rPr>
              <a:t>ahamil33@jh.edu</a:t>
            </a:r>
          </a:p>
        </p:txBody>
      </p:sp>
    </p:spTree>
    <p:extLst>
      <p:ext uri="{BB962C8B-B14F-4D97-AF65-F5344CB8AC3E}">
        <p14:creationId xmlns:p14="http://schemas.microsoft.com/office/powerpoint/2010/main" val="33451168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F81CE-6707-5FBE-E894-2D7FDA5ED4F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EC0D509-52E7-E60D-91D5-9357A6F61C20}"/>
              </a:ext>
            </a:extLst>
          </p:cNvPr>
          <p:cNvSpPr>
            <a:spLocks noGrp="1"/>
          </p:cNvSpPr>
          <p:nvPr>
            <p:ph sz="quarter" idx="13"/>
          </p:nvPr>
        </p:nvSpPr>
        <p:spPr/>
        <p:txBody>
          <a:bodyPr vert="horz" lIns="91440" tIns="45720" rIns="91440" bIns="45720" rtlCol="0" anchor="t">
            <a:normAutofit/>
          </a:bodyPr>
          <a:lstStyle/>
          <a:p>
            <a:pPr marL="0" indent="0">
              <a:buNone/>
            </a:pPr>
            <a:endParaRPr lang="en-US" sz="2400" dirty="0"/>
          </a:p>
          <a:p>
            <a:endParaRPr lang="en-US" dirty="0"/>
          </a:p>
        </p:txBody>
      </p:sp>
      <p:sp>
        <p:nvSpPr>
          <p:cNvPr id="3" name="Date Placeholder 2">
            <a:extLst>
              <a:ext uri="{FF2B5EF4-FFF2-40B4-BE49-F238E27FC236}">
                <a16:creationId xmlns:a16="http://schemas.microsoft.com/office/drawing/2014/main" id="{98968417-2BEE-A7FE-89D3-DE430D5473A2}"/>
              </a:ext>
            </a:extLst>
          </p:cNvPr>
          <p:cNvSpPr>
            <a:spLocks noGrp="1"/>
          </p:cNvSpPr>
          <p:nvPr>
            <p:ph type="dt" sz="half" idx="14"/>
          </p:nvPr>
        </p:nvSpPr>
        <p:spPr/>
        <p:txBody>
          <a:bodyPr/>
          <a:lstStyle/>
          <a:p>
            <a:fld id="{2FD8AFF2-9042-B841-A3E7-F7EA0CBF7244}" type="datetime3">
              <a:rPr lang="en-US" smtClean="0"/>
              <a:pPr/>
              <a:t>28 October 2025</a:t>
            </a:fld>
            <a:endParaRPr lang="en-US"/>
          </a:p>
        </p:txBody>
      </p:sp>
      <p:sp>
        <p:nvSpPr>
          <p:cNvPr id="4" name="Footer Placeholder 3">
            <a:extLst>
              <a:ext uri="{FF2B5EF4-FFF2-40B4-BE49-F238E27FC236}">
                <a16:creationId xmlns:a16="http://schemas.microsoft.com/office/drawing/2014/main" id="{A1E6EFAB-52D7-E02B-5075-31C7C3631044}"/>
              </a:ext>
            </a:extLst>
          </p:cNvPr>
          <p:cNvSpPr>
            <a:spLocks noGrp="1"/>
          </p:cNvSpPr>
          <p:nvPr>
            <p:ph type="ftr" sz="quarter" idx="15"/>
          </p:nvPr>
        </p:nvSpPr>
        <p:spPr/>
        <p:txBody>
          <a:bodyPr/>
          <a:lstStyle/>
          <a:p>
            <a:r>
              <a:rPr lang="en-US" dirty="0"/>
              <a:t>MIDAS</a:t>
            </a:r>
          </a:p>
        </p:txBody>
      </p:sp>
      <p:sp>
        <p:nvSpPr>
          <p:cNvPr id="5" name="Slide Number Placeholder 4">
            <a:extLst>
              <a:ext uri="{FF2B5EF4-FFF2-40B4-BE49-F238E27FC236}">
                <a16:creationId xmlns:a16="http://schemas.microsoft.com/office/drawing/2014/main" id="{91E0745D-A4A0-2F51-DAA0-2DB23BD487FE}"/>
              </a:ext>
            </a:extLst>
          </p:cNvPr>
          <p:cNvSpPr>
            <a:spLocks noGrp="1"/>
          </p:cNvSpPr>
          <p:nvPr>
            <p:ph type="sldNum" sz="quarter" idx="16"/>
          </p:nvPr>
        </p:nvSpPr>
        <p:spPr/>
        <p:txBody>
          <a:bodyPr/>
          <a:lstStyle/>
          <a:p>
            <a:fld id="{1876332E-97D2-CC49-9E46-E6E0DDE407EB}" type="slidenum">
              <a:rPr lang="en-US" smtClean="0"/>
              <a:pPr/>
              <a:t>15</a:t>
            </a:fld>
            <a:endParaRPr lang="en-US"/>
          </a:p>
        </p:txBody>
      </p:sp>
      <p:sp>
        <p:nvSpPr>
          <p:cNvPr id="6" name="Title 5">
            <a:extLst>
              <a:ext uri="{FF2B5EF4-FFF2-40B4-BE49-F238E27FC236}">
                <a16:creationId xmlns:a16="http://schemas.microsoft.com/office/drawing/2014/main" id="{3A143A6E-DCED-7163-A877-AEDDF18C9136}"/>
              </a:ext>
            </a:extLst>
          </p:cNvPr>
          <p:cNvSpPr>
            <a:spLocks noGrp="1"/>
          </p:cNvSpPr>
          <p:nvPr>
            <p:ph type="title"/>
          </p:nvPr>
        </p:nvSpPr>
        <p:spPr>
          <a:xfrm>
            <a:off x="838200" y="0"/>
            <a:ext cx="10515600" cy="1738000"/>
          </a:xfrm>
        </p:spPr>
        <p:txBody>
          <a:bodyPr>
            <a:normAutofit/>
          </a:bodyPr>
          <a:lstStyle/>
          <a:p>
            <a:r>
              <a:rPr lang="en-US" sz="3200" dirty="0"/>
              <a:t>Questions</a:t>
            </a:r>
          </a:p>
        </p:txBody>
      </p:sp>
      <p:sp>
        <p:nvSpPr>
          <p:cNvPr id="11" name="TextBox 10">
            <a:extLst>
              <a:ext uri="{FF2B5EF4-FFF2-40B4-BE49-F238E27FC236}">
                <a16:creationId xmlns:a16="http://schemas.microsoft.com/office/drawing/2014/main" id="{6FFC1D79-0C0F-A352-4088-8173F12A831B}"/>
              </a:ext>
            </a:extLst>
          </p:cNvPr>
          <p:cNvSpPr txBox="1"/>
          <p:nvPr/>
        </p:nvSpPr>
        <p:spPr>
          <a:xfrm>
            <a:off x="1808706" y="2492344"/>
            <a:ext cx="8120063" cy="1231106"/>
          </a:xfrm>
          <a:prstGeom prst="rect">
            <a:avLst/>
          </a:prstGeom>
          <a:noFill/>
        </p:spPr>
        <p:txBody>
          <a:bodyPr wrap="square" rtlCol="0">
            <a:spAutoFit/>
          </a:bodyPr>
          <a:lstStyle/>
          <a:p>
            <a:pPr marL="285750" indent="-285750">
              <a:spcAft>
                <a:spcPts val="1200"/>
              </a:spcAft>
              <a:buFont typeface="Arial" panose="020B0604020202020204" pitchFamily="34" charset="0"/>
              <a:buChar char="•"/>
            </a:pPr>
            <a:r>
              <a:rPr lang="en-US" dirty="0"/>
              <a:t>Find me at the poster session</a:t>
            </a:r>
          </a:p>
          <a:p>
            <a:pPr marL="285750" indent="-285750">
              <a:spcAft>
                <a:spcPts val="1200"/>
              </a:spcAft>
              <a:buFont typeface="Arial" panose="020B0604020202020204" pitchFamily="34" charset="0"/>
              <a:buChar char="•"/>
            </a:pPr>
            <a:r>
              <a:rPr lang="en-US" dirty="0"/>
              <a:t>Pip install geopops and try going through the tutorial </a:t>
            </a:r>
          </a:p>
          <a:p>
            <a:pPr marL="285750" indent="-285750">
              <a:spcAft>
                <a:spcPts val="1200"/>
              </a:spcAft>
              <a:buFont typeface="Arial" panose="020B0604020202020204" pitchFamily="34" charset="0"/>
              <a:buChar char="•"/>
            </a:pPr>
            <a:r>
              <a:rPr lang="en-US" dirty="0"/>
              <a:t>Log issues! Please be patient </a:t>
            </a:r>
            <a:r>
              <a:rPr lang="en-US" dirty="0">
                <a:sym typeface="Wingdings" pitchFamily="2" charset="2"/>
              </a:rPr>
              <a:t></a:t>
            </a:r>
          </a:p>
        </p:txBody>
      </p:sp>
      <p:sp>
        <p:nvSpPr>
          <p:cNvPr id="12" name="Rounded Rectangle 11">
            <a:extLst>
              <a:ext uri="{FF2B5EF4-FFF2-40B4-BE49-F238E27FC236}">
                <a16:creationId xmlns:a16="http://schemas.microsoft.com/office/drawing/2014/main" id="{C78E9E5E-2766-F407-8D07-2FC25B0D4ABB}"/>
              </a:ext>
            </a:extLst>
          </p:cNvPr>
          <p:cNvSpPr/>
          <p:nvPr/>
        </p:nvSpPr>
        <p:spPr>
          <a:xfrm>
            <a:off x="1808706" y="4413017"/>
            <a:ext cx="5750426" cy="828608"/>
          </a:xfrm>
          <a:prstGeom prst="roundRect">
            <a:avLst/>
          </a:prstGeom>
          <a:solidFill>
            <a:schemeClr val="tx2">
              <a:lumMod val="20000"/>
              <a:lumOff val="80000"/>
            </a:schemeClr>
          </a:solidFill>
          <a:ln w="635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github.com/ACCIDDA/GeoPops/tutorials/MIDAS</a:t>
            </a:r>
          </a:p>
        </p:txBody>
      </p:sp>
      <p:sp>
        <p:nvSpPr>
          <p:cNvPr id="13" name="TextBox 12">
            <a:extLst>
              <a:ext uri="{FF2B5EF4-FFF2-40B4-BE49-F238E27FC236}">
                <a16:creationId xmlns:a16="http://schemas.microsoft.com/office/drawing/2014/main" id="{37A72C75-4590-7144-DBBB-5565ACCAD18C}"/>
              </a:ext>
            </a:extLst>
          </p:cNvPr>
          <p:cNvSpPr txBox="1"/>
          <p:nvPr/>
        </p:nvSpPr>
        <p:spPr>
          <a:xfrm>
            <a:off x="9063037" y="4365656"/>
            <a:ext cx="3128963" cy="923330"/>
          </a:xfrm>
          <a:prstGeom prst="rect">
            <a:avLst/>
          </a:prstGeom>
          <a:noFill/>
        </p:spPr>
        <p:txBody>
          <a:bodyPr wrap="square" rtlCol="0">
            <a:spAutoFit/>
          </a:bodyPr>
          <a:lstStyle/>
          <a:p>
            <a:r>
              <a:rPr lang="en-US" dirty="0"/>
              <a:t>Slides</a:t>
            </a:r>
          </a:p>
          <a:p>
            <a:r>
              <a:rPr lang="en-US" dirty="0"/>
              <a:t>Poster</a:t>
            </a:r>
          </a:p>
          <a:p>
            <a:r>
              <a:rPr lang="en-US" dirty="0"/>
              <a:t>Tutorial</a:t>
            </a:r>
          </a:p>
        </p:txBody>
      </p:sp>
      <p:sp>
        <p:nvSpPr>
          <p:cNvPr id="14" name="Left Arrow 13">
            <a:extLst>
              <a:ext uri="{FF2B5EF4-FFF2-40B4-BE49-F238E27FC236}">
                <a16:creationId xmlns:a16="http://schemas.microsoft.com/office/drawing/2014/main" id="{269F2384-6481-BA87-721F-9957ED834855}"/>
              </a:ext>
            </a:extLst>
          </p:cNvPr>
          <p:cNvSpPr/>
          <p:nvPr/>
        </p:nvSpPr>
        <p:spPr>
          <a:xfrm>
            <a:off x="7817644" y="4611382"/>
            <a:ext cx="981075" cy="442913"/>
          </a:xfrm>
          <a:prstGeom prst="leftArrow">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TextBox 14">
            <a:extLst>
              <a:ext uri="{FF2B5EF4-FFF2-40B4-BE49-F238E27FC236}">
                <a16:creationId xmlns:a16="http://schemas.microsoft.com/office/drawing/2014/main" id="{343D0412-6AFC-C0EE-2992-9797D5DD2C02}"/>
              </a:ext>
            </a:extLst>
          </p:cNvPr>
          <p:cNvSpPr txBox="1"/>
          <p:nvPr/>
        </p:nvSpPr>
        <p:spPr>
          <a:xfrm>
            <a:off x="9201899" y="242454"/>
            <a:ext cx="2799601" cy="1200329"/>
          </a:xfrm>
          <a:prstGeom prst="rect">
            <a:avLst/>
          </a:prstGeom>
          <a:noFill/>
        </p:spPr>
        <p:txBody>
          <a:bodyPr wrap="square" rtlCol="0">
            <a:spAutoFit/>
          </a:bodyPr>
          <a:lstStyle/>
          <a:p>
            <a:r>
              <a:rPr lang="en-US" dirty="0">
                <a:solidFill>
                  <a:schemeClr val="bg1"/>
                </a:solidFill>
              </a:rPr>
              <a:t>Alisa Hamilton, PhD(c)</a:t>
            </a:r>
          </a:p>
          <a:p>
            <a:r>
              <a:rPr lang="en-US" dirty="0">
                <a:solidFill>
                  <a:schemeClr val="bg1"/>
                </a:solidFill>
              </a:rPr>
              <a:t>Systems Engineering</a:t>
            </a:r>
          </a:p>
          <a:p>
            <a:r>
              <a:rPr lang="en-US" dirty="0">
                <a:solidFill>
                  <a:schemeClr val="bg1"/>
                </a:solidFill>
              </a:rPr>
              <a:t>Johns Hopkins University</a:t>
            </a:r>
          </a:p>
          <a:p>
            <a:r>
              <a:rPr lang="en-US" dirty="0">
                <a:solidFill>
                  <a:schemeClr val="bg1"/>
                </a:solidFill>
              </a:rPr>
              <a:t>ahamil33@jh.edu</a:t>
            </a:r>
          </a:p>
        </p:txBody>
      </p:sp>
    </p:spTree>
    <p:extLst>
      <p:ext uri="{BB962C8B-B14F-4D97-AF65-F5344CB8AC3E}">
        <p14:creationId xmlns:p14="http://schemas.microsoft.com/office/powerpoint/2010/main" val="13716691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9089917"/>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5847</TotalTime>
  <Words>1300</Words>
  <Application>Microsoft Macintosh PowerPoint</Application>
  <PresentationFormat>Widescreen</PresentationFormat>
  <Paragraphs>233</Paragraphs>
  <Slides>16</Slides>
  <Notes>15</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16</vt:i4>
      </vt:variant>
    </vt:vector>
  </HeadingPairs>
  <TitlesOfParts>
    <vt:vector size="26" baseType="lpstr">
      <vt:lpstr>Aptos</vt:lpstr>
      <vt:lpstr>Aptos Display</vt:lpstr>
      <vt:lpstr>Arial</vt:lpstr>
      <vt:lpstr>Calibri</vt:lpstr>
      <vt:lpstr>Courier New</vt:lpstr>
      <vt:lpstr>Poppins-Regular</vt:lpstr>
      <vt:lpstr>System Font Regular</vt:lpstr>
      <vt:lpstr>Tahoma</vt:lpstr>
      <vt:lpstr>Wingdings</vt:lpstr>
      <vt:lpstr>Office Theme</vt:lpstr>
      <vt:lpstr>GeoPops demonstration:  An open-source, adaptable framework for agent-based modeling on synthetic populations</vt:lpstr>
      <vt:lpstr>GeoPops</vt:lpstr>
      <vt:lpstr>MIDAS Notebook Tutorial </vt:lpstr>
      <vt:lpstr>Output: Agents and networks</vt:lpstr>
      <vt:lpstr>Methods: Generating agents and households</vt:lpstr>
      <vt:lpstr>Methods: Assigning agents to schools and workplaces</vt:lpstr>
      <vt:lpstr>PowerPoint Presentation</vt:lpstr>
      <vt:lpstr>Network visualizations for Howard County, MD</vt:lpstr>
      <vt:lpstr>GeoPops with Starsim</vt:lpstr>
      <vt:lpstr>Feedback vs No Feedback</vt:lpstr>
      <vt:lpstr>Outcome tracking by demographic subgroup</vt:lpstr>
      <vt:lpstr>Outcome tracking by geographic subgroup</vt:lpstr>
      <vt:lpstr>Why is this cool?!</vt:lpstr>
      <vt:lpstr>Conferences</vt:lpstr>
      <vt:lpstr>Questions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Hamilton, Alisa</cp:lastModifiedBy>
  <cp:revision>6</cp:revision>
  <dcterms:created xsi:type="dcterms:W3CDTF">2024-10-15T20:38:39Z</dcterms:created>
  <dcterms:modified xsi:type="dcterms:W3CDTF">2025-10-28T18:24:53Z</dcterms:modified>
</cp:coreProperties>
</file>